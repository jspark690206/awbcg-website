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59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278" r:id="rId17"/>
    <p:sldId id="280" r:id="rId18"/>
    <p:sldId id="261" r:id="rId19"/>
    <p:sldId id="281" r:id="rId20"/>
    <p:sldId id="282" r:id="rId21"/>
    <p:sldId id="262" r:id="rId22"/>
    <p:sldId id="283" r:id="rId23"/>
    <p:sldId id="284" r:id="rId24"/>
    <p:sldId id="285" r:id="rId25"/>
    <p:sldId id="286" r:id="rId26"/>
    <p:sldId id="287" r:id="rId27"/>
    <p:sldId id="288" r:id="rId28"/>
    <p:sldId id="290" r:id="rId29"/>
    <p:sldId id="263" r:id="rId30"/>
    <p:sldId id="289" r:id="rId31"/>
  </p:sldIdLst>
  <p:sldSz cx="9144000" cy="6858000" type="screen4x3"/>
  <p:notesSz cx="6889750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30" autoAdjust="0"/>
    <p:restoredTop sz="94660"/>
  </p:normalViewPr>
  <p:slideViewPr>
    <p:cSldViewPr>
      <p:cViewPr varScale="1">
        <p:scale>
          <a:sx n="160" d="100"/>
          <a:sy n="160" d="100"/>
        </p:scale>
        <p:origin x="2400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5558" cy="501094"/>
          </a:xfrm>
          <a:prstGeom prst="rect">
            <a:avLst/>
          </a:prstGeom>
        </p:spPr>
        <p:txBody>
          <a:bodyPr vert="horz" lIns="93168" tIns="46584" rIns="93168" bIns="4658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8" y="1"/>
            <a:ext cx="2985558" cy="501094"/>
          </a:xfrm>
          <a:prstGeom prst="rect">
            <a:avLst/>
          </a:prstGeom>
        </p:spPr>
        <p:txBody>
          <a:bodyPr vert="horz" lIns="93168" tIns="46584" rIns="93168" bIns="46584" rtlCol="0"/>
          <a:lstStyle>
            <a:lvl1pPr algn="r">
              <a:defRPr sz="1200"/>
            </a:lvl1pPr>
          </a:lstStyle>
          <a:p>
            <a:fld id="{F5904DA9-DF19-46AB-800E-0595CE24678C}" type="datetimeFigureOut">
              <a:rPr lang="ko-KR" altLang="en-US" smtClean="0"/>
              <a:pPr/>
              <a:t>2026-05-02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1332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8" tIns="46584" rIns="93168" bIns="4658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760398"/>
            <a:ext cx="5511800" cy="4509849"/>
          </a:xfrm>
          <a:prstGeom prst="rect">
            <a:avLst/>
          </a:prstGeom>
        </p:spPr>
        <p:txBody>
          <a:bodyPr vert="horz" lIns="93168" tIns="46584" rIns="93168" bIns="4658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1094"/>
          </a:xfrm>
          <a:prstGeom prst="rect">
            <a:avLst/>
          </a:prstGeom>
        </p:spPr>
        <p:txBody>
          <a:bodyPr vert="horz" lIns="93168" tIns="46584" rIns="93168" bIns="4658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8" y="9519055"/>
            <a:ext cx="2985558" cy="501094"/>
          </a:xfrm>
          <a:prstGeom prst="rect">
            <a:avLst/>
          </a:prstGeom>
        </p:spPr>
        <p:txBody>
          <a:bodyPr vert="horz" lIns="93168" tIns="46584" rIns="93168" bIns="46584" rtlCol="0" anchor="b"/>
          <a:lstStyle>
            <a:lvl1pPr algn="r">
              <a:defRPr sz="1200"/>
            </a:lvl1pPr>
          </a:lstStyle>
          <a:p>
            <a:fld id="{54B6858D-0859-4770-8D4D-9086BE4EB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53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비전</a:t>
            </a:r>
            <a:r>
              <a:rPr lang="en-US" altLang="ko-KR" dirty="0"/>
              <a:t>:5</a:t>
            </a:r>
            <a:r>
              <a:rPr lang="ko-KR" altLang="en-US" dirty="0"/>
              <a:t>초에 </a:t>
            </a:r>
            <a:r>
              <a:rPr lang="ko-KR" altLang="en-US" dirty="0" err="1"/>
              <a:t>한번식</a:t>
            </a:r>
            <a:r>
              <a:rPr lang="ko-KR" altLang="en-US" dirty="0"/>
              <a:t> 바뀌는 방식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6858D-0859-4770-8D4D-9086BE4EB65F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63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6858D-0859-4770-8D4D-9086BE4EB65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11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53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1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29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22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63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94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12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00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74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56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72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tel:055-000-0000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mailto:admin@emaxit.co.kr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18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>
                <a:latin typeface="돋움" pitchFamily="50" charset="-127"/>
                <a:ea typeface="돋움" pitchFamily="50" charset="-127"/>
              </a:rPr>
              <a:t>HOME / SITEMAP / ENGLISH / </a:t>
            </a:r>
            <a:r>
              <a:rPr lang="ko-KR" altLang="en-US" sz="700" dirty="0">
                <a:latin typeface="돋움" pitchFamily="50" charset="-127"/>
                <a:ea typeface="돋움" pitchFamily="50" charset="-127"/>
              </a:rPr>
              <a:t>관리자</a:t>
            </a:r>
            <a:r>
              <a:rPr lang="en-US" altLang="ko-KR" sz="700" dirty="0">
                <a:latin typeface="돋움" pitchFamily="50" charset="-127"/>
                <a:ea typeface="돋움" pitchFamily="50" charset="-127"/>
              </a:rPr>
              <a:t> / </a:t>
            </a:r>
            <a:r>
              <a:rPr lang="ko-KR" altLang="en-US" sz="700" dirty="0">
                <a:latin typeface="돋움" pitchFamily="50" charset="-127"/>
                <a:ea typeface="돋움" pitchFamily="50" charset="-127"/>
              </a:rPr>
              <a:t>고객상담  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0" y="188640"/>
            <a:ext cx="9144000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00" sy="1000" algn="t" rotWithShape="0">
              <a:schemeClr val="bg1">
                <a:lumMod val="50000"/>
                <a:alpha val="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b="1" dirty="0">
                <a:solidFill>
                  <a:schemeClr val="tx1"/>
                </a:solidFill>
              </a:rPr>
              <a:t>                                              </a:t>
            </a:r>
            <a:r>
              <a:rPr lang="ko-KR" altLang="en-US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회사현황     서비스소개     기술연구소     채용정보     고객지원     회사소식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0" y="764704"/>
            <a:ext cx="9144000" cy="5402340"/>
          </a:xfrm>
          <a:prstGeom prst="rect">
            <a:avLst/>
          </a:prstGeom>
          <a:gradFill>
            <a:gsLst>
              <a:gs pos="0">
                <a:srgbClr val="5E9EFF"/>
              </a:gs>
              <a:gs pos="0">
                <a:srgbClr val="CDD3FC"/>
              </a:gs>
              <a:gs pos="0">
                <a:srgbClr val="85C2FF"/>
              </a:gs>
              <a:gs pos="0">
                <a:srgbClr val="C4D6EB"/>
              </a:gs>
              <a:gs pos="55000">
                <a:srgbClr val="FFEB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0" y="6167044"/>
            <a:ext cx="9144000" cy="690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0">
                <a:schemeClr val="bg1">
                  <a:lumMod val="0"/>
                  <a:lumOff val="100000"/>
                </a:schemeClr>
              </a:gs>
              <a:gs pos="2000">
                <a:srgbClr val="F8F1E2"/>
              </a:gs>
              <a:gs pos="99000">
                <a:schemeClr val="bg1">
                  <a:lumMod val="85000"/>
                </a:schemeClr>
              </a:gs>
              <a:gs pos="0">
                <a:srgbClr val="D1C39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1691680" y="6223620"/>
            <a:ext cx="0" cy="572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691680" y="6167045"/>
            <a:ext cx="7452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돋움" pitchFamily="50" charset="-127"/>
                <a:ea typeface="돋움" pitchFamily="50" charset="-127"/>
              </a:rPr>
              <a:t>회사소개 </a:t>
            </a:r>
            <a:r>
              <a:rPr lang="en-US" altLang="ko-KR" sz="800" b="1" dirty="0">
                <a:latin typeface="돋움" pitchFamily="50" charset="-127"/>
                <a:ea typeface="돋움" pitchFamily="50" charset="-127"/>
              </a:rPr>
              <a:t>/ </a:t>
            </a:r>
            <a:r>
              <a:rPr lang="ko-KR" altLang="en-US" sz="800" b="1" dirty="0">
                <a:latin typeface="돋움" pitchFamily="50" charset="-127"/>
                <a:ea typeface="돋움" pitchFamily="50" charset="-127"/>
              </a:rPr>
              <a:t>개인정보보호정책 </a:t>
            </a:r>
            <a:r>
              <a:rPr lang="en-US" altLang="ko-KR" sz="800" b="1" dirty="0">
                <a:latin typeface="돋움" pitchFamily="50" charset="-127"/>
                <a:ea typeface="돋움" pitchFamily="50" charset="-127"/>
              </a:rPr>
              <a:t>/ </a:t>
            </a:r>
            <a:r>
              <a:rPr lang="ko-KR" altLang="en-US" sz="800" b="1" dirty="0" err="1">
                <a:latin typeface="돋움" pitchFamily="50" charset="-127"/>
                <a:ea typeface="돋움" pitchFamily="50" charset="-127"/>
              </a:rPr>
              <a:t>찾아오시는길</a:t>
            </a:r>
            <a:r>
              <a:rPr lang="ko-KR" altLang="en-US" sz="800" b="1" dirty="0">
                <a:latin typeface="돋움" pitchFamily="50" charset="-127"/>
                <a:ea typeface="돋움" pitchFamily="50" charset="-127"/>
              </a:rPr>
              <a:t>                                                                                                                          </a:t>
            </a:r>
            <a:r>
              <a:rPr lang="en-US" altLang="ko-KR" sz="700" dirty="0">
                <a:latin typeface="돋움" pitchFamily="50" charset="-127"/>
                <a:ea typeface="돋움" pitchFamily="50" charset="-127"/>
              </a:rPr>
              <a:t>Today : [000000]</a:t>
            </a:r>
          </a:p>
          <a:p>
            <a:r>
              <a:rPr lang="ko-KR" altLang="en-US" sz="700" dirty="0" err="1">
                <a:latin typeface="돋움" pitchFamily="50" charset="-127"/>
                <a:ea typeface="돋움" pitchFamily="50" charset="-127"/>
              </a:rPr>
              <a:t>법인명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:(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주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)</a:t>
            </a:r>
            <a:r>
              <a:rPr lang="ko-KR" altLang="en-US" sz="70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올윈비시지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/  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주소 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: 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부산광역시</a:t>
            </a:r>
            <a:r>
              <a:rPr lang="ko-KR" altLang="en-US" sz="700" baseline="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북구 </a:t>
            </a:r>
            <a:r>
              <a:rPr lang="ko-KR" altLang="en-US" sz="700" baseline="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덕천로</a:t>
            </a:r>
            <a:r>
              <a:rPr lang="ko-KR" altLang="en-US" sz="700" baseline="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</a:t>
            </a:r>
            <a:r>
              <a:rPr lang="en-US" altLang="ko-KR" sz="700" baseline="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155 1F</a:t>
            </a:r>
            <a:endParaRPr lang="en-US" altLang="ko-KR" sz="700" dirty="0">
              <a:latin typeface="돋움" pitchFamily="50" charset="-127"/>
              <a:ea typeface="돋움" pitchFamily="50" charset="-127"/>
              <a:sym typeface="Wingdings" pitchFamily="2" charset="2"/>
            </a:endParaRPr>
          </a:p>
          <a:p>
            <a:r>
              <a:rPr lang="en-US" altLang="ko-KR" sz="700" u="sng" dirty="0">
                <a:solidFill>
                  <a:srgbClr val="0000FF"/>
                </a:solidFill>
                <a:latin typeface="돋움" pitchFamily="50" charset="-127"/>
                <a:ea typeface="돋움" pitchFamily="50" charset="-127"/>
                <a:sym typeface="Wingdings" pitchFamily="2" charset="2"/>
                <a:hlinkClick r:id="rId13"/>
              </a:rPr>
              <a:t>Tel : 0</a:t>
            </a:r>
            <a:r>
              <a:rPr lang="en-US" altLang="ko-KR" sz="700" u="sng" dirty="0">
                <a:solidFill>
                  <a:srgbClr val="0000FF"/>
                </a:solidFill>
                <a:latin typeface="돋움" pitchFamily="50" charset="-127"/>
                <a:ea typeface="돋움" pitchFamily="50" charset="-127"/>
                <a:sym typeface="Wingdings" pitchFamily="2" charset="2"/>
              </a:rPr>
              <a:t>51-343-4047 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/ Fax : 051-343-4048 / </a:t>
            </a:r>
            <a:r>
              <a:rPr lang="en-US" altLang="ko-KR" sz="70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E_mail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: 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  <a:hlinkClick r:id="rId14"/>
              </a:rPr>
              <a:t>admin@awbcg.co.kr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/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사업자등록번호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: 654-81-01275 </a:t>
            </a:r>
            <a:b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</a:b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Copyright© 2019 </a:t>
            </a:r>
            <a:r>
              <a:rPr lang="en-US" altLang="ko-KR" sz="70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allwinbcg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All right reserved. </a:t>
            </a:r>
          </a:p>
          <a:p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본 </a:t>
            </a:r>
            <a:r>
              <a:rPr lang="ko-KR" altLang="en-US" sz="70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사이트內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</a:t>
            </a:r>
            <a:r>
              <a:rPr lang="ko-KR" altLang="en-US" sz="70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이메일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무단수집을 거부하며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, </a:t>
            </a:r>
            <a:r>
              <a:rPr lang="ko-KR" altLang="en-US" sz="70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위반시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</a:t>
            </a:r>
            <a:r>
              <a:rPr lang="ko-KR" altLang="en-US" sz="700" dirty="0" err="1">
                <a:latin typeface="돋움" pitchFamily="50" charset="-127"/>
                <a:ea typeface="돋움" pitchFamily="50" charset="-127"/>
                <a:sym typeface="Wingdings" pitchFamily="2" charset="2"/>
              </a:rPr>
              <a:t>정보통신망법에</a:t>
            </a:r>
            <a:r>
              <a:rPr lang="ko-KR" altLang="en-US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 의해 형사처벌 될 수 있습니다</a:t>
            </a:r>
            <a:r>
              <a:rPr lang="en-US" altLang="ko-KR" sz="700" dirty="0">
                <a:latin typeface="돋움" pitchFamily="50" charset="-127"/>
                <a:ea typeface="돋움" pitchFamily="50" charset="-127"/>
                <a:sym typeface="Wingdings" pitchFamily="2" charset="2"/>
              </a:rPr>
              <a:t>.</a:t>
            </a:r>
            <a:endParaRPr lang="ko-KR" altLang="en-US" sz="700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283968" y="332656"/>
            <a:ext cx="4824536" cy="288032"/>
          </a:xfrm>
          <a:prstGeom prst="round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3380" y="190982"/>
            <a:ext cx="1638300" cy="57372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1824" y="6203349"/>
            <a:ext cx="1592982" cy="61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9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koren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6796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z="3600" dirty="0"/>
              <a:t>㈜</a:t>
            </a:r>
            <a:r>
              <a:rPr lang="ko-KR" altLang="en-US" sz="3600" dirty="0" err="1"/>
              <a:t>올윈비시지</a:t>
            </a:r>
            <a:r>
              <a:rPr lang="ko-KR" altLang="en-US" sz="3600" dirty="0"/>
              <a:t> 홈페이지 기획</a:t>
            </a:r>
            <a:r>
              <a:rPr lang="en-US" altLang="ko-KR" sz="3600" dirty="0"/>
              <a:t>(</a:t>
            </a:r>
            <a:r>
              <a:rPr lang="ko-KR" altLang="en-US" sz="3600" dirty="0"/>
              <a:t>안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박제선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기획일자</a:t>
            </a:r>
            <a:r>
              <a:rPr lang="en-US" altLang="ko-KR" dirty="0"/>
              <a:t>: 2026.04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616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순서도: 지연 26"/>
          <p:cNvSpPr/>
          <p:nvPr/>
        </p:nvSpPr>
        <p:spPr>
          <a:xfrm rot="5400000">
            <a:off x="4131906" y="3448538"/>
            <a:ext cx="736173" cy="1296143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연결선 16"/>
          <p:cNvCxnSpPr/>
          <p:nvPr/>
        </p:nvCxnSpPr>
        <p:spPr>
          <a:xfrm>
            <a:off x="0" y="347775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0" y="3429000"/>
            <a:ext cx="9144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0352" y="3501008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순서도: 지연 19"/>
          <p:cNvSpPr/>
          <p:nvPr/>
        </p:nvSpPr>
        <p:spPr>
          <a:xfrm rot="5400000">
            <a:off x="4109260" y="2616554"/>
            <a:ext cx="781463" cy="2592288"/>
          </a:xfrm>
          <a:prstGeom prst="flowChartDelay">
            <a:avLst/>
          </a:prstGeom>
          <a:gradFill>
            <a:gsLst>
              <a:gs pos="0">
                <a:srgbClr val="DDEBCF"/>
              </a:gs>
              <a:gs pos="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 dirty="0"/>
          </a:p>
        </p:txBody>
      </p:sp>
      <p:sp>
        <p:nvSpPr>
          <p:cNvPr id="28" name="TextBox 27"/>
          <p:cNvSpPr txBox="1"/>
          <p:nvPr/>
        </p:nvSpPr>
        <p:spPr>
          <a:xfrm>
            <a:off x="4239605" y="4266444"/>
            <a:ext cx="492443" cy="3146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VISION</a:t>
            </a:r>
            <a:endParaRPr lang="ko-KR" altLang="en-US" sz="700" b="1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467544" y="3933056"/>
            <a:ext cx="2270684" cy="757131"/>
          </a:xfrm>
          <a:prstGeom prst="round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600" dirty="0">
                <a:solidFill>
                  <a:schemeClr val="tx1"/>
                </a:solidFill>
              </a:rPr>
              <a:t>온라인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r"/>
            <a:r>
              <a:rPr lang="ko-KR" altLang="en-US" sz="1600" dirty="0">
                <a:solidFill>
                  <a:schemeClr val="tx1"/>
                </a:solidFill>
              </a:rPr>
              <a:t>서비스소개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r"/>
            <a:r>
              <a:rPr lang="en-US" altLang="ko-KR" sz="1000" b="1" dirty="0">
                <a:solidFill>
                  <a:schemeClr val="tx1"/>
                </a:solidFill>
              </a:rPr>
              <a:t>(051) 343-4047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67544" y="4797152"/>
            <a:ext cx="2270684" cy="757131"/>
          </a:xfrm>
          <a:prstGeom prst="round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600" dirty="0">
                <a:solidFill>
                  <a:schemeClr val="tx1"/>
                </a:solidFill>
              </a:rPr>
              <a:t>온라인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r"/>
            <a:r>
              <a:rPr lang="ko-KR" altLang="en-US" sz="1600" dirty="0">
                <a:solidFill>
                  <a:schemeClr val="tx1"/>
                </a:solidFill>
              </a:rPr>
              <a:t>서비스문의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r"/>
            <a:r>
              <a:rPr lang="en-US" altLang="ko-KR" sz="1000" b="1" dirty="0">
                <a:solidFill>
                  <a:schemeClr val="tx1"/>
                </a:solidFill>
              </a:rPr>
              <a:t>(051) 343-4047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6228184" y="3841262"/>
            <a:ext cx="2520280" cy="1819986"/>
            <a:chOff x="6228184" y="3739028"/>
            <a:chExt cx="2520280" cy="1819986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6312193" y="4035290"/>
              <a:ext cx="22682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8016853" y="3775362"/>
              <a:ext cx="731611" cy="2962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More &gt;</a:t>
              </a:r>
              <a:endParaRPr lang="ko-KR" altLang="en-US" sz="1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54379" y="3739028"/>
              <a:ext cx="813898" cy="2962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공지사항</a:t>
              </a:r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6228184" y="4077072"/>
              <a:ext cx="2352261" cy="148194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01.----------------------------------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02.----------------------------------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03.----------------------------------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04.----------------------------------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05.----------------------------------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06.----------------------------------</a:t>
              </a:r>
              <a:endParaRPr lang="ko-KR" altLang="en-US" sz="1000" dirty="0">
                <a:solidFill>
                  <a:schemeClr val="tx1"/>
                </a:solidFill>
              </a:endParaRP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07.----------------------------------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08.----------------------------------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09.----------------------------------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8" name="직선 연결선 47"/>
          <p:cNvCxnSpPr/>
          <p:nvPr/>
        </p:nvCxnSpPr>
        <p:spPr>
          <a:xfrm>
            <a:off x="1475656" y="4025727"/>
            <a:ext cx="0" cy="555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475656" y="4869160"/>
            <a:ext cx="0" cy="555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9552" y="4911585"/>
            <a:ext cx="797847" cy="54968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03" y="4005064"/>
            <a:ext cx="823421" cy="601049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1" name="그룹 120"/>
          <p:cNvGrpSpPr/>
          <p:nvPr/>
        </p:nvGrpSpPr>
        <p:grpSpPr>
          <a:xfrm>
            <a:off x="-89470" y="836712"/>
            <a:ext cx="9144000" cy="2520280"/>
            <a:chOff x="0" y="593725"/>
            <a:chExt cx="9144000" cy="5440363"/>
          </a:xfrm>
        </p:grpSpPr>
        <p:sp>
          <p:nvSpPr>
            <p:cNvPr id="21" name="Rectangle 78"/>
            <p:cNvSpPr>
              <a:spLocks noChangeArrowheads="1"/>
            </p:cNvSpPr>
            <p:nvPr/>
          </p:nvSpPr>
          <p:spPr bwMode="gray">
            <a:xfrm>
              <a:off x="158750" y="2859088"/>
              <a:ext cx="8985250" cy="2817812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/>
            </a:p>
          </p:txBody>
        </p:sp>
        <p:pic>
          <p:nvPicPr>
            <p:cNvPr id="23" name="Picture 79" descr="2"/>
            <p:cNvPicPr>
              <a:picLocks noChangeAspect="1" noChangeArrowheads="1"/>
            </p:cNvPicPr>
            <p:nvPr/>
          </p:nvPicPr>
          <p:blipFill>
            <a:blip r:embed="rId5" cstate="print"/>
            <a:srcRect t="10576" b="9697"/>
            <a:stretch>
              <a:fillRect/>
            </a:stretch>
          </p:blipFill>
          <p:spPr bwMode="gray">
            <a:xfrm>
              <a:off x="130175" y="1125538"/>
              <a:ext cx="9013825" cy="4908550"/>
            </a:xfrm>
            <a:prstGeom prst="rect">
              <a:avLst/>
            </a:prstGeom>
            <a:noFill/>
          </p:spPr>
        </p:pic>
        <p:sp>
          <p:nvSpPr>
            <p:cNvPr id="25" name="Freeform 81"/>
            <p:cNvSpPr>
              <a:spLocks/>
            </p:cNvSpPr>
            <p:nvPr/>
          </p:nvSpPr>
          <p:spPr bwMode="gray">
            <a:xfrm>
              <a:off x="152400" y="593725"/>
              <a:ext cx="8991600" cy="5410200"/>
            </a:xfrm>
            <a:custGeom>
              <a:avLst/>
              <a:gdLst/>
              <a:ahLst/>
              <a:cxnLst>
                <a:cxn ang="0">
                  <a:pos x="5664" y="0"/>
                </a:cxn>
                <a:cxn ang="0">
                  <a:pos x="0" y="0"/>
                </a:cxn>
                <a:cxn ang="0">
                  <a:pos x="0" y="2967"/>
                </a:cxn>
                <a:cxn ang="0">
                  <a:pos x="435" y="2967"/>
                </a:cxn>
                <a:cxn ang="0">
                  <a:pos x="437" y="3404"/>
                </a:cxn>
                <a:cxn ang="0">
                  <a:pos x="5664" y="3408"/>
                </a:cxn>
                <a:cxn ang="0">
                  <a:pos x="5664" y="0"/>
                </a:cxn>
              </a:cxnLst>
              <a:rect l="0" t="0" r="r" b="b"/>
              <a:pathLst>
                <a:path w="5664" h="3408">
                  <a:moveTo>
                    <a:pt x="5664" y="0"/>
                  </a:moveTo>
                  <a:lnTo>
                    <a:pt x="0" y="0"/>
                  </a:lnTo>
                  <a:lnTo>
                    <a:pt x="0" y="2967"/>
                  </a:lnTo>
                  <a:lnTo>
                    <a:pt x="435" y="2967"/>
                  </a:lnTo>
                  <a:lnTo>
                    <a:pt x="437" y="3404"/>
                  </a:lnTo>
                  <a:lnTo>
                    <a:pt x="5664" y="3408"/>
                  </a:lnTo>
                  <a:lnTo>
                    <a:pt x="5664" y="0"/>
                  </a:lnTo>
                  <a:close/>
                </a:path>
              </a:pathLst>
            </a:custGeom>
            <a:noFill/>
            <a:ln w="12700" cmpd="sng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31" name="Group 82"/>
            <p:cNvGrpSpPr>
              <a:grpSpLocks/>
            </p:cNvGrpSpPr>
            <p:nvPr/>
          </p:nvGrpSpPr>
          <p:grpSpPr bwMode="auto">
            <a:xfrm>
              <a:off x="152400" y="593725"/>
              <a:ext cx="5286375" cy="2673350"/>
              <a:chOff x="96" y="192"/>
              <a:chExt cx="3330" cy="1684"/>
            </a:xfrm>
          </p:grpSpPr>
          <p:pic>
            <p:nvPicPr>
              <p:cNvPr id="33" name="Picture 83" descr="1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t="23315"/>
              <a:stretch>
                <a:fillRect/>
              </a:stretch>
            </p:blipFill>
            <p:spPr bwMode="gray">
              <a:xfrm>
                <a:off x="96" y="192"/>
                <a:ext cx="3330" cy="1684"/>
              </a:xfrm>
              <a:prstGeom prst="rect">
                <a:avLst/>
              </a:prstGeom>
              <a:noFill/>
            </p:spPr>
          </p:pic>
          <p:pic>
            <p:nvPicPr>
              <p:cNvPr id="34" name="Picture 84" descr="10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 t="13918" r="46922"/>
              <a:stretch>
                <a:fillRect/>
              </a:stretch>
            </p:blipFill>
            <p:spPr bwMode="gray">
              <a:xfrm>
                <a:off x="96" y="192"/>
                <a:ext cx="3001" cy="1435"/>
              </a:xfrm>
              <a:prstGeom prst="rect">
                <a:avLst/>
              </a:prstGeom>
              <a:noFill/>
            </p:spPr>
          </p:pic>
        </p:grpSp>
        <p:sp>
          <p:nvSpPr>
            <p:cNvPr id="35" name="Freeform 85"/>
            <p:cNvSpPr>
              <a:spLocks/>
            </p:cNvSpPr>
            <p:nvPr/>
          </p:nvSpPr>
          <p:spPr bwMode="gray">
            <a:xfrm flipH="1">
              <a:off x="2141190" y="2455864"/>
              <a:ext cx="7002810" cy="1013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58" y="0"/>
                </a:cxn>
                <a:cxn ang="0">
                  <a:pos x="3067" y="130"/>
                </a:cxn>
              </a:cxnLst>
              <a:rect l="0" t="0" r="r" b="b"/>
              <a:pathLst>
                <a:path w="3258" h="130">
                  <a:moveTo>
                    <a:pt x="0" y="0"/>
                  </a:moveTo>
                  <a:lnTo>
                    <a:pt x="3258" y="0"/>
                  </a:lnTo>
                  <a:lnTo>
                    <a:pt x="3067" y="130"/>
                  </a:lnTo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36" name="Group 92"/>
            <p:cNvGrpSpPr>
              <a:grpSpLocks/>
            </p:cNvGrpSpPr>
            <p:nvPr/>
          </p:nvGrpSpPr>
          <p:grpSpPr bwMode="auto">
            <a:xfrm>
              <a:off x="0" y="1849455"/>
              <a:ext cx="9144000" cy="4079875"/>
              <a:chOff x="0" y="1163"/>
              <a:chExt cx="5760" cy="2570"/>
            </a:xfrm>
          </p:grpSpPr>
          <p:pic>
            <p:nvPicPr>
              <p:cNvPr id="37" name="Picture 93" descr="9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gray">
              <a:xfrm>
                <a:off x="1204" y="2259"/>
                <a:ext cx="4556" cy="1000"/>
              </a:xfrm>
              <a:prstGeom prst="rect">
                <a:avLst/>
              </a:prstGeom>
              <a:noFill/>
            </p:spPr>
          </p:pic>
          <p:grpSp>
            <p:nvGrpSpPr>
              <p:cNvPr id="38" name="Group 94"/>
              <p:cNvGrpSpPr>
                <a:grpSpLocks/>
              </p:cNvGrpSpPr>
              <p:nvPr/>
            </p:nvGrpSpPr>
            <p:grpSpPr bwMode="auto">
              <a:xfrm>
                <a:off x="2580" y="1858"/>
                <a:ext cx="3098" cy="1875"/>
                <a:chOff x="672" y="912"/>
                <a:chExt cx="4535" cy="2746"/>
              </a:xfrm>
            </p:grpSpPr>
            <p:grpSp>
              <p:nvGrpSpPr>
                <p:cNvPr id="56" name="Group 95"/>
                <p:cNvGrpSpPr>
                  <a:grpSpLocks/>
                </p:cNvGrpSpPr>
                <p:nvPr/>
              </p:nvGrpSpPr>
              <p:grpSpPr bwMode="auto">
                <a:xfrm>
                  <a:off x="672" y="999"/>
                  <a:ext cx="2645" cy="2460"/>
                  <a:chOff x="672" y="999"/>
                  <a:chExt cx="2645" cy="2460"/>
                </a:xfrm>
              </p:grpSpPr>
              <p:sp>
                <p:nvSpPr>
                  <p:cNvPr id="80" name="Freeform 96"/>
                  <p:cNvSpPr>
                    <a:spLocks/>
                  </p:cNvSpPr>
                  <p:nvPr/>
                </p:nvSpPr>
                <p:spPr bwMode="gray">
                  <a:xfrm>
                    <a:off x="672" y="1012"/>
                    <a:ext cx="2645" cy="2136"/>
                  </a:xfrm>
                  <a:custGeom>
                    <a:avLst/>
                    <a:gdLst/>
                    <a:ahLst/>
                    <a:cxnLst>
                      <a:cxn ang="0">
                        <a:pos x="1494" y="104"/>
                      </a:cxn>
                      <a:cxn ang="0">
                        <a:pos x="1301" y="299"/>
                      </a:cxn>
                      <a:cxn ang="0">
                        <a:pos x="1205" y="249"/>
                      </a:cxn>
                      <a:cxn ang="0">
                        <a:pos x="1211" y="389"/>
                      </a:cxn>
                      <a:cxn ang="0">
                        <a:pos x="1212" y="500"/>
                      </a:cxn>
                      <a:cxn ang="0">
                        <a:pos x="1152" y="482"/>
                      </a:cxn>
                      <a:cxn ang="0">
                        <a:pos x="1176" y="266"/>
                      </a:cxn>
                      <a:cxn ang="0">
                        <a:pos x="1091" y="384"/>
                      </a:cxn>
                      <a:cxn ang="0">
                        <a:pos x="1004" y="399"/>
                      </a:cxn>
                      <a:cxn ang="0">
                        <a:pos x="824" y="462"/>
                      </a:cxn>
                      <a:cxn ang="0">
                        <a:pos x="785" y="489"/>
                      </a:cxn>
                      <a:cxn ang="0">
                        <a:pos x="687" y="543"/>
                      </a:cxn>
                      <a:cxn ang="0">
                        <a:pos x="720" y="393"/>
                      </a:cxn>
                      <a:cxn ang="0">
                        <a:pos x="616" y="315"/>
                      </a:cxn>
                      <a:cxn ang="0">
                        <a:pos x="345" y="579"/>
                      </a:cxn>
                      <a:cxn ang="0">
                        <a:pos x="397" y="741"/>
                      </a:cxn>
                      <a:cxn ang="0">
                        <a:pos x="522" y="557"/>
                      </a:cxn>
                      <a:cxn ang="0">
                        <a:pos x="598" y="653"/>
                      </a:cxn>
                      <a:cxn ang="0">
                        <a:pos x="507" y="746"/>
                      </a:cxn>
                      <a:cxn ang="0">
                        <a:pos x="373" y="726"/>
                      </a:cxn>
                      <a:cxn ang="0">
                        <a:pos x="186" y="932"/>
                      </a:cxn>
                      <a:cxn ang="0">
                        <a:pos x="153" y="1137"/>
                      </a:cxn>
                      <a:cxn ang="0">
                        <a:pos x="342" y="1025"/>
                      </a:cxn>
                      <a:cxn ang="0">
                        <a:pos x="444" y="1115"/>
                      </a:cxn>
                      <a:cxn ang="0">
                        <a:pos x="493" y="1062"/>
                      </a:cxn>
                      <a:cxn ang="0">
                        <a:pos x="624" y="1152"/>
                      </a:cxn>
                      <a:cxn ang="0">
                        <a:pos x="489" y="1211"/>
                      </a:cxn>
                      <a:cxn ang="0">
                        <a:pos x="388" y="1152"/>
                      </a:cxn>
                      <a:cxn ang="0">
                        <a:pos x="91" y="1256"/>
                      </a:cxn>
                      <a:cxn ang="0">
                        <a:pos x="0" y="1439"/>
                      </a:cxn>
                      <a:cxn ang="0">
                        <a:pos x="339" y="1658"/>
                      </a:cxn>
                      <a:cxn ang="0">
                        <a:pos x="451" y="2121"/>
                      </a:cxn>
                      <a:cxn ang="0">
                        <a:pos x="682" y="1916"/>
                      </a:cxn>
                      <a:cxn ang="0">
                        <a:pos x="775" y="1661"/>
                      </a:cxn>
                      <a:cxn ang="0">
                        <a:pos x="760" y="1460"/>
                      </a:cxn>
                      <a:cxn ang="0">
                        <a:pos x="682" y="1266"/>
                      </a:cxn>
                      <a:cxn ang="0">
                        <a:pos x="873" y="1464"/>
                      </a:cxn>
                      <a:cxn ang="0">
                        <a:pos x="975" y="1329"/>
                      </a:cxn>
                      <a:cxn ang="0">
                        <a:pos x="819" y="1259"/>
                      </a:cxn>
                      <a:cxn ang="0">
                        <a:pos x="996" y="1331"/>
                      </a:cxn>
                      <a:cxn ang="0">
                        <a:pos x="1120" y="1379"/>
                      </a:cxn>
                      <a:cxn ang="0">
                        <a:pos x="1240" y="1469"/>
                      </a:cxn>
                      <a:cxn ang="0">
                        <a:pos x="1425" y="1419"/>
                      </a:cxn>
                      <a:cxn ang="0">
                        <a:pos x="1561" y="1644"/>
                      </a:cxn>
                      <a:cxn ang="0">
                        <a:pos x="1543" y="1515"/>
                      </a:cxn>
                      <a:cxn ang="0">
                        <a:pos x="1621" y="1371"/>
                      </a:cxn>
                      <a:cxn ang="0">
                        <a:pos x="1780" y="1248"/>
                      </a:cxn>
                      <a:cxn ang="0">
                        <a:pos x="1740" y="1097"/>
                      </a:cxn>
                      <a:cxn ang="0">
                        <a:pos x="1828" y="1169"/>
                      </a:cxn>
                      <a:cxn ang="0">
                        <a:pos x="1962" y="998"/>
                      </a:cxn>
                      <a:cxn ang="0">
                        <a:pos x="2120" y="689"/>
                      </a:cxn>
                      <a:cxn ang="0">
                        <a:pos x="2308" y="624"/>
                      </a:cxn>
                      <a:cxn ang="0">
                        <a:pos x="2228" y="884"/>
                      </a:cxn>
                      <a:cxn ang="0">
                        <a:pos x="2396" y="665"/>
                      </a:cxn>
                      <a:cxn ang="0">
                        <a:pos x="2591" y="555"/>
                      </a:cxn>
                      <a:cxn ang="0">
                        <a:pos x="2465" y="381"/>
                      </a:cxn>
                      <a:cxn ang="0">
                        <a:pos x="2354" y="390"/>
                      </a:cxn>
                      <a:cxn ang="0">
                        <a:pos x="2100" y="305"/>
                      </a:cxn>
                      <a:cxn ang="0">
                        <a:pos x="1923" y="302"/>
                      </a:cxn>
                      <a:cxn ang="0">
                        <a:pos x="1668" y="207"/>
                      </a:cxn>
                      <a:cxn ang="0">
                        <a:pos x="1674" y="80"/>
                      </a:cxn>
                    </a:cxnLst>
                    <a:rect l="0" t="0" r="r" b="b"/>
                    <a:pathLst>
                      <a:path w="2645" h="2136">
                        <a:moveTo>
                          <a:pt x="1572" y="3"/>
                        </a:moveTo>
                        <a:cubicBezTo>
                          <a:pt x="1539" y="0"/>
                          <a:pt x="1543" y="39"/>
                          <a:pt x="1530" y="51"/>
                        </a:cubicBezTo>
                        <a:lnTo>
                          <a:pt x="1514" y="75"/>
                        </a:lnTo>
                        <a:lnTo>
                          <a:pt x="1493" y="75"/>
                        </a:lnTo>
                        <a:lnTo>
                          <a:pt x="1526" y="105"/>
                        </a:lnTo>
                        <a:lnTo>
                          <a:pt x="1521" y="135"/>
                        </a:lnTo>
                        <a:cubicBezTo>
                          <a:pt x="1516" y="135"/>
                          <a:pt x="1504" y="111"/>
                          <a:pt x="1494" y="104"/>
                        </a:cubicBezTo>
                        <a:cubicBezTo>
                          <a:pt x="1484" y="97"/>
                          <a:pt x="1476" y="91"/>
                          <a:pt x="1460" y="92"/>
                        </a:cubicBezTo>
                        <a:cubicBezTo>
                          <a:pt x="1436" y="86"/>
                          <a:pt x="1416" y="96"/>
                          <a:pt x="1397" y="108"/>
                        </a:cubicBezTo>
                        <a:lnTo>
                          <a:pt x="1343" y="165"/>
                        </a:lnTo>
                        <a:lnTo>
                          <a:pt x="1323" y="204"/>
                        </a:lnTo>
                        <a:lnTo>
                          <a:pt x="1271" y="227"/>
                        </a:lnTo>
                        <a:lnTo>
                          <a:pt x="1271" y="282"/>
                        </a:lnTo>
                        <a:lnTo>
                          <a:pt x="1301" y="299"/>
                        </a:lnTo>
                        <a:lnTo>
                          <a:pt x="1311" y="344"/>
                        </a:lnTo>
                        <a:lnTo>
                          <a:pt x="1300" y="384"/>
                        </a:lnTo>
                        <a:lnTo>
                          <a:pt x="1284" y="366"/>
                        </a:lnTo>
                        <a:lnTo>
                          <a:pt x="1290" y="303"/>
                        </a:lnTo>
                        <a:lnTo>
                          <a:pt x="1259" y="294"/>
                        </a:lnTo>
                        <a:lnTo>
                          <a:pt x="1215" y="284"/>
                        </a:lnTo>
                        <a:lnTo>
                          <a:pt x="1205" y="249"/>
                        </a:lnTo>
                        <a:lnTo>
                          <a:pt x="1188" y="254"/>
                        </a:lnTo>
                        <a:lnTo>
                          <a:pt x="1194" y="293"/>
                        </a:lnTo>
                        <a:lnTo>
                          <a:pt x="1173" y="309"/>
                        </a:lnTo>
                        <a:lnTo>
                          <a:pt x="1190" y="347"/>
                        </a:lnTo>
                        <a:lnTo>
                          <a:pt x="1173" y="372"/>
                        </a:lnTo>
                        <a:cubicBezTo>
                          <a:pt x="1170" y="382"/>
                          <a:pt x="1169" y="404"/>
                          <a:pt x="1175" y="407"/>
                        </a:cubicBezTo>
                        <a:cubicBezTo>
                          <a:pt x="1181" y="410"/>
                          <a:pt x="1202" y="390"/>
                          <a:pt x="1211" y="389"/>
                        </a:cubicBezTo>
                        <a:lnTo>
                          <a:pt x="1227" y="402"/>
                        </a:lnTo>
                        <a:lnTo>
                          <a:pt x="1239" y="453"/>
                        </a:lnTo>
                        <a:lnTo>
                          <a:pt x="1272" y="467"/>
                        </a:lnTo>
                        <a:lnTo>
                          <a:pt x="1250" y="483"/>
                        </a:lnTo>
                        <a:lnTo>
                          <a:pt x="1252" y="528"/>
                        </a:lnTo>
                        <a:lnTo>
                          <a:pt x="1229" y="476"/>
                        </a:lnTo>
                        <a:lnTo>
                          <a:pt x="1212" y="500"/>
                        </a:lnTo>
                        <a:lnTo>
                          <a:pt x="1221" y="428"/>
                        </a:lnTo>
                        <a:lnTo>
                          <a:pt x="1214" y="404"/>
                        </a:lnTo>
                        <a:lnTo>
                          <a:pt x="1184" y="422"/>
                        </a:lnTo>
                        <a:lnTo>
                          <a:pt x="1179" y="486"/>
                        </a:lnTo>
                        <a:lnTo>
                          <a:pt x="1152" y="501"/>
                        </a:lnTo>
                        <a:lnTo>
                          <a:pt x="1115" y="492"/>
                        </a:lnTo>
                        <a:lnTo>
                          <a:pt x="1152" y="482"/>
                        </a:lnTo>
                        <a:lnTo>
                          <a:pt x="1151" y="458"/>
                        </a:lnTo>
                        <a:lnTo>
                          <a:pt x="1175" y="423"/>
                        </a:lnTo>
                        <a:lnTo>
                          <a:pt x="1163" y="419"/>
                        </a:lnTo>
                        <a:lnTo>
                          <a:pt x="1161" y="402"/>
                        </a:lnTo>
                        <a:lnTo>
                          <a:pt x="1164" y="344"/>
                        </a:lnTo>
                        <a:lnTo>
                          <a:pt x="1157" y="296"/>
                        </a:lnTo>
                        <a:lnTo>
                          <a:pt x="1176" y="266"/>
                        </a:lnTo>
                        <a:lnTo>
                          <a:pt x="1167" y="252"/>
                        </a:lnTo>
                        <a:lnTo>
                          <a:pt x="1145" y="254"/>
                        </a:lnTo>
                        <a:lnTo>
                          <a:pt x="1122" y="257"/>
                        </a:lnTo>
                        <a:lnTo>
                          <a:pt x="1112" y="294"/>
                        </a:lnTo>
                        <a:lnTo>
                          <a:pt x="1097" y="300"/>
                        </a:lnTo>
                        <a:lnTo>
                          <a:pt x="1082" y="335"/>
                        </a:lnTo>
                        <a:lnTo>
                          <a:pt x="1091" y="384"/>
                        </a:lnTo>
                        <a:lnTo>
                          <a:pt x="1089" y="410"/>
                        </a:lnTo>
                        <a:lnTo>
                          <a:pt x="1060" y="384"/>
                        </a:lnTo>
                        <a:lnTo>
                          <a:pt x="1029" y="374"/>
                        </a:lnTo>
                        <a:lnTo>
                          <a:pt x="1014" y="383"/>
                        </a:lnTo>
                        <a:lnTo>
                          <a:pt x="1022" y="405"/>
                        </a:lnTo>
                        <a:lnTo>
                          <a:pt x="1004" y="419"/>
                        </a:lnTo>
                        <a:lnTo>
                          <a:pt x="1004" y="399"/>
                        </a:lnTo>
                        <a:lnTo>
                          <a:pt x="989" y="398"/>
                        </a:lnTo>
                        <a:lnTo>
                          <a:pt x="978" y="420"/>
                        </a:lnTo>
                        <a:lnTo>
                          <a:pt x="938" y="422"/>
                        </a:lnTo>
                        <a:lnTo>
                          <a:pt x="930" y="407"/>
                        </a:lnTo>
                        <a:lnTo>
                          <a:pt x="863" y="437"/>
                        </a:lnTo>
                        <a:lnTo>
                          <a:pt x="852" y="473"/>
                        </a:lnTo>
                        <a:lnTo>
                          <a:pt x="824" y="462"/>
                        </a:lnTo>
                        <a:lnTo>
                          <a:pt x="843" y="441"/>
                        </a:lnTo>
                        <a:lnTo>
                          <a:pt x="831" y="411"/>
                        </a:lnTo>
                        <a:lnTo>
                          <a:pt x="797" y="411"/>
                        </a:lnTo>
                        <a:lnTo>
                          <a:pt x="803" y="429"/>
                        </a:lnTo>
                        <a:lnTo>
                          <a:pt x="801" y="461"/>
                        </a:lnTo>
                        <a:lnTo>
                          <a:pt x="813" y="494"/>
                        </a:lnTo>
                        <a:lnTo>
                          <a:pt x="785" y="489"/>
                        </a:lnTo>
                        <a:lnTo>
                          <a:pt x="747" y="521"/>
                        </a:lnTo>
                        <a:lnTo>
                          <a:pt x="762" y="543"/>
                        </a:lnTo>
                        <a:lnTo>
                          <a:pt x="740" y="543"/>
                        </a:lnTo>
                        <a:lnTo>
                          <a:pt x="716" y="515"/>
                        </a:lnTo>
                        <a:lnTo>
                          <a:pt x="708" y="525"/>
                        </a:lnTo>
                        <a:lnTo>
                          <a:pt x="724" y="576"/>
                        </a:lnTo>
                        <a:lnTo>
                          <a:pt x="687" y="543"/>
                        </a:lnTo>
                        <a:lnTo>
                          <a:pt x="692" y="504"/>
                        </a:lnTo>
                        <a:lnTo>
                          <a:pt x="662" y="480"/>
                        </a:lnTo>
                        <a:lnTo>
                          <a:pt x="722" y="507"/>
                        </a:lnTo>
                        <a:lnTo>
                          <a:pt x="767" y="494"/>
                        </a:lnTo>
                        <a:lnTo>
                          <a:pt x="771" y="449"/>
                        </a:lnTo>
                        <a:lnTo>
                          <a:pt x="743" y="426"/>
                        </a:lnTo>
                        <a:lnTo>
                          <a:pt x="720" y="393"/>
                        </a:lnTo>
                        <a:lnTo>
                          <a:pt x="675" y="389"/>
                        </a:lnTo>
                        <a:lnTo>
                          <a:pt x="658" y="377"/>
                        </a:lnTo>
                        <a:lnTo>
                          <a:pt x="673" y="375"/>
                        </a:lnTo>
                        <a:lnTo>
                          <a:pt x="660" y="359"/>
                        </a:lnTo>
                        <a:lnTo>
                          <a:pt x="622" y="357"/>
                        </a:lnTo>
                        <a:lnTo>
                          <a:pt x="646" y="347"/>
                        </a:lnTo>
                        <a:lnTo>
                          <a:pt x="616" y="315"/>
                        </a:lnTo>
                        <a:lnTo>
                          <a:pt x="564" y="315"/>
                        </a:lnTo>
                        <a:lnTo>
                          <a:pt x="520" y="348"/>
                        </a:lnTo>
                        <a:lnTo>
                          <a:pt x="498" y="345"/>
                        </a:lnTo>
                        <a:lnTo>
                          <a:pt x="466" y="375"/>
                        </a:lnTo>
                        <a:lnTo>
                          <a:pt x="441" y="435"/>
                        </a:lnTo>
                        <a:lnTo>
                          <a:pt x="396" y="537"/>
                        </a:lnTo>
                        <a:lnTo>
                          <a:pt x="345" y="579"/>
                        </a:lnTo>
                        <a:lnTo>
                          <a:pt x="309" y="632"/>
                        </a:lnTo>
                        <a:lnTo>
                          <a:pt x="319" y="657"/>
                        </a:lnTo>
                        <a:lnTo>
                          <a:pt x="312" y="690"/>
                        </a:lnTo>
                        <a:lnTo>
                          <a:pt x="340" y="729"/>
                        </a:lnTo>
                        <a:lnTo>
                          <a:pt x="366" y="708"/>
                        </a:lnTo>
                        <a:lnTo>
                          <a:pt x="394" y="668"/>
                        </a:lnTo>
                        <a:lnTo>
                          <a:pt x="397" y="741"/>
                        </a:lnTo>
                        <a:lnTo>
                          <a:pt x="420" y="785"/>
                        </a:lnTo>
                        <a:lnTo>
                          <a:pt x="459" y="759"/>
                        </a:lnTo>
                        <a:lnTo>
                          <a:pt x="468" y="708"/>
                        </a:lnTo>
                        <a:lnTo>
                          <a:pt x="495" y="674"/>
                        </a:lnTo>
                        <a:lnTo>
                          <a:pt x="477" y="627"/>
                        </a:lnTo>
                        <a:lnTo>
                          <a:pt x="490" y="585"/>
                        </a:lnTo>
                        <a:lnTo>
                          <a:pt x="522" y="557"/>
                        </a:lnTo>
                        <a:cubicBezTo>
                          <a:pt x="527" y="548"/>
                          <a:pt x="514" y="536"/>
                          <a:pt x="520" y="528"/>
                        </a:cubicBezTo>
                        <a:cubicBezTo>
                          <a:pt x="526" y="520"/>
                          <a:pt x="552" y="504"/>
                          <a:pt x="559" y="507"/>
                        </a:cubicBezTo>
                        <a:cubicBezTo>
                          <a:pt x="572" y="502"/>
                          <a:pt x="571" y="529"/>
                          <a:pt x="564" y="543"/>
                        </a:cubicBezTo>
                        <a:lnTo>
                          <a:pt x="516" y="591"/>
                        </a:lnTo>
                        <a:lnTo>
                          <a:pt x="517" y="654"/>
                        </a:lnTo>
                        <a:lnTo>
                          <a:pt x="547" y="669"/>
                        </a:lnTo>
                        <a:lnTo>
                          <a:pt x="598" y="653"/>
                        </a:lnTo>
                        <a:lnTo>
                          <a:pt x="628" y="672"/>
                        </a:lnTo>
                        <a:lnTo>
                          <a:pt x="592" y="677"/>
                        </a:lnTo>
                        <a:lnTo>
                          <a:pt x="546" y="684"/>
                        </a:lnTo>
                        <a:lnTo>
                          <a:pt x="550" y="714"/>
                        </a:lnTo>
                        <a:lnTo>
                          <a:pt x="552" y="743"/>
                        </a:lnTo>
                        <a:lnTo>
                          <a:pt x="525" y="726"/>
                        </a:lnTo>
                        <a:lnTo>
                          <a:pt x="507" y="746"/>
                        </a:lnTo>
                        <a:lnTo>
                          <a:pt x="508" y="788"/>
                        </a:lnTo>
                        <a:lnTo>
                          <a:pt x="471" y="797"/>
                        </a:lnTo>
                        <a:lnTo>
                          <a:pt x="429" y="812"/>
                        </a:lnTo>
                        <a:lnTo>
                          <a:pt x="409" y="798"/>
                        </a:lnTo>
                        <a:lnTo>
                          <a:pt x="388" y="816"/>
                        </a:lnTo>
                        <a:lnTo>
                          <a:pt x="379" y="746"/>
                        </a:lnTo>
                        <a:cubicBezTo>
                          <a:pt x="377" y="731"/>
                          <a:pt x="379" y="725"/>
                          <a:pt x="373" y="726"/>
                        </a:cubicBezTo>
                        <a:cubicBezTo>
                          <a:pt x="367" y="727"/>
                          <a:pt x="350" y="737"/>
                          <a:pt x="345" y="752"/>
                        </a:cubicBezTo>
                        <a:lnTo>
                          <a:pt x="358" y="813"/>
                        </a:lnTo>
                        <a:lnTo>
                          <a:pt x="312" y="821"/>
                        </a:lnTo>
                        <a:lnTo>
                          <a:pt x="292" y="864"/>
                        </a:lnTo>
                        <a:lnTo>
                          <a:pt x="250" y="897"/>
                        </a:lnTo>
                        <a:lnTo>
                          <a:pt x="199" y="912"/>
                        </a:lnTo>
                        <a:lnTo>
                          <a:pt x="186" y="932"/>
                        </a:lnTo>
                        <a:lnTo>
                          <a:pt x="226" y="963"/>
                        </a:lnTo>
                        <a:lnTo>
                          <a:pt x="228" y="1007"/>
                        </a:lnTo>
                        <a:lnTo>
                          <a:pt x="204" y="1016"/>
                        </a:lnTo>
                        <a:lnTo>
                          <a:pt x="148" y="1008"/>
                        </a:lnTo>
                        <a:lnTo>
                          <a:pt x="126" y="1026"/>
                        </a:lnTo>
                        <a:lnTo>
                          <a:pt x="124" y="1107"/>
                        </a:lnTo>
                        <a:lnTo>
                          <a:pt x="153" y="1137"/>
                        </a:lnTo>
                        <a:lnTo>
                          <a:pt x="220" y="1130"/>
                        </a:lnTo>
                        <a:lnTo>
                          <a:pt x="244" y="1104"/>
                        </a:lnTo>
                        <a:lnTo>
                          <a:pt x="247" y="1071"/>
                        </a:lnTo>
                        <a:lnTo>
                          <a:pt x="270" y="1059"/>
                        </a:lnTo>
                        <a:lnTo>
                          <a:pt x="292" y="1046"/>
                        </a:lnTo>
                        <a:lnTo>
                          <a:pt x="304" y="1028"/>
                        </a:lnTo>
                        <a:lnTo>
                          <a:pt x="342" y="1025"/>
                        </a:lnTo>
                        <a:lnTo>
                          <a:pt x="369" y="1014"/>
                        </a:lnTo>
                        <a:lnTo>
                          <a:pt x="391" y="1044"/>
                        </a:lnTo>
                        <a:lnTo>
                          <a:pt x="447" y="1091"/>
                        </a:lnTo>
                        <a:lnTo>
                          <a:pt x="433" y="1106"/>
                        </a:lnTo>
                        <a:lnTo>
                          <a:pt x="397" y="1116"/>
                        </a:lnTo>
                        <a:lnTo>
                          <a:pt x="429" y="1137"/>
                        </a:lnTo>
                        <a:lnTo>
                          <a:pt x="444" y="1115"/>
                        </a:lnTo>
                        <a:lnTo>
                          <a:pt x="454" y="1121"/>
                        </a:lnTo>
                        <a:lnTo>
                          <a:pt x="468" y="1091"/>
                        </a:lnTo>
                        <a:lnTo>
                          <a:pt x="484" y="1104"/>
                        </a:lnTo>
                        <a:lnTo>
                          <a:pt x="469" y="1068"/>
                        </a:lnTo>
                        <a:lnTo>
                          <a:pt x="405" y="1001"/>
                        </a:lnTo>
                        <a:lnTo>
                          <a:pt x="418" y="996"/>
                        </a:lnTo>
                        <a:lnTo>
                          <a:pt x="493" y="1062"/>
                        </a:lnTo>
                        <a:lnTo>
                          <a:pt x="505" y="1122"/>
                        </a:lnTo>
                        <a:lnTo>
                          <a:pt x="532" y="1152"/>
                        </a:lnTo>
                        <a:lnTo>
                          <a:pt x="555" y="1088"/>
                        </a:lnTo>
                        <a:lnTo>
                          <a:pt x="579" y="1082"/>
                        </a:lnTo>
                        <a:lnTo>
                          <a:pt x="579" y="1106"/>
                        </a:lnTo>
                        <a:lnTo>
                          <a:pt x="589" y="1137"/>
                        </a:lnTo>
                        <a:lnTo>
                          <a:pt x="624" y="1152"/>
                        </a:lnTo>
                        <a:lnTo>
                          <a:pt x="685" y="1151"/>
                        </a:lnTo>
                        <a:lnTo>
                          <a:pt x="694" y="1176"/>
                        </a:lnTo>
                        <a:lnTo>
                          <a:pt x="678" y="1223"/>
                        </a:lnTo>
                        <a:lnTo>
                          <a:pt x="633" y="1224"/>
                        </a:lnTo>
                        <a:lnTo>
                          <a:pt x="591" y="1227"/>
                        </a:lnTo>
                        <a:lnTo>
                          <a:pt x="540" y="1209"/>
                        </a:lnTo>
                        <a:lnTo>
                          <a:pt x="489" y="1211"/>
                        </a:lnTo>
                        <a:lnTo>
                          <a:pt x="484" y="1248"/>
                        </a:lnTo>
                        <a:lnTo>
                          <a:pt x="445" y="1236"/>
                        </a:lnTo>
                        <a:lnTo>
                          <a:pt x="427" y="1200"/>
                        </a:lnTo>
                        <a:lnTo>
                          <a:pt x="394" y="1190"/>
                        </a:lnTo>
                        <a:lnTo>
                          <a:pt x="370" y="1181"/>
                        </a:lnTo>
                        <a:lnTo>
                          <a:pt x="373" y="1158"/>
                        </a:lnTo>
                        <a:lnTo>
                          <a:pt x="388" y="1152"/>
                        </a:lnTo>
                        <a:lnTo>
                          <a:pt x="355" y="1121"/>
                        </a:lnTo>
                        <a:lnTo>
                          <a:pt x="333" y="1128"/>
                        </a:lnTo>
                        <a:lnTo>
                          <a:pt x="256" y="1134"/>
                        </a:lnTo>
                        <a:lnTo>
                          <a:pt x="192" y="1163"/>
                        </a:lnTo>
                        <a:lnTo>
                          <a:pt x="151" y="1152"/>
                        </a:lnTo>
                        <a:lnTo>
                          <a:pt x="135" y="1179"/>
                        </a:lnTo>
                        <a:lnTo>
                          <a:pt x="91" y="1256"/>
                        </a:lnTo>
                        <a:lnTo>
                          <a:pt x="72" y="1253"/>
                        </a:lnTo>
                        <a:lnTo>
                          <a:pt x="48" y="1290"/>
                        </a:lnTo>
                        <a:lnTo>
                          <a:pt x="37" y="1326"/>
                        </a:lnTo>
                        <a:lnTo>
                          <a:pt x="16" y="1341"/>
                        </a:lnTo>
                        <a:lnTo>
                          <a:pt x="6" y="1385"/>
                        </a:lnTo>
                        <a:lnTo>
                          <a:pt x="19" y="1412"/>
                        </a:lnTo>
                        <a:lnTo>
                          <a:pt x="0" y="1439"/>
                        </a:lnTo>
                        <a:lnTo>
                          <a:pt x="19" y="1482"/>
                        </a:lnTo>
                        <a:lnTo>
                          <a:pt x="109" y="1581"/>
                        </a:lnTo>
                        <a:lnTo>
                          <a:pt x="174" y="1580"/>
                        </a:lnTo>
                        <a:lnTo>
                          <a:pt x="249" y="1571"/>
                        </a:lnTo>
                        <a:lnTo>
                          <a:pt x="337" y="1589"/>
                        </a:lnTo>
                        <a:lnTo>
                          <a:pt x="364" y="1611"/>
                        </a:lnTo>
                        <a:lnTo>
                          <a:pt x="339" y="1658"/>
                        </a:lnTo>
                        <a:lnTo>
                          <a:pt x="352" y="1680"/>
                        </a:lnTo>
                        <a:lnTo>
                          <a:pt x="382" y="1742"/>
                        </a:lnTo>
                        <a:lnTo>
                          <a:pt x="402" y="1793"/>
                        </a:lnTo>
                        <a:lnTo>
                          <a:pt x="370" y="1887"/>
                        </a:lnTo>
                        <a:lnTo>
                          <a:pt x="406" y="1979"/>
                        </a:lnTo>
                        <a:lnTo>
                          <a:pt x="448" y="2079"/>
                        </a:lnTo>
                        <a:lnTo>
                          <a:pt x="451" y="2121"/>
                        </a:lnTo>
                        <a:lnTo>
                          <a:pt x="484" y="2136"/>
                        </a:lnTo>
                        <a:lnTo>
                          <a:pt x="531" y="2123"/>
                        </a:lnTo>
                        <a:lnTo>
                          <a:pt x="580" y="2112"/>
                        </a:lnTo>
                        <a:lnTo>
                          <a:pt x="657" y="2018"/>
                        </a:lnTo>
                        <a:lnTo>
                          <a:pt x="658" y="1997"/>
                        </a:lnTo>
                        <a:lnTo>
                          <a:pt x="682" y="1985"/>
                        </a:lnTo>
                        <a:lnTo>
                          <a:pt x="682" y="1916"/>
                        </a:lnTo>
                        <a:lnTo>
                          <a:pt x="717" y="1886"/>
                        </a:lnTo>
                        <a:lnTo>
                          <a:pt x="753" y="1860"/>
                        </a:lnTo>
                        <a:lnTo>
                          <a:pt x="747" y="1800"/>
                        </a:lnTo>
                        <a:lnTo>
                          <a:pt x="727" y="1770"/>
                        </a:lnTo>
                        <a:lnTo>
                          <a:pt x="723" y="1725"/>
                        </a:lnTo>
                        <a:lnTo>
                          <a:pt x="745" y="1695"/>
                        </a:lnTo>
                        <a:lnTo>
                          <a:pt x="775" y="1661"/>
                        </a:lnTo>
                        <a:lnTo>
                          <a:pt x="847" y="1583"/>
                        </a:lnTo>
                        <a:lnTo>
                          <a:pt x="883" y="1497"/>
                        </a:lnTo>
                        <a:lnTo>
                          <a:pt x="858" y="1496"/>
                        </a:lnTo>
                        <a:lnTo>
                          <a:pt x="775" y="1512"/>
                        </a:lnTo>
                        <a:lnTo>
                          <a:pt x="765" y="1494"/>
                        </a:lnTo>
                        <a:lnTo>
                          <a:pt x="778" y="1485"/>
                        </a:lnTo>
                        <a:lnTo>
                          <a:pt x="760" y="1460"/>
                        </a:lnTo>
                        <a:lnTo>
                          <a:pt x="738" y="1440"/>
                        </a:lnTo>
                        <a:lnTo>
                          <a:pt x="717" y="1398"/>
                        </a:lnTo>
                        <a:lnTo>
                          <a:pt x="699" y="1356"/>
                        </a:lnTo>
                        <a:lnTo>
                          <a:pt x="676" y="1296"/>
                        </a:lnTo>
                        <a:lnTo>
                          <a:pt x="661" y="1269"/>
                        </a:lnTo>
                        <a:lnTo>
                          <a:pt x="678" y="1280"/>
                        </a:lnTo>
                        <a:lnTo>
                          <a:pt x="682" y="1266"/>
                        </a:lnTo>
                        <a:lnTo>
                          <a:pt x="718" y="1326"/>
                        </a:lnTo>
                        <a:lnTo>
                          <a:pt x="774" y="1436"/>
                        </a:lnTo>
                        <a:lnTo>
                          <a:pt x="783" y="1464"/>
                        </a:lnTo>
                        <a:lnTo>
                          <a:pt x="793" y="1488"/>
                        </a:lnTo>
                        <a:lnTo>
                          <a:pt x="820" y="1488"/>
                        </a:lnTo>
                        <a:lnTo>
                          <a:pt x="849" y="1469"/>
                        </a:lnTo>
                        <a:lnTo>
                          <a:pt x="873" y="1464"/>
                        </a:lnTo>
                        <a:lnTo>
                          <a:pt x="894" y="1439"/>
                        </a:lnTo>
                        <a:lnTo>
                          <a:pt x="934" y="1427"/>
                        </a:lnTo>
                        <a:lnTo>
                          <a:pt x="961" y="1403"/>
                        </a:lnTo>
                        <a:lnTo>
                          <a:pt x="991" y="1368"/>
                        </a:lnTo>
                        <a:lnTo>
                          <a:pt x="996" y="1350"/>
                        </a:lnTo>
                        <a:lnTo>
                          <a:pt x="981" y="1340"/>
                        </a:lnTo>
                        <a:lnTo>
                          <a:pt x="975" y="1329"/>
                        </a:lnTo>
                        <a:lnTo>
                          <a:pt x="955" y="1335"/>
                        </a:lnTo>
                        <a:lnTo>
                          <a:pt x="925" y="1340"/>
                        </a:lnTo>
                        <a:lnTo>
                          <a:pt x="912" y="1337"/>
                        </a:lnTo>
                        <a:lnTo>
                          <a:pt x="910" y="1323"/>
                        </a:lnTo>
                        <a:lnTo>
                          <a:pt x="891" y="1323"/>
                        </a:lnTo>
                        <a:lnTo>
                          <a:pt x="853" y="1271"/>
                        </a:lnTo>
                        <a:lnTo>
                          <a:pt x="819" y="1259"/>
                        </a:lnTo>
                        <a:lnTo>
                          <a:pt x="865" y="1247"/>
                        </a:lnTo>
                        <a:lnTo>
                          <a:pt x="903" y="1287"/>
                        </a:lnTo>
                        <a:lnTo>
                          <a:pt x="942" y="1295"/>
                        </a:lnTo>
                        <a:lnTo>
                          <a:pt x="951" y="1293"/>
                        </a:lnTo>
                        <a:lnTo>
                          <a:pt x="963" y="1319"/>
                        </a:lnTo>
                        <a:lnTo>
                          <a:pt x="976" y="1316"/>
                        </a:lnTo>
                        <a:lnTo>
                          <a:pt x="996" y="1331"/>
                        </a:lnTo>
                        <a:lnTo>
                          <a:pt x="1027" y="1317"/>
                        </a:lnTo>
                        <a:lnTo>
                          <a:pt x="1062" y="1320"/>
                        </a:lnTo>
                        <a:lnTo>
                          <a:pt x="1087" y="1341"/>
                        </a:lnTo>
                        <a:lnTo>
                          <a:pt x="1116" y="1337"/>
                        </a:lnTo>
                        <a:lnTo>
                          <a:pt x="1099" y="1358"/>
                        </a:lnTo>
                        <a:lnTo>
                          <a:pt x="1107" y="1377"/>
                        </a:lnTo>
                        <a:lnTo>
                          <a:pt x="1120" y="1379"/>
                        </a:lnTo>
                        <a:lnTo>
                          <a:pt x="1135" y="1370"/>
                        </a:lnTo>
                        <a:lnTo>
                          <a:pt x="1144" y="1436"/>
                        </a:lnTo>
                        <a:lnTo>
                          <a:pt x="1191" y="1535"/>
                        </a:lnTo>
                        <a:lnTo>
                          <a:pt x="1216" y="1545"/>
                        </a:lnTo>
                        <a:lnTo>
                          <a:pt x="1239" y="1509"/>
                        </a:lnTo>
                        <a:lnTo>
                          <a:pt x="1249" y="1491"/>
                        </a:lnTo>
                        <a:lnTo>
                          <a:pt x="1240" y="1469"/>
                        </a:lnTo>
                        <a:lnTo>
                          <a:pt x="1249" y="1440"/>
                        </a:lnTo>
                        <a:lnTo>
                          <a:pt x="1308" y="1409"/>
                        </a:lnTo>
                        <a:lnTo>
                          <a:pt x="1342" y="1364"/>
                        </a:lnTo>
                        <a:lnTo>
                          <a:pt x="1374" y="1361"/>
                        </a:lnTo>
                        <a:lnTo>
                          <a:pt x="1392" y="1358"/>
                        </a:lnTo>
                        <a:lnTo>
                          <a:pt x="1410" y="1406"/>
                        </a:lnTo>
                        <a:lnTo>
                          <a:pt x="1425" y="1419"/>
                        </a:lnTo>
                        <a:lnTo>
                          <a:pt x="1426" y="1454"/>
                        </a:lnTo>
                        <a:lnTo>
                          <a:pt x="1458" y="1436"/>
                        </a:lnTo>
                        <a:lnTo>
                          <a:pt x="1471" y="1457"/>
                        </a:lnTo>
                        <a:lnTo>
                          <a:pt x="1467" y="1547"/>
                        </a:lnTo>
                        <a:lnTo>
                          <a:pt x="1500" y="1605"/>
                        </a:lnTo>
                        <a:lnTo>
                          <a:pt x="1540" y="1632"/>
                        </a:lnTo>
                        <a:lnTo>
                          <a:pt x="1561" y="1644"/>
                        </a:lnTo>
                        <a:lnTo>
                          <a:pt x="1545" y="1613"/>
                        </a:lnTo>
                        <a:lnTo>
                          <a:pt x="1533" y="1578"/>
                        </a:lnTo>
                        <a:lnTo>
                          <a:pt x="1492" y="1536"/>
                        </a:lnTo>
                        <a:lnTo>
                          <a:pt x="1492" y="1508"/>
                        </a:lnTo>
                        <a:lnTo>
                          <a:pt x="1500" y="1463"/>
                        </a:lnTo>
                        <a:lnTo>
                          <a:pt x="1521" y="1500"/>
                        </a:lnTo>
                        <a:lnTo>
                          <a:pt x="1543" y="1515"/>
                        </a:lnTo>
                        <a:lnTo>
                          <a:pt x="1585" y="1514"/>
                        </a:lnTo>
                        <a:lnTo>
                          <a:pt x="1614" y="1478"/>
                        </a:lnTo>
                        <a:lnTo>
                          <a:pt x="1609" y="1440"/>
                        </a:lnTo>
                        <a:lnTo>
                          <a:pt x="1588" y="1416"/>
                        </a:lnTo>
                        <a:lnTo>
                          <a:pt x="1566" y="1392"/>
                        </a:lnTo>
                        <a:lnTo>
                          <a:pt x="1596" y="1365"/>
                        </a:lnTo>
                        <a:lnTo>
                          <a:pt x="1621" y="1371"/>
                        </a:lnTo>
                        <a:lnTo>
                          <a:pt x="1608" y="1400"/>
                        </a:lnTo>
                        <a:lnTo>
                          <a:pt x="1632" y="1403"/>
                        </a:lnTo>
                        <a:lnTo>
                          <a:pt x="1635" y="1370"/>
                        </a:lnTo>
                        <a:lnTo>
                          <a:pt x="1666" y="1355"/>
                        </a:lnTo>
                        <a:lnTo>
                          <a:pt x="1707" y="1349"/>
                        </a:lnTo>
                        <a:lnTo>
                          <a:pt x="1749" y="1314"/>
                        </a:lnTo>
                        <a:lnTo>
                          <a:pt x="1780" y="1248"/>
                        </a:lnTo>
                        <a:lnTo>
                          <a:pt x="1764" y="1191"/>
                        </a:lnTo>
                        <a:lnTo>
                          <a:pt x="1741" y="1163"/>
                        </a:lnTo>
                        <a:lnTo>
                          <a:pt x="1785" y="1133"/>
                        </a:lnTo>
                        <a:lnTo>
                          <a:pt x="1777" y="1118"/>
                        </a:lnTo>
                        <a:lnTo>
                          <a:pt x="1744" y="1125"/>
                        </a:lnTo>
                        <a:lnTo>
                          <a:pt x="1708" y="1100"/>
                        </a:lnTo>
                        <a:lnTo>
                          <a:pt x="1740" y="1097"/>
                        </a:lnTo>
                        <a:lnTo>
                          <a:pt x="1765" y="1082"/>
                        </a:lnTo>
                        <a:lnTo>
                          <a:pt x="1761" y="1104"/>
                        </a:lnTo>
                        <a:lnTo>
                          <a:pt x="1780" y="1104"/>
                        </a:lnTo>
                        <a:lnTo>
                          <a:pt x="1798" y="1089"/>
                        </a:lnTo>
                        <a:lnTo>
                          <a:pt x="1804" y="1110"/>
                        </a:lnTo>
                        <a:lnTo>
                          <a:pt x="1831" y="1127"/>
                        </a:lnTo>
                        <a:lnTo>
                          <a:pt x="1828" y="1169"/>
                        </a:lnTo>
                        <a:lnTo>
                          <a:pt x="1866" y="1166"/>
                        </a:lnTo>
                        <a:lnTo>
                          <a:pt x="1872" y="1125"/>
                        </a:lnTo>
                        <a:lnTo>
                          <a:pt x="1843" y="1092"/>
                        </a:lnTo>
                        <a:lnTo>
                          <a:pt x="1876" y="1056"/>
                        </a:lnTo>
                        <a:lnTo>
                          <a:pt x="1900" y="1022"/>
                        </a:lnTo>
                        <a:lnTo>
                          <a:pt x="1923" y="1043"/>
                        </a:lnTo>
                        <a:lnTo>
                          <a:pt x="1962" y="998"/>
                        </a:lnTo>
                        <a:lnTo>
                          <a:pt x="2020" y="864"/>
                        </a:lnTo>
                        <a:lnTo>
                          <a:pt x="2020" y="816"/>
                        </a:lnTo>
                        <a:lnTo>
                          <a:pt x="1984" y="815"/>
                        </a:lnTo>
                        <a:lnTo>
                          <a:pt x="1956" y="797"/>
                        </a:lnTo>
                        <a:lnTo>
                          <a:pt x="2048" y="696"/>
                        </a:lnTo>
                        <a:lnTo>
                          <a:pt x="2121" y="705"/>
                        </a:lnTo>
                        <a:lnTo>
                          <a:pt x="2120" y="689"/>
                        </a:lnTo>
                        <a:lnTo>
                          <a:pt x="2145" y="687"/>
                        </a:lnTo>
                        <a:lnTo>
                          <a:pt x="2160" y="710"/>
                        </a:lnTo>
                        <a:lnTo>
                          <a:pt x="2199" y="690"/>
                        </a:lnTo>
                        <a:lnTo>
                          <a:pt x="2265" y="630"/>
                        </a:lnTo>
                        <a:lnTo>
                          <a:pt x="2255" y="663"/>
                        </a:lnTo>
                        <a:lnTo>
                          <a:pt x="2273" y="660"/>
                        </a:lnTo>
                        <a:lnTo>
                          <a:pt x="2308" y="624"/>
                        </a:lnTo>
                        <a:lnTo>
                          <a:pt x="2294" y="660"/>
                        </a:lnTo>
                        <a:lnTo>
                          <a:pt x="2265" y="681"/>
                        </a:lnTo>
                        <a:lnTo>
                          <a:pt x="2253" y="717"/>
                        </a:lnTo>
                        <a:lnTo>
                          <a:pt x="2216" y="747"/>
                        </a:lnTo>
                        <a:lnTo>
                          <a:pt x="2201" y="794"/>
                        </a:lnTo>
                        <a:lnTo>
                          <a:pt x="2212" y="864"/>
                        </a:lnTo>
                        <a:lnTo>
                          <a:pt x="2228" y="884"/>
                        </a:lnTo>
                        <a:lnTo>
                          <a:pt x="2271" y="809"/>
                        </a:lnTo>
                        <a:lnTo>
                          <a:pt x="2288" y="806"/>
                        </a:lnTo>
                        <a:lnTo>
                          <a:pt x="2295" y="756"/>
                        </a:lnTo>
                        <a:lnTo>
                          <a:pt x="2298" y="707"/>
                        </a:lnTo>
                        <a:lnTo>
                          <a:pt x="2331" y="684"/>
                        </a:lnTo>
                        <a:lnTo>
                          <a:pt x="2373" y="659"/>
                        </a:lnTo>
                        <a:lnTo>
                          <a:pt x="2396" y="665"/>
                        </a:lnTo>
                        <a:lnTo>
                          <a:pt x="2436" y="633"/>
                        </a:lnTo>
                        <a:lnTo>
                          <a:pt x="2456" y="617"/>
                        </a:lnTo>
                        <a:lnTo>
                          <a:pt x="2500" y="624"/>
                        </a:lnTo>
                        <a:lnTo>
                          <a:pt x="2510" y="600"/>
                        </a:lnTo>
                        <a:lnTo>
                          <a:pt x="2483" y="566"/>
                        </a:lnTo>
                        <a:lnTo>
                          <a:pt x="2525" y="504"/>
                        </a:lnTo>
                        <a:lnTo>
                          <a:pt x="2591" y="555"/>
                        </a:lnTo>
                        <a:lnTo>
                          <a:pt x="2607" y="558"/>
                        </a:lnTo>
                        <a:cubicBezTo>
                          <a:pt x="2610" y="553"/>
                          <a:pt x="2584" y="523"/>
                          <a:pt x="2607" y="524"/>
                        </a:cubicBezTo>
                        <a:cubicBezTo>
                          <a:pt x="2630" y="525"/>
                          <a:pt x="2645" y="512"/>
                          <a:pt x="2640" y="504"/>
                        </a:cubicBezTo>
                        <a:lnTo>
                          <a:pt x="2577" y="476"/>
                        </a:lnTo>
                        <a:lnTo>
                          <a:pt x="2548" y="432"/>
                        </a:lnTo>
                        <a:lnTo>
                          <a:pt x="2498" y="413"/>
                        </a:lnTo>
                        <a:lnTo>
                          <a:pt x="2465" y="381"/>
                        </a:lnTo>
                        <a:lnTo>
                          <a:pt x="2438" y="378"/>
                        </a:lnTo>
                        <a:lnTo>
                          <a:pt x="2409" y="366"/>
                        </a:lnTo>
                        <a:lnTo>
                          <a:pt x="2393" y="420"/>
                        </a:lnTo>
                        <a:lnTo>
                          <a:pt x="2376" y="405"/>
                        </a:lnTo>
                        <a:lnTo>
                          <a:pt x="2391" y="384"/>
                        </a:lnTo>
                        <a:lnTo>
                          <a:pt x="2387" y="374"/>
                        </a:lnTo>
                        <a:lnTo>
                          <a:pt x="2354" y="390"/>
                        </a:lnTo>
                        <a:lnTo>
                          <a:pt x="2304" y="380"/>
                        </a:lnTo>
                        <a:lnTo>
                          <a:pt x="2279" y="398"/>
                        </a:lnTo>
                        <a:lnTo>
                          <a:pt x="2265" y="342"/>
                        </a:lnTo>
                        <a:lnTo>
                          <a:pt x="2237" y="332"/>
                        </a:lnTo>
                        <a:lnTo>
                          <a:pt x="2154" y="329"/>
                        </a:lnTo>
                        <a:lnTo>
                          <a:pt x="2130" y="276"/>
                        </a:lnTo>
                        <a:lnTo>
                          <a:pt x="2100" y="305"/>
                        </a:lnTo>
                        <a:lnTo>
                          <a:pt x="2091" y="272"/>
                        </a:lnTo>
                        <a:lnTo>
                          <a:pt x="2040" y="260"/>
                        </a:lnTo>
                        <a:lnTo>
                          <a:pt x="2013" y="278"/>
                        </a:lnTo>
                        <a:lnTo>
                          <a:pt x="2006" y="320"/>
                        </a:lnTo>
                        <a:lnTo>
                          <a:pt x="1967" y="306"/>
                        </a:lnTo>
                        <a:lnTo>
                          <a:pt x="1949" y="315"/>
                        </a:lnTo>
                        <a:lnTo>
                          <a:pt x="1923" y="302"/>
                        </a:lnTo>
                        <a:lnTo>
                          <a:pt x="1899" y="336"/>
                        </a:lnTo>
                        <a:cubicBezTo>
                          <a:pt x="1894" y="328"/>
                          <a:pt x="1898" y="266"/>
                          <a:pt x="1893" y="251"/>
                        </a:cubicBezTo>
                        <a:cubicBezTo>
                          <a:pt x="1888" y="234"/>
                          <a:pt x="1880" y="249"/>
                          <a:pt x="1869" y="246"/>
                        </a:cubicBezTo>
                        <a:cubicBezTo>
                          <a:pt x="1858" y="243"/>
                          <a:pt x="1840" y="230"/>
                          <a:pt x="1827" y="231"/>
                        </a:cubicBezTo>
                        <a:lnTo>
                          <a:pt x="1793" y="249"/>
                        </a:lnTo>
                        <a:lnTo>
                          <a:pt x="1730" y="222"/>
                        </a:lnTo>
                        <a:lnTo>
                          <a:pt x="1668" y="207"/>
                        </a:lnTo>
                        <a:cubicBezTo>
                          <a:pt x="1658" y="200"/>
                          <a:pt x="1676" y="177"/>
                          <a:pt x="1671" y="177"/>
                        </a:cubicBezTo>
                        <a:cubicBezTo>
                          <a:pt x="1651" y="159"/>
                          <a:pt x="1646" y="197"/>
                          <a:pt x="1635" y="206"/>
                        </a:cubicBezTo>
                        <a:lnTo>
                          <a:pt x="1607" y="234"/>
                        </a:lnTo>
                        <a:lnTo>
                          <a:pt x="1598" y="201"/>
                        </a:lnTo>
                        <a:lnTo>
                          <a:pt x="1623" y="198"/>
                        </a:lnTo>
                        <a:lnTo>
                          <a:pt x="1668" y="125"/>
                        </a:lnTo>
                        <a:lnTo>
                          <a:pt x="1674" y="80"/>
                        </a:lnTo>
                        <a:lnTo>
                          <a:pt x="1649" y="53"/>
                        </a:lnTo>
                        <a:lnTo>
                          <a:pt x="1584" y="77"/>
                        </a:lnTo>
                        <a:lnTo>
                          <a:pt x="1588" y="48"/>
                        </a:lnTo>
                        <a:cubicBezTo>
                          <a:pt x="1586" y="36"/>
                          <a:pt x="1605" y="6"/>
                          <a:pt x="1572" y="3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1" name="Freeform 97"/>
                  <p:cNvSpPr>
                    <a:spLocks/>
                  </p:cNvSpPr>
                  <p:nvPr/>
                </p:nvSpPr>
                <p:spPr bwMode="gray">
                  <a:xfrm>
                    <a:off x="2340" y="2831"/>
                    <a:ext cx="510" cy="422"/>
                  </a:xfrm>
                  <a:custGeom>
                    <a:avLst/>
                    <a:gdLst/>
                    <a:ahLst/>
                    <a:cxnLst>
                      <a:cxn ang="0">
                        <a:pos x="227" y="7"/>
                      </a:cxn>
                      <a:cxn ang="0">
                        <a:pos x="233" y="28"/>
                      </a:cxn>
                      <a:cxn ang="0">
                        <a:pos x="206" y="32"/>
                      </a:cxn>
                      <a:cxn ang="0">
                        <a:pos x="204" y="53"/>
                      </a:cxn>
                      <a:cxn ang="0">
                        <a:pos x="195" y="73"/>
                      </a:cxn>
                      <a:cxn ang="0">
                        <a:pos x="162" y="56"/>
                      </a:cxn>
                      <a:cxn ang="0">
                        <a:pos x="135" y="80"/>
                      </a:cxn>
                      <a:cxn ang="0">
                        <a:pos x="108" y="101"/>
                      </a:cxn>
                      <a:cxn ang="0">
                        <a:pos x="98" y="142"/>
                      </a:cxn>
                      <a:cxn ang="0">
                        <a:pos x="42" y="149"/>
                      </a:cxn>
                      <a:cxn ang="0">
                        <a:pos x="0" y="172"/>
                      </a:cxn>
                      <a:cxn ang="0">
                        <a:pos x="5" y="218"/>
                      </a:cxn>
                      <a:cxn ang="0">
                        <a:pos x="0" y="259"/>
                      </a:cxn>
                      <a:cxn ang="0">
                        <a:pos x="32" y="311"/>
                      </a:cxn>
                      <a:cxn ang="0">
                        <a:pos x="14" y="352"/>
                      </a:cxn>
                      <a:cxn ang="0">
                        <a:pos x="53" y="364"/>
                      </a:cxn>
                      <a:cxn ang="0">
                        <a:pos x="110" y="352"/>
                      </a:cxn>
                      <a:cxn ang="0">
                        <a:pos x="177" y="316"/>
                      </a:cxn>
                      <a:cxn ang="0">
                        <a:pos x="242" y="307"/>
                      </a:cxn>
                      <a:cxn ang="0">
                        <a:pos x="282" y="341"/>
                      </a:cxn>
                      <a:cxn ang="0">
                        <a:pos x="318" y="344"/>
                      </a:cxn>
                      <a:cxn ang="0">
                        <a:pos x="347" y="406"/>
                      </a:cxn>
                      <a:cxn ang="0">
                        <a:pos x="390" y="409"/>
                      </a:cxn>
                      <a:cxn ang="0">
                        <a:pos x="416" y="422"/>
                      </a:cxn>
                      <a:cxn ang="0">
                        <a:pos x="470" y="392"/>
                      </a:cxn>
                      <a:cxn ang="0">
                        <a:pos x="462" y="352"/>
                      </a:cxn>
                      <a:cxn ang="0">
                        <a:pos x="494" y="304"/>
                      </a:cxn>
                      <a:cxn ang="0">
                        <a:pos x="510" y="290"/>
                      </a:cxn>
                      <a:cxn ang="0">
                        <a:pos x="506" y="193"/>
                      </a:cxn>
                      <a:cxn ang="0">
                        <a:pos x="456" y="154"/>
                      </a:cxn>
                      <a:cxn ang="0">
                        <a:pos x="422" y="109"/>
                      </a:cxn>
                      <a:cxn ang="0">
                        <a:pos x="393" y="52"/>
                      </a:cxn>
                      <a:cxn ang="0">
                        <a:pos x="380" y="52"/>
                      </a:cxn>
                      <a:cxn ang="0">
                        <a:pos x="377" y="11"/>
                      </a:cxn>
                      <a:cxn ang="0">
                        <a:pos x="359" y="10"/>
                      </a:cxn>
                      <a:cxn ang="0">
                        <a:pos x="341" y="97"/>
                      </a:cxn>
                      <a:cxn ang="0">
                        <a:pos x="284" y="62"/>
                      </a:cxn>
                      <a:cxn ang="0">
                        <a:pos x="306" y="41"/>
                      </a:cxn>
                      <a:cxn ang="0">
                        <a:pos x="297" y="26"/>
                      </a:cxn>
                      <a:cxn ang="0">
                        <a:pos x="270" y="26"/>
                      </a:cxn>
                      <a:cxn ang="0">
                        <a:pos x="261" y="13"/>
                      </a:cxn>
                      <a:cxn ang="0">
                        <a:pos x="249" y="11"/>
                      </a:cxn>
                      <a:cxn ang="0">
                        <a:pos x="227" y="7"/>
                      </a:cxn>
                    </a:cxnLst>
                    <a:rect l="0" t="0" r="r" b="b"/>
                    <a:pathLst>
                      <a:path w="510" h="422">
                        <a:moveTo>
                          <a:pt x="227" y="7"/>
                        </a:moveTo>
                        <a:cubicBezTo>
                          <a:pt x="216" y="14"/>
                          <a:pt x="236" y="24"/>
                          <a:pt x="233" y="28"/>
                        </a:cubicBezTo>
                        <a:lnTo>
                          <a:pt x="206" y="32"/>
                        </a:lnTo>
                        <a:lnTo>
                          <a:pt x="204" y="53"/>
                        </a:lnTo>
                        <a:lnTo>
                          <a:pt x="195" y="73"/>
                        </a:lnTo>
                        <a:lnTo>
                          <a:pt x="162" y="56"/>
                        </a:lnTo>
                        <a:lnTo>
                          <a:pt x="135" y="80"/>
                        </a:lnTo>
                        <a:lnTo>
                          <a:pt x="108" y="101"/>
                        </a:lnTo>
                        <a:lnTo>
                          <a:pt x="98" y="142"/>
                        </a:lnTo>
                        <a:lnTo>
                          <a:pt x="42" y="149"/>
                        </a:lnTo>
                        <a:lnTo>
                          <a:pt x="0" y="172"/>
                        </a:lnTo>
                        <a:lnTo>
                          <a:pt x="5" y="218"/>
                        </a:lnTo>
                        <a:lnTo>
                          <a:pt x="0" y="259"/>
                        </a:lnTo>
                        <a:lnTo>
                          <a:pt x="32" y="311"/>
                        </a:lnTo>
                        <a:lnTo>
                          <a:pt x="14" y="352"/>
                        </a:lnTo>
                        <a:lnTo>
                          <a:pt x="53" y="364"/>
                        </a:lnTo>
                        <a:lnTo>
                          <a:pt x="110" y="352"/>
                        </a:lnTo>
                        <a:lnTo>
                          <a:pt x="177" y="316"/>
                        </a:lnTo>
                        <a:lnTo>
                          <a:pt x="242" y="307"/>
                        </a:lnTo>
                        <a:lnTo>
                          <a:pt x="282" y="341"/>
                        </a:lnTo>
                        <a:lnTo>
                          <a:pt x="318" y="344"/>
                        </a:lnTo>
                        <a:lnTo>
                          <a:pt x="347" y="406"/>
                        </a:lnTo>
                        <a:lnTo>
                          <a:pt x="390" y="409"/>
                        </a:lnTo>
                        <a:lnTo>
                          <a:pt x="416" y="422"/>
                        </a:lnTo>
                        <a:lnTo>
                          <a:pt x="470" y="392"/>
                        </a:lnTo>
                        <a:lnTo>
                          <a:pt x="462" y="352"/>
                        </a:lnTo>
                        <a:lnTo>
                          <a:pt x="494" y="304"/>
                        </a:lnTo>
                        <a:lnTo>
                          <a:pt x="510" y="290"/>
                        </a:lnTo>
                        <a:lnTo>
                          <a:pt x="506" y="193"/>
                        </a:lnTo>
                        <a:lnTo>
                          <a:pt x="456" y="154"/>
                        </a:lnTo>
                        <a:lnTo>
                          <a:pt x="422" y="109"/>
                        </a:lnTo>
                        <a:lnTo>
                          <a:pt x="393" y="52"/>
                        </a:lnTo>
                        <a:lnTo>
                          <a:pt x="380" y="52"/>
                        </a:lnTo>
                        <a:lnTo>
                          <a:pt x="377" y="11"/>
                        </a:lnTo>
                        <a:lnTo>
                          <a:pt x="359" y="10"/>
                        </a:lnTo>
                        <a:lnTo>
                          <a:pt x="341" y="97"/>
                        </a:lnTo>
                        <a:lnTo>
                          <a:pt x="284" y="62"/>
                        </a:lnTo>
                        <a:lnTo>
                          <a:pt x="306" y="41"/>
                        </a:lnTo>
                        <a:lnTo>
                          <a:pt x="297" y="26"/>
                        </a:lnTo>
                        <a:lnTo>
                          <a:pt x="270" y="26"/>
                        </a:lnTo>
                        <a:lnTo>
                          <a:pt x="261" y="13"/>
                        </a:lnTo>
                        <a:lnTo>
                          <a:pt x="249" y="11"/>
                        </a:lnTo>
                        <a:cubicBezTo>
                          <a:pt x="243" y="10"/>
                          <a:pt x="238" y="0"/>
                          <a:pt x="227" y="7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2" name="Freeform 98"/>
                  <p:cNvSpPr>
                    <a:spLocks/>
                  </p:cNvSpPr>
                  <p:nvPr/>
                </p:nvSpPr>
                <p:spPr bwMode="gray">
                  <a:xfrm>
                    <a:off x="2726" y="3263"/>
                    <a:ext cx="68" cy="71"/>
                  </a:xfrm>
                  <a:custGeom>
                    <a:avLst/>
                    <a:gdLst/>
                    <a:ahLst/>
                    <a:cxnLst>
                      <a:cxn ang="0">
                        <a:pos x="58" y="5"/>
                      </a:cxn>
                      <a:cxn ang="0">
                        <a:pos x="37" y="14"/>
                      </a:cxn>
                      <a:cxn ang="0">
                        <a:pos x="4" y="16"/>
                      </a:cxn>
                      <a:cxn ang="0">
                        <a:pos x="15" y="50"/>
                      </a:cxn>
                      <a:cxn ang="0">
                        <a:pos x="45" y="71"/>
                      </a:cxn>
                      <a:cxn ang="0">
                        <a:pos x="66" y="44"/>
                      </a:cxn>
                      <a:cxn ang="0">
                        <a:pos x="58" y="5"/>
                      </a:cxn>
                    </a:cxnLst>
                    <a:rect l="0" t="0" r="r" b="b"/>
                    <a:pathLst>
                      <a:path w="68" h="71">
                        <a:moveTo>
                          <a:pt x="58" y="5"/>
                        </a:moveTo>
                        <a:cubicBezTo>
                          <a:pt x="53" y="0"/>
                          <a:pt x="46" y="12"/>
                          <a:pt x="37" y="14"/>
                        </a:cubicBezTo>
                        <a:cubicBezTo>
                          <a:pt x="28" y="16"/>
                          <a:pt x="8" y="10"/>
                          <a:pt x="4" y="16"/>
                        </a:cubicBezTo>
                        <a:cubicBezTo>
                          <a:pt x="0" y="22"/>
                          <a:pt x="8" y="41"/>
                          <a:pt x="15" y="50"/>
                        </a:cubicBezTo>
                        <a:lnTo>
                          <a:pt x="45" y="71"/>
                        </a:lnTo>
                        <a:lnTo>
                          <a:pt x="66" y="44"/>
                        </a:lnTo>
                        <a:cubicBezTo>
                          <a:pt x="68" y="33"/>
                          <a:pt x="63" y="10"/>
                          <a:pt x="58" y="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3" name="Freeform 99"/>
                  <p:cNvSpPr>
                    <a:spLocks/>
                  </p:cNvSpPr>
                  <p:nvPr/>
                </p:nvSpPr>
                <p:spPr bwMode="gray">
                  <a:xfrm>
                    <a:off x="2938" y="3350"/>
                    <a:ext cx="100" cy="109"/>
                  </a:xfrm>
                  <a:custGeom>
                    <a:avLst/>
                    <a:gdLst/>
                    <a:ahLst/>
                    <a:cxnLst>
                      <a:cxn ang="0">
                        <a:pos x="82" y="5"/>
                      </a:cxn>
                      <a:cxn ang="0">
                        <a:pos x="59" y="34"/>
                      </a:cxn>
                      <a:cxn ang="0">
                        <a:pos x="14" y="74"/>
                      </a:cxn>
                      <a:cxn ang="0">
                        <a:pos x="1" y="100"/>
                      </a:cxn>
                      <a:cxn ang="0">
                        <a:pos x="20" y="109"/>
                      </a:cxn>
                      <a:cxn ang="0">
                        <a:pos x="55" y="107"/>
                      </a:cxn>
                      <a:cxn ang="0">
                        <a:pos x="64" y="71"/>
                      </a:cxn>
                      <a:cxn ang="0">
                        <a:pos x="97" y="17"/>
                      </a:cxn>
                      <a:cxn ang="0">
                        <a:pos x="82" y="5"/>
                      </a:cxn>
                    </a:cxnLst>
                    <a:rect l="0" t="0" r="r" b="b"/>
                    <a:pathLst>
                      <a:path w="100" h="109">
                        <a:moveTo>
                          <a:pt x="82" y="5"/>
                        </a:moveTo>
                        <a:cubicBezTo>
                          <a:pt x="77" y="0"/>
                          <a:pt x="74" y="22"/>
                          <a:pt x="59" y="34"/>
                        </a:cubicBezTo>
                        <a:cubicBezTo>
                          <a:pt x="48" y="45"/>
                          <a:pt x="24" y="63"/>
                          <a:pt x="14" y="74"/>
                        </a:cubicBezTo>
                        <a:cubicBezTo>
                          <a:pt x="6" y="84"/>
                          <a:pt x="0" y="94"/>
                          <a:pt x="1" y="100"/>
                        </a:cubicBezTo>
                        <a:cubicBezTo>
                          <a:pt x="2" y="106"/>
                          <a:pt x="11" y="108"/>
                          <a:pt x="20" y="109"/>
                        </a:cubicBezTo>
                        <a:lnTo>
                          <a:pt x="55" y="107"/>
                        </a:lnTo>
                        <a:lnTo>
                          <a:pt x="64" y="71"/>
                        </a:lnTo>
                        <a:cubicBezTo>
                          <a:pt x="71" y="56"/>
                          <a:pt x="94" y="28"/>
                          <a:pt x="97" y="17"/>
                        </a:cubicBezTo>
                        <a:cubicBezTo>
                          <a:pt x="100" y="6"/>
                          <a:pt x="85" y="7"/>
                          <a:pt x="82" y="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4" name="Freeform 100"/>
                  <p:cNvSpPr>
                    <a:spLocks/>
                  </p:cNvSpPr>
                  <p:nvPr/>
                </p:nvSpPr>
                <p:spPr bwMode="gray">
                  <a:xfrm>
                    <a:off x="3005" y="3226"/>
                    <a:ext cx="83" cy="137"/>
                  </a:xfrm>
                  <a:custGeom>
                    <a:avLst/>
                    <a:gdLst/>
                    <a:ahLst/>
                    <a:cxnLst>
                      <a:cxn ang="0">
                        <a:pos x="36" y="49"/>
                      </a:cxn>
                      <a:cxn ang="0">
                        <a:pos x="8" y="34"/>
                      </a:cxn>
                      <a:cxn ang="0">
                        <a:pos x="26" y="72"/>
                      </a:cxn>
                      <a:cxn ang="0">
                        <a:pos x="24" y="103"/>
                      </a:cxn>
                      <a:cxn ang="0">
                        <a:pos x="41" y="136"/>
                      </a:cxn>
                      <a:cxn ang="0">
                        <a:pos x="57" y="111"/>
                      </a:cxn>
                      <a:cxn ang="0">
                        <a:pos x="75" y="100"/>
                      </a:cxn>
                      <a:cxn ang="0">
                        <a:pos x="81" y="76"/>
                      </a:cxn>
                      <a:cxn ang="0">
                        <a:pos x="60" y="81"/>
                      </a:cxn>
                      <a:cxn ang="0">
                        <a:pos x="36" y="49"/>
                      </a:cxn>
                    </a:cxnLst>
                    <a:rect l="0" t="0" r="r" b="b"/>
                    <a:pathLst>
                      <a:path w="83" h="137">
                        <a:moveTo>
                          <a:pt x="36" y="49"/>
                        </a:moveTo>
                        <a:cubicBezTo>
                          <a:pt x="32" y="49"/>
                          <a:pt x="0" y="0"/>
                          <a:pt x="8" y="34"/>
                        </a:cubicBezTo>
                        <a:cubicBezTo>
                          <a:pt x="2" y="57"/>
                          <a:pt x="15" y="48"/>
                          <a:pt x="26" y="72"/>
                        </a:cubicBezTo>
                        <a:cubicBezTo>
                          <a:pt x="32" y="115"/>
                          <a:pt x="22" y="90"/>
                          <a:pt x="24" y="103"/>
                        </a:cubicBezTo>
                        <a:cubicBezTo>
                          <a:pt x="26" y="116"/>
                          <a:pt x="37" y="98"/>
                          <a:pt x="41" y="136"/>
                        </a:cubicBezTo>
                        <a:cubicBezTo>
                          <a:pt x="46" y="137"/>
                          <a:pt x="51" y="117"/>
                          <a:pt x="57" y="111"/>
                        </a:cubicBezTo>
                        <a:lnTo>
                          <a:pt x="75" y="100"/>
                        </a:lnTo>
                        <a:cubicBezTo>
                          <a:pt x="79" y="94"/>
                          <a:pt x="83" y="79"/>
                          <a:pt x="81" y="76"/>
                        </a:cubicBezTo>
                        <a:cubicBezTo>
                          <a:pt x="79" y="73"/>
                          <a:pt x="67" y="85"/>
                          <a:pt x="60" y="81"/>
                        </a:cubicBezTo>
                        <a:cubicBezTo>
                          <a:pt x="53" y="77"/>
                          <a:pt x="41" y="56"/>
                          <a:pt x="36" y="49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5" name="Freeform 101"/>
                  <p:cNvSpPr>
                    <a:spLocks/>
                  </p:cNvSpPr>
                  <p:nvPr/>
                </p:nvSpPr>
                <p:spPr bwMode="gray">
                  <a:xfrm>
                    <a:off x="2790" y="2674"/>
                    <a:ext cx="66" cy="65"/>
                  </a:xfrm>
                  <a:custGeom>
                    <a:avLst/>
                    <a:gdLst/>
                    <a:ahLst/>
                    <a:cxnLst>
                      <a:cxn ang="0">
                        <a:pos x="59" y="5"/>
                      </a:cxn>
                      <a:cxn ang="0">
                        <a:pos x="38" y="32"/>
                      </a:cxn>
                      <a:cxn ang="0">
                        <a:pos x="8" y="44"/>
                      </a:cxn>
                      <a:cxn ang="0">
                        <a:pos x="8" y="63"/>
                      </a:cxn>
                      <a:cxn ang="0">
                        <a:pos x="44" y="54"/>
                      </a:cxn>
                      <a:cxn ang="0">
                        <a:pos x="58" y="41"/>
                      </a:cxn>
                      <a:cxn ang="0">
                        <a:pos x="66" y="15"/>
                      </a:cxn>
                      <a:cxn ang="0">
                        <a:pos x="59" y="5"/>
                      </a:cxn>
                    </a:cxnLst>
                    <a:rect l="0" t="0" r="r" b="b"/>
                    <a:pathLst>
                      <a:path w="66" h="65">
                        <a:moveTo>
                          <a:pt x="59" y="5"/>
                        </a:moveTo>
                        <a:cubicBezTo>
                          <a:pt x="54" y="0"/>
                          <a:pt x="46" y="26"/>
                          <a:pt x="38" y="32"/>
                        </a:cubicBezTo>
                        <a:cubicBezTo>
                          <a:pt x="30" y="38"/>
                          <a:pt x="13" y="39"/>
                          <a:pt x="8" y="44"/>
                        </a:cubicBezTo>
                        <a:cubicBezTo>
                          <a:pt x="0" y="54"/>
                          <a:pt x="2" y="61"/>
                          <a:pt x="8" y="63"/>
                        </a:cubicBezTo>
                        <a:cubicBezTo>
                          <a:pt x="14" y="65"/>
                          <a:pt x="36" y="58"/>
                          <a:pt x="44" y="54"/>
                        </a:cubicBezTo>
                        <a:lnTo>
                          <a:pt x="58" y="41"/>
                        </a:lnTo>
                        <a:cubicBezTo>
                          <a:pt x="62" y="35"/>
                          <a:pt x="66" y="21"/>
                          <a:pt x="66" y="15"/>
                        </a:cubicBezTo>
                        <a:cubicBezTo>
                          <a:pt x="66" y="9"/>
                          <a:pt x="60" y="7"/>
                          <a:pt x="59" y="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6" name="Freeform 102"/>
                  <p:cNvSpPr>
                    <a:spLocks/>
                  </p:cNvSpPr>
                  <p:nvPr/>
                </p:nvSpPr>
                <p:spPr bwMode="gray">
                  <a:xfrm>
                    <a:off x="2566" y="2661"/>
                    <a:ext cx="256" cy="142"/>
                  </a:xfrm>
                  <a:custGeom>
                    <a:avLst/>
                    <a:gdLst/>
                    <a:ahLst/>
                    <a:cxnLst>
                      <a:cxn ang="0">
                        <a:pos x="133" y="36"/>
                      </a:cxn>
                      <a:cxn ang="0">
                        <a:pos x="83" y="15"/>
                      </a:cxn>
                      <a:cxn ang="0">
                        <a:pos x="71" y="39"/>
                      </a:cxn>
                      <a:cxn ang="0">
                        <a:pos x="47" y="39"/>
                      </a:cxn>
                      <a:cxn ang="0">
                        <a:pos x="28" y="4"/>
                      </a:cxn>
                      <a:cxn ang="0">
                        <a:pos x="1" y="16"/>
                      </a:cxn>
                      <a:cxn ang="0">
                        <a:pos x="22" y="51"/>
                      </a:cxn>
                      <a:cxn ang="0">
                        <a:pos x="76" y="64"/>
                      </a:cxn>
                      <a:cxn ang="0">
                        <a:pos x="119" y="109"/>
                      </a:cxn>
                      <a:cxn ang="0">
                        <a:pos x="145" y="117"/>
                      </a:cxn>
                      <a:cxn ang="0">
                        <a:pos x="175" y="102"/>
                      </a:cxn>
                      <a:cxn ang="0">
                        <a:pos x="221" y="136"/>
                      </a:cxn>
                      <a:cxn ang="0">
                        <a:pos x="256" y="142"/>
                      </a:cxn>
                      <a:cxn ang="0">
                        <a:pos x="208" y="91"/>
                      </a:cxn>
                      <a:cxn ang="0">
                        <a:pos x="220" y="82"/>
                      </a:cxn>
                      <a:cxn ang="0">
                        <a:pos x="161" y="39"/>
                      </a:cxn>
                      <a:cxn ang="0">
                        <a:pos x="133" y="36"/>
                      </a:cxn>
                    </a:cxnLst>
                    <a:rect l="0" t="0" r="r" b="b"/>
                    <a:pathLst>
                      <a:path w="256" h="142">
                        <a:moveTo>
                          <a:pt x="133" y="36"/>
                        </a:moveTo>
                        <a:cubicBezTo>
                          <a:pt x="128" y="31"/>
                          <a:pt x="91" y="9"/>
                          <a:pt x="83" y="15"/>
                        </a:cubicBezTo>
                        <a:cubicBezTo>
                          <a:pt x="73" y="15"/>
                          <a:pt x="77" y="35"/>
                          <a:pt x="71" y="39"/>
                        </a:cubicBezTo>
                        <a:cubicBezTo>
                          <a:pt x="69" y="49"/>
                          <a:pt x="45" y="30"/>
                          <a:pt x="47" y="39"/>
                        </a:cubicBezTo>
                        <a:cubicBezTo>
                          <a:pt x="40" y="33"/>
                          <a:pt x="36" y="8"/>
                          <a:pt x="28" y="4"/>
                        </a:cubicBezTo>
                        <a:cubicBezTo>
                          <a:pt x="20" y="0"/>
                          <a:pt x="2" y="8"/>
                          <a:pt x="1" y="16"/>
                        </a:cubicBezTo>
                        <a:cubicBezTo>
                          <a:pt x="0" y="24"/>
                          <a:pt x="10" y="43"/>
                          <a:pt x="22" y="51"/>
                        </a:cubicBezTo>
                        <a:cubicBezTo>
                          <a:pt x="34" y="59"/>
                          <a:pt x="60" y="54"/>
                          <a:pt x="76" y="64"/>
                        </a:cubicBezTo>
                        <a:cubicBezTo>
                          <a:pt x="92" y="74"/>
                          <a:pt x="107" y="100"/>
                          <a:pt x="119" y="109"/>
                        </a:cubicBezTo>
                        <a:cubicBezTo>
                          <a:pt x="131" y="118"/>
                          <a:pt x="136" y="118"/>
                          <a:pt x="145" y="117"/>
                        </a:cubicBezTo>
                        <a:cubicBezTo>
                          <a:pt x="154" y="116"/>
                          <a:pt x="162" y="99"/>
                          <a:pt x="175" y="102"/>
                        </a:cubicBezTo>
                        <a:lnTo>
                          <a:pt x="221" y="136"/>
                        </a:lnTo>
                        <a:lnTo>
                          <a:pt x="256" y="142"/>
                        </a:lnTo>
                        <a:cubicBezTo>
                          <a:pt x="254" y="135"/>
                          <a:pt x="214" y="101"/>
                          <a:pt x="208" y="91"/>
                        </a:cubicBezTo>
                        <a:cubicBezTo>
                          <a:pt x="202" y="81"/>
                          <a:pt x="228" y="91"/>
                          <a:pt x="220" y="82"/>
                        </a:cubicBezTo>
                        <a:cubicBezTo>
                          <a:pt x="212" y="73"/>
                          <a:pt x="176" y="47"/>
                          <a:pt x="161" y="39"/>
                        </a:cubicBezTo>
                        <a:cubicBezTo>
                          <a:pt x="146" y="31"/>
                          <a:pt x="139" y="37"/>
                          <a:pt x="133" y="3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7" name="Freeform 103"/>
                  <p:cNvSpPr>
                    <a:spLocks/>
                  </p:cNvSpPr>
                  <p:nvPr/>
                </p:nvSpPr>
                <p:spPr bwMode="gray">
                  <a:xfrm>
                    <a:off x="833" y="1705"/>
                    <a:ext cx="111" cy="205"/>
                  </a:xfrm>
                  <a:custGeom>
                    <a:avLst/>
                    <a:gdLst/>
                    <a:ahLst/>
                    <a:cxnLst>
                      <a:cxn ang="0">
                        <a:pos x="16" y="22"/>
                      </a:cxn>
                      <a:cxn ang="0">
                        <a:pos x="8" y="50"/>
                      </a:cxn>
                      <a:cxn ang="0">
                        <a:pos x="3" y="65"/>
                      </a:cxn>
                      <a:cxn ang="0">
                        <a:pos x="24" y="80"/>
                      </a:cxn>
                      <a:cxn ang="0">
                        <a:pos x="23" y="102"/>
                      </a:cxn>
                      <a:cxn ang="0">
                        <a:pos x="36" y="107"/>
                      </a:cxn>
                      <a:cxn ang="0">
                        <a:pos x="39" y="131"/>
                      </a:cxn>
                      <a:cxn ang="0">
                        <a:pos x="19" y="132"/>
                      </a:cxn>
                      <a:cxn ang="0">
                        <a:pos x="12" y="159"/>
                      </a:cxn>
                      <a:cxn ang="0">
                        <a:pos x="15" y="167"/>
                      </a:cxn>
                      <a:cxn ang="0">
                        <a:pos x="33" y="170"/>
                      </a:cxn>
                      <a:cxn ang="0">
                        <a:pos x="1" y="201"/>
                      </a:cxn>
                      <a:cxn ang="0">
                        <a:pos x="13" y="205"/>
                      </a:cxn>
                      <a:cxn ang="0">
                        <a:pos x="41" y="198"/>
                      </a:cxn>
                      <a:cxn ang="0">
                        <a:pos x="75" y="192"/>
                      </a:cxn>
                      <a:cxn ang="0">
                        <a:pos x="106" y="179"/>
                      </a:cxn>
                      <a:cxn ang="0">
                        <a:pos x="105" y="156"/>
                      </a:cxn>
                      <a:cxn ang="0">
                        <a:pos x="91" y="143"/>
                      </a:cxn>
                      <a:cxn ang="0">
                        <a:pos x="87" y="122"/>
                      </a:cxn>
                      <a:cxn ang="0">
                        <a:pos x="62" y="97"/>
                      </a:cxn>
                      <a:cxn ang="0">
                        <a:pos x="63" y="75"/>
                      </a:cxn>
                      <a:cxn ang="0">
                        <a:pos x="49" y="71"/>
                      </a:cxn>
                      <a:cxn ang="0">
                        <a:pos x="61" y="53"/>
                      </a:cxn>
                      <a:cxn ang="0">
                        <a:pos x="45" y="36"/>
                      </a:cxn>
                      <a:cxn ang="0">
                        <a:pos x="49" y="15"/>
                      </a:cxn>
                      <a:cxn ang="0">
                        <a:pos x="32" y="1"/>
                      </a:cxn>
                      <a:cxn ang="0">
                        <a:pos x="20" y="11"/>
                      </a:cxn>
                      <a:cxn ang="0">
                        <a:pos x="16" y="22"/>
                      </a:cxn>
                    </a:cxnLst>
                    <a:rect l="0" t="0" r="r" b="b"/>
                    <a:pathLst>
                      <a:path w="111" h="205">
                        <a:moveTo>
                          <a:pt x="16" y="22"/>
                        </a:moveTo>
                        <a:cubicBezTo>
                          <a:pt x="14" y="29"/>
                          <a:pt x="7" y="37"/>
                          <a:pt x="8" y="50"/>
                        </a:cubicBezTo>
                        <a:cubicBezTo>
                          <a:pt x="7" y="57"/>
                          <a:pt x="0" y="60"/>
                          <a:pt x="3" y="65"/>
                        </a:cubicBezTo>
                        <a:cubicBezTo>
                          <a:pt x="6" y="70"/>
                          <a:pt x="21" y="74"/>
                          <a:pt x="24" y="80"/>
                        </a:cubicBezTo>
                        <a:cubicBezTo>
                          <a:pt x="27" y="86"/>
                          <a:pt x="21" y="98"/>
                          <a:pt x="23" y="102"/>
                        </a:cubicBezTo>
                        <a:cubicBezTo>
                          <a:pt x="29" y="98"/>
                          <a:pt x="31" y="101"/>
                          <a:pt x="36" y="107"/>
                        </a:cubicBezTo>
                        <a:cubicBezTo>
                          <a:pt x="40" y="123"/>
                          <a:pt x="46" y="124"/>
                          <a:pt x="39" y="131"/>
                        </a:cubicBezTo>
                        <a:cubicBezTo>
                          <a:pt x="30" y="129"/>
                          <a:pt x="21" y="118"/>
                          <a:pt x="19" y="132"/>
                        </a:cubicBezTo>
                        <a:cubicBezTo>
                          <a:pt x="21" y="151"/>
                          <a:pt x="24" y="156"/>
                          <a:pt x="12" y="159"/>
                        </a:cubicBezTo>
                        <a:cubicBezTo>
                          <a:pt x="12" y="162"/>
                          <a:pt x="14" y="166"/>
                          <a:pt x="15" y="167"/>
                        </a:cubicBezTo>
                        <a:cubicBezTo>
                          <a:pt x="17" y="170"/>
                          <a:pt x="33" y="170"/>
                          <a:pt x="33" y="170"/>
                        </a:cubicBezTo>
                        <a:cubicBezTo>
                          <a:pt x="32" y="183"/>
                          <a:pt x="3" y="189"/>
                          <a:pt x="1" y="201"/>
                        </a:cubicBezTo>
                        <a:cubicBezTo>
                          <a:pt x="2" y="203"/>
                          <a:pt x="11" y="204"/>
                          <a:pt x="13" y="205"/>
                        </a:cubicBezTo>
                        <a:cubicBezTo>
                          <a:pt x="20" y="205"/>
                          <a:pt x="32" y="199"/>
                          <a:pt x="41" y="198"/>
                        </a:cubicBezTo>
                        <a:cubicBezTo>
                          <a:pt x="49" y="195"/>
                          <a:pt x="67" y="187"/>
                          <a:pt x="75" y="192"/>
                        </a:cubicBezTo>
                        <a:cubicBezTo>
                          <a:pt x="86" y="189"/>
                          <a:pt x="101" y="185"/>
                          <a:pt x="106" y="179"/>
                        </a:cubicBezTo>
                        <a:cubicBezTo>
                          <a:pt x="111" y="173"/>
                          <a:pt x="109" y="164"/>
                          <a:pt x="105" y="156"/>
                        </a:cubicBezTo>
                        <a:cubicBezTo>
                          <a:pt x="104" y="148"/>
                          <a:pt x="95" y="148"/>
                          <a:pt x="91" y="143"/>
                        </a:cubicBezTo>
                        <a:cubicBezTo>
                          <a:pt x="88" y="137"/>
                          <a:pt x="92" y="130"/>
                          <a:pt x="87" y="122"/>
                        </a:cubicBezTo>
                        <a:cubicBezTo>
                          <a:pt x="81" y="108"/>
                          <a:pt x="73" y="103"/>
                          <a:pt x="62" y="97"/>
                        </a:cubicBezTo>
                        <a:cubicBezTo>
                          <a:pt x="60" y="92"/>
                          <a:pt x="66" y="78"/>
                          <a:pt x="63" y="75"/>
                        </a:cubicBezTo>
                        <a:cubicBezTo>
                          <a:pt x="59" y="70"/>
                          <a:pt x="53" y="76"/>
                          <a:pt x="49" y="71"/>
                        </a:cubicBezTo>
                        <a:cubicBezTo>
                          <a:pt x="42" y="65"/>
                          <a:pt x="47" y="55"/>
                          <a:pt x="61" y="53"/>
                        </a:cubicBezTo>
                        <a:cubicBezTo>
                          <a:pt x="66" y="29"/>
                          <a:pt x="59" y="34"/>
                          <a:pt x="45" y="36"/>
                        </a:cubicBezTo>
                        <a:cubicBezTo>
                          <a:pt x="43" y="29"/>
                          <a:pt x="49" y="15"/>
                          <a:pt x="49" y="15"/>
                        </a:cubicBezTo>
                        <a:cubicBezTo>
                          <a:pt x="45" y="5"/>
                          <a:pt x="39" y="4"/>
                          <a:pt x="32" y="1"/>
                        </a:cubicBezTo>
                        <a:cubicBezTo>
                          <a:pt x="24" y="4"/>
                          <a:pt x="23" y="0"/>
                          <a:pt x="20" y="11"/>
                        </a:cubicBezTo>
                        <a:cubicBezTo>
                          <a:pt x="16" y="25"/>
                          <a:pt x="19" y="28"/>
                          <a:pt x="16" y="2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8" name="Freeform 104"/>
                  <p:cNvSpPr>
                    <a:spLocks/>
                  </p:cNvSpPr>
                  <p:nvPr/>
                </p:nvSpPr>
                <p:spPr bwMode="gray">
                  <a:xfrm>
                    <a:off x="771" y="1787"/>
                    <a:ext cx="81" cy="94"/>
                  </a:xfrm>
                  <a:custGeom>
                    <a:avLst/>
                    <a:gdLst/>
                    <a:ahLst/>
                    <a:cxnLst>
                      <a:cxn ang="0">
                        <a:pos x="40" y="8"/>
                      </a:cxn>
                      <a:cxn ang="0">
                        <a:pos x="59" y="5"/>
                      </a:cxn>
                      <a:cxn ang="0">
                        <a:pos x="72" y="16"/>
                      </a:cxn>
                      <a:cxn ang="0">
                        <a:pos x="71" y="46"/>
                      </a:cxn>
                      <a:cxn ang="0">
                        <a:pos x="46" y="78"/>
                      </a:cxn>
                      <a:cxn ang="0">
                        <a:pos x="38" y="89"/>
                      </a:cxn>
                      <a:cxn ang="0">
                        <a:pos x="15" y="81"/>
                      </a:cxn>
                      <a:cxn ang="0">
                        <a:pos x="23" y="71"/>
                      </a:cxn>
                      <a:cxn ang="0">
                        <a:pos x="0" y="38"/>
                      </a:cxn>
                      <a:cxn ang="0">
                        <a:pos x="31" y="32"/>
                      </a:cxn>
                      <a:cxn ang="0">
                        <a:pos x="40" y="8"/>
                      </a:cxn>
                    </a:cxnLst>
                    <a:rect l="0" t="0" r="r" b="b"/>
                    <a:pathLst>
                      <a:path w="81" h="94">
                        <a:moveTo>
                          <a:pt x="40" y="8"/>
                        </a:moveTo>
                        <a:cubicBezTo>
                          <a:pt x="45" y="0"/>
                          <a:pt x="50" y="1"/>
                          <a:pt x="59" y="5"/>
                        </a:cubicBezTo>
                        <a:cubicBezTo>
                          <a:pt x="68" y="17"/>
                          <a:pt x="67" y="6"/>
                          <a:pt x="72" y="16"/>
                        </a:cubicBezTo>
                        <a:cubicBezTo>
                          <a:pt x="73" y="26"/>
                          <a:pt x="72" y="35"/>
                          <a:pt x="71" y="46"/>
                        </a:cubicBezTo>
                        <a:cubicBezTo>
                          <a:pt x="81" y="65"/>
                          <a:pt x="56" y="71"/>
                          <a:pt x="46" y="78"/>
                        </a:cubicBezTo>
                        <a:cubicBezTo>
                          <a:pt x="43" y="89"/>
                          <a:pt x="45" y="82"/>
                          <a:pt x="38" y="89"/>
                        </a:cubicBezTo>
                        <a:cubicBezTo>
                          <a:pt x="31" y="89"/>
                          <a:pt x="12" y="94"/>
                          <a:pt x="15" y="81"/>
                        </a:cubicBezTo>
                        <a:cubicBezTo>
                          <a:pt x="17" y="76"/>
                          <a:pt x="23" y="71"/>
                          <a:pt x="23" y="71"/>
                        </a:cubicBezTo>
                        <a:cubicBezTo>
                          <a:pt x="23" y="61"/>
                          <a:pt x="7" y="44"/>
                          <a:pt x="0" y="38"/>
                        </a:cubicBezTo>
                        <a:cubicBezTo>
                          <a:pt x="0" y="22"/>
                          <a:pt x="23" y="42"/>
                          <a:pt x="31" y="32"/>
                        </a:cubicBezTo>
                        <a:cubicBezTo>
                          <a:pt x="40" y="19"/>
                          <a:pt x="38" y="26"/>
                          <a:pt x="40" y="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grpSp>
                <p:nvGrpSpPr>
                  <p:cNvPr id="89" name="Group 105"/>
                  <p:cNvGrpSpPr>
                    <a:grpSpLocks/>
                  </p:cNvGrpSpPr>
                  <p:nvPr/>
                </p:nvGrpSpPr>
                <p:grpSpPr bwMode="auto">
                  <a:xfrm rot="1863484">
                    <a:off x="2594" y="1848"/>
                    <a:ext cx="182" cy="432"/>
                    <a:chOff x="2710" y="2015"/>
                    <a:chExt cx="134" cy="376"/>
                  </a:xfrm>
                </p:grpSpPr>
                <p:sp>
                  <p:nvSpPr>
                    <p:cNvPr id="115" name="Freeform 106"/>
                    <p:cNvSpPr>
                      <a:spLocks/>
                    </p:cNvSpPr>
                    <p:nvPr/>
                  </p:nvSpPr>
                  <p:spPr bwMode="gray">
                    <a:xfrm>
                      <a:off x="2710" y="2015"/>
                      <a:ext cx="77" cy="110"/>
                    </a:xfrm>
                    <a:custGeom>
                      <a:avLst/>
                      <a:gdLst/>
                      <a:ahLst/>
                      <a:cxnLst>
                        <a:cxn ang="0">
                          <a:pos x="6" y="0"/>
                        </a:cxn>
                        <a:cxn ang="0">
                          <a:pos x="0" y="18"/>
                        </a:cxn>
                        <a:cxn ang="0">
                          <a:pos x="14" y="42"/>
                        </a:cxn>
                        <a:cxn ang="0">
                          <a:pos x="32" y="72"/>
                        </a:cxn>
                        <a:cxn ang="0">
                          <a:pos x="36" y="104"/>
                        </a:cxn>
                        <a:cxn ang="0">
                          <a:pos x="80" y="152"/>
                        </a:cxn>
                        <a:cxn ang="0">
                          <a:pos x="86" y="124"/>
                        </a:cxn>
                        <a:cxn ang="0">
                          <a:pos x="74" y="102"/>
                        </a:cxn>
                        <a:cxn ang="0">
                          <a:pos x="62" y="92"/>
                        </a:cxn>
                        <a:cxn ang="0">
                          <a:pos x="52" y="74"/>
                        </a:cxn>
                        <a:cxn ang="0">
                          <a:pos x="42" y="44"/>
                        </a:cxn>
                        <a:cxn ang="0">
                          <a:pos x="4" y="12"/>
                        </a:cxn>
                        <a:cxn ang="0">
                          <a:pos x="6" y="0"/>
                        </a:cxn>
                      </a:cxnLst>
                      <a:rect l="0" t="0" r="r" b="b"/>
                      <a:pathLst>
                        <a:path w="102" h="152">
                          <a:moveTo>
                            <a:pt x="6" y="0"/>
                          </a:moveTo>
                          <a:cubicBezTo>
                            <a:pt x="4" y="6"/>
                            <a:pt x="0" y="18"/>
                            <a:pt x="0" y="18"/>
                          </a:cubicBezTo>
                          <a:cubicBezTo>
                            <a:pt x="3" y="26"/>
                            <a:pt x="9" y="35"/>
                            <a:pt x="14" y="42"/>
                          </a:cubicBezTo>
                          <a:cubicBezTo>
                            <a:pt x="17" y="58"/>
                            <a:pt x="16" y="69"/>
                            <a:pt x="32" y="72"/>
                          </a:cubicBezTo>
                          <a:cubicBezTo>
                            <a:pt x="44" y="80"/>
                            <a:pt x="40" y="91"/>
                            <a:pt x="36" y="104"/>
                          </a:cubicBezTo>
                          <a:cubicBezTo>
                            <a:pt x="57" y="118"/>
                            <a:pt x="60" y="139"/>
                            <a:pt x="80" y="152"/>
                          </a:cubicBezTo>
                          <a:cubicBezTo>
                            <a:pt x="95" y="148"/>
                            <a:pt x="102" y="135"/>
                            <a:pt x="86" y="124"/>
                          </a:cubicBezTo>
                          <a:cubicBezTo>
                            <a:pt x="72" y="129"/>
                            <a:pt x="78" y="110"/>
                            <a:pt x="74" y="102"/>
                          </a:cubicBezTo>
                          <a:cubicBezTo>
                            <a:pt x="72" y="98"/>
                            <a:pt x="65" y="94"/>
                            <a:pt x="62" y="92"/>
                          </a:cubicBezTo>
                          <a:cubicBezTo>
                            <a:pt x="59" y="82"/>
                            <a:pt x="65" y="65"/>
                            <a:pt x="52" y="74"/>
                          </a:cubicBezTo>
                          <a:cubicBezTo>
                            <a:pt x="46" y="65"/>
                            <a:pt x="47" y="54"/>
                            <a:pt x="42" y="44"/>
                          </a:cubicBezTo>
                          <a:cubicBezTo>
                            <a:pt x="36" y="32"/>
                            <a:pt x="16" y="18"/>
                            <a:pt x="4" y="12"/>
                          </a:cubicBezTo>
                          <a:lnTo>
                            <a:pt x="6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16" name="Freeform 107"/>
                    <p:cNvSpPr>
                      <a:spLocks/>
                    </p:cNvSpPr>
                    <p:nvPr/>
                  </p:nvSpPr>
                  <p:spPr bwMode="gray">
                    <a:xfrm>
                      <a:off x="2772" y="2129"/>
                      <a:ext cx="55" cy="76"/>
                    </a:xfrm>
                    <a:custGeom>
                      <a:avLst/>
                      <a:gdLst/>
                      <a:ahLst/>
                      <a:cxnLst>
                        <a:cxn ang="0">
                          <a:pos x="64" y="22"/>
                        </a:cxn>
                        <a:cxn ang="0">
                          <a:pos x="74" y="40"/>
                        </a:cxn>
                        <a:cxn ang="0">
                          <a:pos x="30" y="84"/>
                        </a:cxn>
                        <a:cxn ang="0">
                          <a:pos x="32" y="100"/>
                        </a:cxn>
                        <a:cxn ang="0">
                          <a:pos x="20" y="94"/>
                        </a:cxn>
                        <a:cxn ang="0">
                          <a:pos x="6" y="84"/>
                        </a:cxn>
                        <a:cxn ang="0">
                          <a:pos x="0" y="82"/>
                        </a:cxn>
                        <a:cxn ang="0">
                          <a:pos x="10" y="58"/>
                        </a:cxn>
                        <a:cxn ang="0">
                          <a:pos x="12" y="52"/>
                        </a:cxn>
                        <a:cxn ang="0">
                          <a:pos x="2" y="24"/>
                        </a:cxn>
                        <a:cxn ang="0">
                          <a:pos x="4" y="14"/>
                        </a:cxn>
                        <a:cxn ang="0">
                          <a:pos x="26" y="22"/>
                        </a:cxn>
                        <a:cxn ang="0">
                          <a:pos x="36" y="36"/>
                        </a:cxn>
                        <a:cxn ang="0">
                          <a:pos x="64" y="22"/>
                        </a:cxn>
                      </a:cxnLst>
                      <a:rect l="0" t="0" r="r" b="b"/>
                      <a:pathLst>
                        <a:path w="74" h="103">
                          <a:moveTo>
                            <a:pt x="64" y="22"/>
                          </a:moveTo>
                          <a:cubicBezTo>
                            <a:pt x="73" y="36"/>
                            <a:pt x="70" y="29"/>
                            <a:pt x="74" y="40"/>
                          </a:cubicBezTo>
                          <a:cubicBezTo>
                            <a:pt x="70" y="77"/>
                            <a:pt x="68" y="81"/>
                            <a:pt x="30" y="84"/>
                          </a:cubicBezTo>
                          <a:cubicBezTo>
                            <a:pt x="33" y="88"/>
                            <a:pt x="39" y="95"/>
                            <a:pt x="32" y="100"/>
                          </a:cubicBezTo>
                          <a:cubicBezTo>
                            <a:pt x="28" y="103"/>
                            <a:pt x="24" y="95"/>
                            <a:pt x="20" y="94"/>
                          </a:cubicBezTo>
                          <a:cubicBezTo>
                            <a:pt x="17" y="84"/>
                            <a:pt x="20" y="89"/>
                            <a:pt x="6" y="84"/>
                          </a:cubicBezTo>
                          <a:cubicBezTo>
                            <a:pt x="4" y="83"/>
                            <a:pt x="0" y="82"/>
                            <a:pt x="0" y="82"/>
                          </a:cubicBezTo>
                          <a:cubicBezTo>
                            <a:pt x="3" y="73"/>
                            <a:pt x="7" y="67"/>
                            <a:pt x="10" y="58"/>
                          </a:cubicBezTo>
                          <a:cubicBezTo>
                            <a:pt x="11" y="56"/>
                            <a:pt x="12" y="52"/>
                            <a:pt x="12" y="52"/>
                          </a:cubicBezTo>
                          <a:cubicBezTo>
                            <a:pt x="10" y="42"/>
                            <a:pt x="8" y="33"/>
                            <a:pt x="2" y="24"/>
                          </a:cubicBezTo>
                          <a:cubicBezTo>
                            <a:pt x="3" y="21"/>
                            <a:pt x="2" y="17"/>
                            <a:pt x="4" y="14"/>
                          </a:cubicBezTo>
                          <a:cubicBezTo>
                            <a:pt x="11" y="0"/>
                            <a:pt x="18" y="19"/>
                            <a:pt x="26" y="22"/>
                          </a:cubicBezTo>
                          <a:cubicBezTo>
                            <a:pt x="31" y="36"/>
                            <a:pt x="26" y="33"/>
                            <a:pt x="36" y="36"/>
                          </a:cubicBezTo>
                          <a:cubicBezTo>
                            <a:pt x="45" y="30"/>
                            <a:pt x="55" y="28"/>
                            <a:pt x="64" y="22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17" name="Freeform 108"/>
                    <p:cNvSpPr>
                      <a:spLocks/>
                    </p:cNvSpPr>
                    <p:nvPr/>
                  </p:nvSpPr>
                  <p:spPr bwMode="gray">
                    <a:xfrm>
                      <a:off x="2736" y="2208"/>
                      <a:ext cx="108" cy="183"/>
                    </a:xfrm>
                    <a:custGeom>
                      <a:avLst/>
                      <a:gdLst/>
                      <a:ahLst/>
                      <a:cxnLst>
                        <a:cxn ang="0">
                          <a:pos x="82" y="100"/>
                        </a:cxn>
                        <a:cxn ang="0">
                          <a:pos x="66" y="106"/>
                        </a:cxn>
                        <a:cxn ang="0">
                          <a:pos x="64" y="132"/>
                        </a:cxn>
                        <a:cxn ang="0">
                          <a:pos x="22" y="146"/>
                        </a:cxn>
                        <a:cxn ang="0">
                          <a:pos x="8" y="168"/>
                        </a:cxn>
                        <a:cxn ang="0">
                          <a:pos x="20" y="182"/>
                        </a:cxn>
                        <a:cxn ang="0">
                          <a:pos x="8" y="198"/>
                        </a:cxn>
                        <a:cxn ang="0">
                          <a:pos x="24" y="252"/>
                        </a:cxn>
                        <a:cxn ang="0">
                          <a:pos x="28" y="214"/>
                        </a:cxn>
                        <a:cxn ang="0">
                          <a:pos x="22" y="192"/>
                        </a:cxn>
                        <a:cxn ang="0">
                          <a:pos x="42" y="176"/>
                        </a:cxn>
                        <a:cxn ang="0">
                          <a:pos x="52" y="158"/>
                        </a:cxn>
                        <a:cxn ang="0">
                          <a:pos x="66" y="174"/>
                        </a:cxn>
                        <a:cxn ang="0">
                          <a:pos x="44" y="190"/>
                        </a:cxn>
                        <a:cxn ang="0">
                          <a:pos x="56" y="200"/>
                        </a:cxn>
                        <a:cxn ang="0">
                          <a:pos x="68" y="178"/>
                        </a:cxn>
                        <a:cxn ang="0">
                          <a:pos x="84" y="184"/>
                        </a:cxn>
                        <a:cxn ang="0">
                          <a:pos x="104" y="148"/>
                        </a:cxn>
                        <a:cxn ang="0">
                          <a:pos x="114" y="156"/>
                        </a:cxn>
                        <a:cxn ang="0">
                          <a:pos x="136" y="148"/>
                        </a:cxn>
                        <a:cxn ang="0">
                          <a:pos x="146" y="130"/>
                        </a:cxn>
                        <a:cxn ang="0">
                          <a:pos x="142" y="110"/>
                        </a:cxn>
                        <a:cxn ang="0">
                          <a:pos x="134" y="98"/>
                        </a:cxn>
                        <a:cxn ang="0">
                          <a:pos x="122" y="40"/>
                        </a:cxn>
                        <a:cxn ang="0">
                          <a:pos x="94" y="0"/>
                        </a:cxn>
                        <a:cxn ang="0">
                          <a:pos x="78" y="12"/>
                        </a:cxn>
                        <a:cxn ang="0">
                          <a:pos x="96" y="34"/>
                        </a:cxn>
                        <a:cxn ang="0">
                          <a:pos x="96" y="64"/>
                        </a:cxn>
                        <a:cxn ang="0">
                          <a:pos x="82" y="100"/>
                        </a:cxn>
                      </a:cxnLst>
                      <a:rect l="0" t="0" r="r" b="b"/>
                      <a:pathLst>
                        <a:path w="146" h="252">
                          <a:moveTo>
                            <a:pt x="82" y="100"/>
                          </a:moveTo>
                          <a:cubicBezTo>
                            <a:pt x="70" y="88"/>
                            <a:pt x="69" y="92"/>
                            <a:pt x="66" y="106"/>
                          </a:cubicBezTo>
                          <a:cubicBezTo>
                            <a:pt x="65" y="115"/>
                            <a:pt x="68" y="124"/>
                            <a:pt x="64" y="132"/>
                          </a:cubicBezTo>
                          <a:cubicBezTo>
                            <a:pt x="63" y="133"/>
                            <a:pt x="28" y="142"/>
                            <a:pt x="22" y="146"/>
                          </a:cubicBezTo>
                          <a:cubicBezTo>
                            <a:pt x="18" y="157"/>
                            <a:pt x="18" y="162"/>
                            <a:pt x="8" y="168"/>
                          </a:cubicBezTo>
                          <a:cubicBezTo>
                            <a:pt x="0" y="180"/>
                            <a:pt x="7" y="180"/>
                            <a:pt x="20" y="182"/>
                          </a:cubicBezTo>
                          <a:cubicBezTo>
                            <a:pt x="17" y="190"/>
                            <a:pt x="15" y="193"/>
                            <a:pt x="8" y="198"/>
                          </a:cubicBezTo>
                          <a:cubicBezTo>
                            <a:pt x="10" y="214"/>
                            <a:pt x="9" y="242"/>
                            <a:pt x="24" y="252"/>
                          </a:cubicBezTo>
                          <a:cubicBezTo>
                            <a:pt x="42" y="246"/>
                            <a:pt x="31" y="227"/>
                            <a:pt x="28" y="214"/>
                          </a:cubicBezTo>
                          <a:cubicBezTo>
                            <a:pt x="26" y="207"/>
                            <a:pt x="22" y="192"/>
                            <a:pt x="22" y="192"/>
                          </a:cubicBezTo>
                          <a:cubicBezTo>
                            <a:pt x="25" y="180"/>
                            <a:pt x="33" y="182"/>
                            <a:pt x="42" y="176"/>
                          </a:cubicBezTo>
                          <a:cubicBezTo>
                            <a:pt x="44" y="169"/>
                            <a:pt x="52" y="158"/>
                            <a:pt x="52" y="158"/>
                          </a:cubicBezTo>
                          <a:cubicBezTo>
                            <a:pt x="58" y="164"/>
                            <a:pt x="63" y="166"/>
                            <a:pt x="66" y="174"/>
                          </a:cubicBezTo>
                          <a:cubicBezTo>
                            <a:pt x="59" y="178"/>
                            <a:pt x="51" y="188"/>
                            <a:pt x="44" y="190"/>
                          </a:cubicBezTo>
                          <a:cubicBezTo>
                            <a:pt x="36" y="202"/>
                            <a:pt x="46" y="202"/>
                            <a:pt x="56" y="200"/>
                          </a:cubicBezTo>
                          <a:cubicBezTo>
                            <a:pt x="60" y="189"/>
                            <a:pt x="59" y="184"/>
                            <a:pt x="68" y="178"/>
                          </a:cubicBezTo>
                          <a:cubicBezTo>
                            <a:pt x="77" y="181"/>
                            <a:pt x="75" y="187"/>
                            <a:pt x="84" y="184"/>
                          </a:cubicBezTo>
                          <a:cubicBezTo>
                            <a:pt x="92" y="171"/>
                            <a:pt x="91" y="157"/>
                            <a:pt x="104" y="148"/>
                          </a:cubicBezTo>
                          <a:cubicBezTo>
                            <a:pt x="108" y="149"/>
                            <a:pt x="110" y="155"/>
                            <a:pt x="114" y="156"/>
                          </a:cubicBezTo>
                          <a:cubicBezTo>
                            <a:pt x="120" y="158"/>
                            <a:pt x="131" y="151"/>
                            <a:pt x="136" y="148"/>
                          </a:cubicBezTo>
                          <a:cubicBezTo>
                            <a:pt x="145" y="134"/>
                            <a:pt x="142" y="141"/>
                            <a:pt x="146" y="130"/>
                          </a:cubicBezTo>
                          <a:cubicBezTo>
                            <a:pt x="146" y="127"/>
                            <a:pt x="145" y="115"/>
                            <a:pt x="142" y="110"/>
                          </a:cubicBezTo>
                          <a:cubicBezTo>
                            <a:pt x="140" y="106"/>
                            <a:pt x="134" y="98"/>
                            <a:pt x="134" y="98"/>
                          </a:cubicBezTo>
                          <a:cubicBezTo>
                            <a:pt x="131" y="78"/>
                            <a:pt x="142" y="53"/>
                            <a:pt x="122" y="40"/>
                          </a:cubicBezTo>
                          <a:cubicBezTo>
                            <a:pt x="112" y="26"/>
                            <a:pt x="109" y="10"/>
                            <a:pt x="94" y="0"/>
                          </a:cubicBezTo>
                          <a:cubicBezTo>
                            <a:pt x="87" y="4"/>
                            <a:pt x="86" y="9"/>
                            <a:pt x="78" y="12"/>
                          </a:cubicBezTo>
                          <a:cubicBezTo>
                            <a:pt x="67" y="29"/>
                            <a:pt x="80" y="31"/>
                            <a:pt x="96" y="34"/>
                          </a:cubicBezTo>
                          <a:cubicBezTo>
                            <a:pt x="103" y="44"/>
                            <a:pt x="100" y="53"/>
                            <a:pt x="96" y="64"/>
                          </a:cubicBezTo>
                          <a:cubicBezTo>
                            <a:pt x="96" y="68"/>
                            <a:pt x="95" y="106"/>
                            <a:pt x="82" y="10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90" name="Freeform 109"/>
                  <p:cNvSpPr>
                    <a:spLocks/>
                  </p:cNvSpPr>
                  <p:nvPr/>
                </p:nvSpPr>
                <p:spPr bwMode="gray">
                  <a:xfrm>
                    <a:off x="877" y="1722"/>
                    <a:ext cx="9" cy="14"/>
                  </a:xfrm>
                  <a:custGeom>
                    <a:avLst/>
                    <a:gdLst/>
                    <a:ahLst/>
                    <a:cxnLst>
                      <a:cxn ang="0">
                        <a:pos x="10" y="5"/>
                      </a:cxn>
                      <a:cxn ang="0">
                        <a:pos x="1" y="11"/>
                      </a:cxn>
                      <a:cxn ang="0">
                        <a:pos x="9" y="20"/>
                      </a:cxn>
                      <a:cxn ang="0">
                        <a:pos x="10" y="5"/>
                      </a:cxn>
                    </a:cxnLst>
                    <a:rect l="0" t="0" r="r" b="b"/>
                    <a:pathLst>
                      <a:path w="13" h="20">
                        <a:moveTo>
                          <a:pt x="10" y="5"/>
                        </a:moveTo>
                        <a:cubicBezTo>
                          <a:pt x="3" y="0"/>
                          <a:pt x="5" y="6"/>
                          <a:pt x="1" y="11"/>
                        </a:cubicBezTo>
                        <a:cubicBezTo>
                          <a:pt x="0" y="18"/>
                          <a:pt x="2" y="19"/>
                          <a:pt x="9" y="20"/>
                        </a:cubicBezTo>
                        <a:cubicBezTo>
                          <a:pt x="13" y="14"/>
                          <a:pt x="10" y="12"/>
                          <a:pt x="10" y="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ap="flat" cmpd="sng">
                    <a:noFill/>
                    <a:prstDash val="dash"/>
                    <a:round/>
                    <a:headEnd type="none" w="med" len="med"/>
                    <a:tailEnd type="none" w="med" len="med"/>
                  </a:ln>
                  <a:effectLst>
                    <a:outerShdw dist="40161" dir="4293903" algn="ctr" rotWithShape="0">
                      <a:srgbClr val="333333">
                        <a:alpha val="500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grpSp>
                <p:nvGrpSpPr>
                  <p:cNvPr id="91" name="Group 110"/>
                  <p:cNvGrpSpPr>
                    <a:grpSpLocks/>
                  </p:cNvGrpSpPr>
                  <p:nvPr/>
                </p:nvGrpSpPr>
                <p:grpSpPr bwMode="auto">
                  <a:xfrm rot="-385409">
                    <a:off x="1428" y="2692"/>
                    <a:ext cx="206" cy="301"/>
                    <a:chOff x="3095" y="2636"/>
                    <a:chExt cx="206" cy="301"/>
                  </a:xfrm>
                </p:grpSpPr>
                <p:sp>
                  <p:nvSpPr>
                    <p:cNvPr id="106" name="Freeform 111"/>
                    <p:cNvSpPr>
                      <a:spLocks/>
                    </p:cNvSpPr>
                    <p:nvPr/>
                  </p:nvSpPr>
                  <p:spPr bwMode="gray">
                    <a:xfrm>
                      <a:off x="3095" y="2742"/>
                      <a:ext cx="124" cy="195"/>
                    </a:xfrm>
                    <a:custGeom>
                      <a:avLst/>
                      <a:gdLst/>
                      <a:ahLst/>
                      <a:cxnLst>
                        <a:cxn ang="0">
                          <a:pos x="128" y="0"/>
                        </a:cxn>
                        <a:cxn ang="0">
                          <a:pos x="104" y="28"/>
                        </a:cxn>
                        <a:cxn ang="0">
                          <a:pos x="88" y="64"/>
                        </a:cxn>
                        <a:cxn ang="0">
                          <a:pos x="36" y="84"/>
                        </a:cxn>
                        <a:cxn ang="0">
                          <a:pos x="28" y="96"/>
                        </a:cxn>
                        <a:cxn ang="0">
                          <a:pos x="16" y="100"/>
                        </a:cxn>
                        <a:cxn ang="0">
                          <a:pos x="20" y="132"/>
                        </a:cxn>
                        <a:cxn ang="0">
                          <a:pos x="28" y="156"/>
                        </a:cxn>
                        <a:cxn ang="0">
                          <a:pos x="0" y="200"/>
                        </a:cxn>
                        <a:cxn ang="0">
                          <a:pos x="28" y="260"/>
                        </a:cxn>
                        <a:cxn ang="0">
                          <a:pos x="52" y="268"/>
                        </a:cxn>
                        <a:cxn ang="0">
                          <a:pos x="88" y="216"/>
                        </a:cxn>
                        <a:cxn ang="0">
                          <a:pos x="104" y="192"/>
                        </a:cxn>
                        <a:cxn ang="0">
                          <a:pos x="128" y="116"/>
                        </a:cxn>
                        <a:cxn ang="0">
                          <a:pos x="140" y="76"/>
                        </a:cxn>
                        <a:cxn ang="0">
                          <a:pos x="164" y="72"/>
                        </a:cxn>
                        <a:cxn ang="0">
                          <a:pos x="128" y="0"/>
                        </a:cxn>
                      </a:cxnLst>
                      <a:rect l="0" t="0" r="r" b="b"/>
                      <a:pathLst>
                        <a:path w="164" h="268">
                          <a:moveTo>
                            <a:pt x="128" y="0"/>
                          </a:moveTo>
                          <a:cubicBezTo>
                            <a:pt x="123" y="16"/>
                            <a:pt x="120" y="23"/>
                            <a:pt x="104" y="28"/>
                          </a:cubicBezTo>
                          <a:cubicBezTo>
                            <a:pt x="102" y="35"/>
                            <a:pt x="97" y="57"/>
                            <a:pt x="88" y="64"/>
                          </a:cubicBezTo>
                          <a:cubicBezTo>
                            <a:pt x="75" y="75"/>
                            <a:pt x="51" y="74"/>
                            <a:pt x="36" y="84"/>
                          </a:cubicBezTo>
                          <a:cubicBezTo>
                            <a:pt x="33" y="88"/>
                            <a:pt x="32" y="93"/>
                            <a:pt x="28" y="96"/>
                          </a:cubicBezTo>
                          <a:cubicBezTo>
                            <a:pt x="25" y="99"/>
                            <a:pt x="17" y="96"/>
                            <a:pt x="16" y="100"/>
                          </a:cubicBezTo>
                          <a:cubicBezTo>
                            <a:pt x="14" y="110"/>
                            <a:pt x="18" y="121"/>
                            <a:pt x="20" y="132"/>
                          </a:cubicBezTo>
                          <a:cubicBezTo>
                            <a:pt x="22" y="140"/>
                            <a:pt x="28" y="156"/>
                            <a:pt x="28" y="156"/>
                          </a:cubicBezTo>
                          <a:cubicBezTo>
                            <a:pt x="13" y="166"/>
                            <a:pt x="6" y="183"/>
                            <a:pt x="0" y="200"/>
                          </a:cubicBezTo>
                          <a:cubicBezTo>
                            <a:pt x="3" y="210"/>
                            <a:pt x="19" y="254"/>
                            <a:pt x="28" y="260"/>
                          </a:cubicBezTo>
                          <a:cubicBezTo>
                            <a:pt x="35" y="264"/>
                            <a:pt x="52" y="268"/>
                            <a:pt x="52" y="268"/>
                          </a:cubicBezTo>
                          <a:cubicBezTo>
                            <a:pt x="85" y="261"/>
                            <a:pt x="79" y="244"/>
                            <a:pt x="88" y="216"/>
                          </a:cubicBezTo>
                          <a:cubicBezTo>
                            <a:pt x="91" y="207"/>
                            <a:pt x="99" y="200"/>
                            <a:pt x="104" y="192"/>
                          </a:cubicBezTo>
                          <a:cubicBezTo>
                            <a:pt x="116" y="174"/>
                            <a:pt x="121" y="136"/>
                            <a:pt x="128" y="116"/>
                          </a:cubicBezTo>
                          <a:cubicBezTo>
                            <a:pt x="131" y="108"/>
                            <a:pt x="134" y="79"/>
                            <a:pt x="140" y="76"/>
                          </a:cubicBezTo>
                          <a:cubicBezTo>
                            <a:pt x="147" y="72"/>
                            <a:pt x="156" y="73"/>
                            <a:pt x="164" y="72"/>
                          </a:cubicBezTo>
                          <a:cubicBezTo>
                            <a:pt x="158" y="19"/>
                            <a:pt x="161" y="33"/>
                            <a:pt x="128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07" name="Freeform 112"/>
                    <p:cNvSpPr>
                      <a:spLocks/>
                    </p:cNvSpPr>
                    <p:nvPr/>
                  </p:nvSpPr>
                  <p:spPr bwMode="gray">
                    <a:xfrm>
                      <a:off x="3251" y="2865"/>
                      <a:ext cx="31" cy="17"/>
                    </a:xfrm>
                    <a:custGeom>
                      <a:avLst/>
                      <a:gdLst/>
                      <a:ahLst/>
                      <a:cxnLst>
                        <a:cxn ang="0">
                          <a:pos x="30" y="0"/>
                        </a:cxn>
                        <a:cxn ang="0">
                          <a:pos x="26" y="24"/>
                        </a:cxn>
                        <a:cxn ang="0">
                          <a:pos x="30" y="0"/>
                        </a:cxn>
                      </a:cxnLst>
                      <a:rect l="0" t="0" r="r" b="b"/>
                      <a:pathLst>
                        <a:path w="41" h="24">
                          <a:moveTo>
                            <a:pt x="30" y="0"/>
                          </a:moveTo>
                          <a:cubicBezTo>
                            <a:pt x="4" y="4"/>
                            <a:pt x="0" y="17"/>
                            <a:pt x="26" y="24"/>
                          </a:cubicBezTo>
                          <a:cubicBezTo>
                            <a:pt x="41" y="19"/>
                            <a:pt x="38" y="10"/>
                            <a:pt x="30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08" name="Freeform 113"/>
                    <p:cNvSpPr>
                      <a:spLocks/>
                    </p:cNvSpPr>
                    <p:nvPr/>
                  </p:nvSpPr>
                  <p:spPr bwMode="gray">
                    <a:xfrm>
                      <a:off x="3291" y="2858"/>
                      <a:ext cx="10" cy="15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5"/>
                        </a:cxn>
                        <a:cxn ang="0">
                          <a:pos x="1" y="11"/>
                        </a:cxn>
                        <a:cxn ang="0">
                          <a:pos x="9" y="20"/>
                        </a:cxn>
                        <a:cxn ang="0">
                          <a:pos x="10" y="5"/>
                        </a:cxn>
                      </a:cxnLst>
                      <a:rect l="0" t="0" r="r" b="b"/>
                      <a:pathLst>
                        <a:path w="13" h="20">
                          <a:moveTo>
                            <a:pt x="10" y="5"/>
                          </a:moveTo>
                          <a:cubicBezTo>
                            <a:pt x="3" y="0"/>
                            <a:pt x="5" y="6"/>
                            <a:pt x="1" y="11"/>
                          </a:cubicBezTo>
                          <a:cubicBezTo>
                            <a:pt x="0" y="18"/>
                            <a:pt x="2" y="19"/>
                            <a:pt x="9" y="20"/>
                          </a:cubicBezTo>
                          <a:cubicBezTo>
                            <a:pt x="13" y="14"/>
                            <a:pt x="10" y="12"/>
                            <a:pt x="10" y="5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09" name="Freeform 114"/>
                    <p:cNvSpPr>
                      <a:spLocks/>
                    </p:cNvSpPr>
                    <p:nvPr/>
                  </p:nvSpPr>
                  <p:spPr bwMode="gray">
                    <a:xfrm>
                      <a:off x="3224" y="2708"/>
                      <a:ext cx="9" cy="16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5"/>
                        </a:cxn>
                        <a:cxn ang="0">
                          <a:pos x="1" y="11"/>
                        </a:cxn>
                        <a:cxn ang="0">
                          <a:pos x="9" y="20"/>
                        </a:cxn>
                        <a:cxn ang="0">
                          <a:pos x="10" y="5"/>
                        </a:cxn>
                      </a:cxnLst>
                      <a:rect l="0" t="0" r="r" b="b"/>
                      <a:pathLst>
                        <a:path w="13" h="20">
                          <a:moveTo>
                            <a:pt x="10" y="5"/>
                          </a:moveTo>
                          <a:cubicBezTo>
                            <a:pt x="3" y="0"/>
                            <a:pt x="5" y="6"/>
                            <a:pt x="1" y="11"/>
                          </a:cubicBezTo>
                          <a:cubicBezTo>
                            <a:pt x="0" y="18"/>
                            <a:pt x="2" y="19"/>
                            <a:pt x="9" y="20"/>
                          </a:cubicBezTo>
                          <a:cubicBezTo>
                            <a:pt x="13" y="14"/>
                            <a:pt x="10" y="12"/>
                            <a:pt x="10" y="5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10" name="Freeform 115"/>
                    <p:cNvSpPr>
                      <a:spLocks/>
                    </p:cNvSpPr>
                    <p:nvPr/>
                  </p:nvSpPr>
                  <p:spPr bwMode="gray">
                    <a:xfrm>
                      <a:off x="3284" y="2637"/>
                      <a:ext cx="11" cy="19"/>
                    </a:xfrm>
                    <a:custGeom>
                      <a:avLst/>
                      <a:gdLst/>
                      <a:ahLst/>
                      <a:cxnLst>
                        <a:cxn ang="0">
                          <a:pos x="6" y="0"/>
                        </a:cxn>
                        <a:cxn ang="0">
                          <a:pos x="0" y="13"/>
                        </a:cxn>
                        <a:cxn ang="0">
                          <a:pos x="12" y="24"/>
                        </a:cxn>
                        <a:cxn ang="0">
                          <a:pos x="6" y="0"/>
                        </a:cxn>
                      </a:cxnLst>
                      <a:rect l="0" t="0" r="r" b="b"/>
                      <a:pathLst>
                        <a:path w="14" h="25">
                          <a:moveTo>
                            <a:pt x="6" y="0"/>
                          </a:moveTo>
                          <a:cubicBezTo>
                            <a:pt x="4" y="5"/>
                            <a:pt x="3" y="9"/>
                            <a:pt x="0" y="13"/>
                          </a:cubicBezTo>
                          <a:cubicBezTo>
                            <a:pt x="1" y="24"/>
                            <a:pt x="1" y="25"/>
                            <a:pt x="12" y="24"/>
                          </a:cubicBezTo>
                          <a:cubicBezTo>
                            <a:pt x="14" y="12"/>
                            <a:pt x="8" y="10"/>
                            <a:pt x="6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11" name="Freeform 116"/>
                    <p:cNvSpPr>
                      <a:spLocks/>
                    </p:cNvSpPr>
                    <p:nvPr/>
                  </p:nvSpPr>
                  <p:spPr bwMode="gray">
                    <a:xfrm>
                      <a:off x="3260" y="2636"/>
                      <a:ext cx="11" cy="19"/>
                    </a:xfrm>
                    <a:custGeom>
                      <a:avLst/>
                      <a:gdLst/>
                      <a:ahLst/>
                      <a:cxnLst>
                        <a:cxn ang="0">
                          <a:pos x="6" y="0"/>
                        </a:cxn>
                        <a:cxn ang="0">
                          <a:pos x="0" y="13"/>
                        </a:cxn>
                        <a:cxn ang="0">
                          <a:pos x="12" y="24"/>
                        </a:cxn>
                        <a:cxn ang="0">
                          <a:pos x="6" y="0"/>
                        </a:cxn>
                      </a:cxnLst>
                      <a:rect l="0" t="0" r="r" b="b"/>
                      <a:pathLst>
                        <a:path w="14" h="25">
                          <a:moveTo>
                            <a:pt x="6" y="0"/>
                          </a:moveTo>
                          <a:cubicBezTo>
                            <a:pt x="4" y="5"/>
                            <a:pt x="3" y="9"/>
                            <a:pt x="0" y="13"/>
                          </a:cubicBezTo>
                          <a:cubicBezTo>
                            <a:pt x="1" y="24"/>
                            <a:pt x="1" y="25"/>
                            <a:pt x="12" y="24"/>
                          </a:cubicBezTo>
                          <a:cubicBezTo>
                            <a:pt x="14" y="12"/>
                            <a:pt x="8" y="10"/>
                            <a:pt x="6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12" name="Freeform 117"/>
                    <p:cNvSpPr>
                      <a:spLocks/>
                    </p:cNvSpPr>
                    <p:nvPr/>
                  </p:nvSpPr>
                  <p:spPr bwMode="gray">
                    <a:xfrm>
                      <a:off x="3248" y="2658"/>
                      <a:ext cx="11" cy="15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5"/>
                        </a:cxn>
                        <a:cxn ang="0">
                          <a:pos x="1" y="11"/>
                        </a:cxn>
                        <a:cxn ang="0">
                          <a:pos x="9" y="20"/>
                        </a:cxn>
                        <a:cxn ang="0">
                          <a:pos x="10" y="5"/>
                        </a:cxn>
                      </a:cxnLst>
                      <a:rect l="0" t="0" r="r" b="b"/>
                      <a:pathLst>
                        <a:path w="13" h="20">
                          <a:moveTo>
                            <a:pt x="10" y="5"/>
                          </a:moveTo>
                          <a:cubicBezTo>
                            <a:pt x="3" y="0"/>
                            <a:pt x="5" y="6"/>
                            <a:pt x="1" y="11"/>
                          </a:cubicBezTo>
                          <a:cubicBezTo>
                            <a:pt x="0" y="18"/>
                            <a:pt x="2" y="19"/>
                            <a:pt x="9" y="20"/>
                          </a:cubicBezTo>
                          <a:cubicBezTo>
                            <a:pt x="13" y="14"/>
                            <a:pt x="10" y="12"/>
                            <a:pt x="10" y="5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13" name="Freeform 118"/>
                    <p:cNvSpPr>
                      <a:spLocks/>
                    </p:cNvSpPr>
                    <p:nvPr/>
                  </p:nvSpPr>
                  <p:spPr bwMode="gray">
                    <a:xfrm>
                      <a:off x="3224" y="2691"/>
                      <a:ext cx="9" cy="15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5"/>
                        </a:cxn>
                        <a:cxn ang="0">
                          <a:pos x="1" y="11"/>
                        </a:cxn>
                        <a:cxn ang="0">
                          <a:pos x="9" y="20"/>
                        </a:cxn>
                        <a:cxn ang="0">
                          <a:pos x="10" y="5"/>
                        </a:cxn>
                      </a:cxnLst>
                      <a:rect l="0" t="0" r="r" b="b"/>
                      <a:pathLst>
                        <a:path w="13" h="20">
                          <a:moveTo>
                            <a:pt x="10" y="5"/>
                          </a:moveTo>
                          <a:cubicBezTo>
                            <a:pt x="3" y="0"/>
                            <a:pt x="5" y="6"/>
                            <a:pt x="1" y="11"/>
                          </a:cubicBezTo>
                          <a:cubicBezTo>
                            <a:pt x="0" y="18"/>
                            <a:pt x="2" y="19"/>
                            <a:pt x="9" y="20"/>
                          </a:cubicBezTo>
                          <a:cubicBezTo>
                            <a:pt x="13" y="14"/>
                            <a:pt x="10" y="12"/>
                            <a:pt x="10" y="5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14" name="Freeform 119"/>
                    <p:cNvSpPr>
                      <a:spLocks/>
                    </p:cNvSpPr>
                    <p:nvPr/>
                  </p:nvSpPr>
                  <p:spPr bwMode="gray">
                    <a:xfrm>
                      <a:off x="3242" y="2679"/>
                      <a:ext cx="11" cy="14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5"/>
                        </a:cxn>
                        <a:cxn ang="0">
                          <a:pos x="1" y="11"/>
                        </a:cxn>
                        <a:cxn ang="0">
                          <a:pos x="9" y="20"/>
                        </a:cxn>
                        <a:cxn ang="0">
                          <a:pos x="10" y="5"/>
                        </a:cxn>
                      </a:cxnLst>
                      <a:rect l="0" t="0" r="r" b="b"/>
                      <a:pathLst>
                        <a:path w="13" h="20">
                          <a:moveTo>
                            <a:pt x="10" y="5"/>
                          </a:moveTo>
                          <a:cubicBezTo>
                            <a:pt x="3" y="0"/>
                            <a:pt x="5" y="6"/>
                            <a:pt x="1" y="11"/>
                          </a:cubicBezTo>
                          <a:cubicBezTo>
                            <a:pt x="0" y="18"/>
                            <a:pt x="2" y="19"/>
                            <a:pt x="9" y="20"/>
                          </a:cubicBezTo>
                          <a:cubicBezTo>
                            <a:pt x="13" y="14"/>
                            <a:pt x="10" y="12"/>
                            <a:pt x="10" y="5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0000"/>
                      </a:srgbClr>
                    </a:solidFill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92" name="Freeform 120"/>
                  <p:cNvSpPr>
                    <a:spLocks/>
                  </p:cNvSpPr>
                  <p:nvPr/>
                </p:nvSpPr>
                <p:spPr bwMode="gray">
                  <a:xfrm>
                    <a:off x="1019" y="2040"/>
                    <a:ext cx="24" cy="72"/>
                  </a:xfrm>
                  <a:custGeom>
                    <a:avLst/>
                    <a:gdLst/>
                    <a:ahLst/>
                    <a:cxnLst>
                      <a:cxn ang="0">
                        <a:pos x="19" y="31"/>
                      </a:cxn>
                      <a:cxn ang="0">
                        <a:pos x="24" y="15"/>
                      </a:cxn>
                      <a:cxn ang="0">
                        <a:pos x="13" y="0"/>
                      </a:cxn>
                      <a:cxn ang="0">
                        <a:pos x="1" y="7"/>
                      </a:cxn>
                      <a:cxn ang="0">
                        <a:pos x="12" y="28"/>
                      </a:cxn>
                      <a:cxn ang="0">
                        <a:pos x="0" y="39"/>
                      </a:cxn>
                      <a:cxn ang="0">
                        <a:pos x="3" y="72"/>
                      </a:cxn>
                      <a:cxn ang="0">
                        <a:pos x="21" y="66"/>
                      </a:cxn>
                      <a:cxn ang="0">
                        <a:pos x="19" y="31"/>
                      </a:cxn>
                    </a:cxnLst>
                    <a:rect l="0" t="0" r="r" b="b"/>
                    <a:pathLst>
                      <a:path w="24" h="72">
                        <a:moveTo>
                          <a:pt x="19" y="31"/>
                        </a:moveTo>
                        <a:lnTo>
                          <a:pt x="24" y="15"/>
                        </a:lnTo>
                        <a:lnTo>
                          <a:pt x="13" y="0"/>
                        </a:lnTo>
                        <a:lnTo>
                          <a:pt x="1" y="7"/>
                        </a:lnTo>
                        <a:lnTo>
                          <a:pt x="12" y="28"/>
                        </a:lnTo>
                        <a:lnTo>
                          <a:pt x="0" y="39"/>
                        </a:lnTo>
                        <a:lnTo>
                          <a:pt x="3" y="72"/>
                        </a:lnTo>
                        <a:lnTo>
                          <a:pt x="21" y="66"/>
                        </a:lnTo>
                        <a:lnTo>
                          <a:pt x="19" y="3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93" name="Freeform 121"/>
                  <p:cNvSpPr>
                    <a:spLocks/>
                  </p:cNvSpPr>
                  <p:nvPr/>
                </p:nvSpPr>
                <p:spPr bwMode="gray">
                  <a:xfrm>
                    <a:off x="2277" y="2559"/>
                    <a:ext cx="134" cy="158"/>
                  </a:xfrm>
                  <a:custGeom>
                    <a:avLst/>
                    <a:gdLst/>
                    <a:ahLst/>
                    <a:cxnLst>
                      <a:cxn ang="0">
                        <a:pos x="110" y="0"/>
                      </a:cxn>
                      <a:cxn ang="0">
                        <a:pos x="83" y="22"/>
                      </a:cxn>
                      <a:cxn ang="0">
                        <a:pos x="74" y="53"/>
                      </a:cxn>
                      <a:cxn ang="0">
                        <a:pos x="56" y="55"/>
                      </a:cxn>
                      <a:cxn ang="0">
                        <a:pos x="35" y="84"/>
                      </a:cxn>
                      <a:cxn ang="0">
                        <a:pos x="14" y="88"/>
                      </a:cxn>
                      <a:cxn ang="0">
                        <a:pos x="6" y="124"/>
                      </a:cxn>
                      <a:cxn ang="0">
                        <a:pos x="49" y="147"/>
                      </a:cxn>
                      <a:cxn ang="0">
                        <a:pos x="62" y="154"/>
                      </a:cxn>
                      <a:cxn ang="0">
                        <a:pos x="80" y="157"/>
                      </a:cxn>
                      <a:cxn ang="0">
                        <a:pos x="84" y="135"/>
                      </a:cxn>
                      <a:cxn ang="0">
                        <a:pos x="108" y="119"/>
                      </a:cxn>
                      <a:cxn ang="0">
                        <a:pos x="113" y="100"/>
                      </a:cxn>
                      <a:cxn ang="0">
                        <a:pos x="126" y="87"/>
                      </a:cxn>
                      <a:cxn ang="0">
                        <a:pos x="110" y="79"/>
                      </a:cxn>
                      <a:cxn ang="0">
                        <a:pos x="112" y="48"/>
                      </a:cxn>
                      <a:cxn ang="0">
                        <a:pos x="134" y="38"/>
                      </a:cxn>
                      <a:cxn ang="0">
                        <a:pos x="118" y="16"/>
                      </a:cxn>
                      <a:cxn ang="0">
                        <a:pos x="110" y="0"/>
                      </a:cxn>
                    </a:cxnLst>
                    <a:rect l="0" t="0" r="r" b="b"/>
                    <a:pathLst>
                      <a:path w="134" h="158">
                        <a:moveTo>
                          <a:pt x="110" y="0"/>
                        </a:moveTo>
                        <a:cubicBezTo>
                          <a:pt x="106" y="1"/>
                          <a:pt x="89" y="13"/>
                          <a:pt x="83" y="22"/>
                        </a:cubicBezTo>
                        <a:cubicBezTo>
                          <a:pt x="77" y="31"/>
                          <a:pt x="78" y="48"/>
                          <a:pt x="74" y="53"/>
                        </a:cubicBezTo>
                        <a:cubicBezTo>
                          <a:pt x="71" y="58"/>
                          <a:pt x="61" y="53"/>
                          <a:pt x="56" y="55"/>
                        </a:cubicBezTo>
                        <a:cubicBezTo>
                          <a:pt x="49" y="58"/>
                          <a:pt x="35" y="84"/>
                          <a:pt x="35" y="84"/>
                        </a:cubicBezTo>
                        <a:cubicBezTo>
                          <a:pt x="29" y="91"/>
                          <a:pt x="19" y="81"/>
                          <a:pt x="14" y="88"/>
                        </a:cubicBezTo>
                        <a:cubicBezTo>
                          <a:pt x="9" y="95"/>
                          <a:pt x="0" y="114"/>
                          <a:pt x="6" y="124"/>
                        </a:cubicBezTo>
                        <a:cubicBezTo>
                          <a:pt x="8" y="133"/>
                          <a:pt x="46" y="138"/>
                          <a:pt x="49" y="147"/>
                        </a:cubicBezTo>
                        <a:cubicBezTo>
                          <a:pt x="51" y="151"/>
                          <a:pt x="59" y="152"/>
                          <a:pt x="62" y="154"/>
                        </a:cubicBezTo>
                        <a:cubicBezTo>
                          <a:pt x="66" y="158"/>
                          <a:pt x="80" y="157"/>
                          <a:pt x="80" y="157"/>
                        </a:cubicBezTo>
                        <a:cubicBezTo>
                          <a:pt x="101" y="155"/>
                          <a:pt x="86" y="150"/>
                          <a:pt x="84" y="135"/>
                        </a:cubicBezTo>
                        <a:cubicBezTo>
                          <a:pt x="89" y="126"/>
                          <a:pt x="108" y="119"/>
                          <a:pt x="108" y="119"/>
                        </a:cubicBezTo>
                        <a:cubicBezTo>
                          <a:pt x="113" y="115"/>
                          <a:pt x="112" y="112"/>
                          <a:pt x="113" y="100"/>
                        </a:cubicBezTo>
                        <a:cubicBezTo>
                          <a:pt x="116" y="95"/>
                          <a:pt x="126" y="90"/>
                          <a:pt x="126" y="87"/>
                        </a:cubicBezTo>
                        <a:cubicBezTo>
                          <a:pt x="126" y="84"/>
                          <a:pt x="112" y="85"/>
                          <a:pt x="110" y="79"/>
                        </a:cubicBezTo>
                        <a:cubicBezTo>
                          <a:pt x="108" y="73"/>
                          <a:pt x="108" y="55"/>
                          <a:pt x="112" y="48"/>
                        </a:cubicBezTo>
                        <a:cubicBezTo>
                          <a:pt x="133" y="46"/>
                          <a:pt x="127" y="51"/>
                          <a:pt x="134" y="38"/>
                        </a:cubicBezTo>
                        <a:cubicBezTo>
                          <a:pt x="133" y="29"/>
                          <a:pt x="118" y="16"/>
                          <a:pt x="118" y="16"/>
                        </a:cubicBezTo>
                        <a:cubicBezTo>
                          <a:pt x="114" y="4"/>
                          <a:pt x="117" y="9"/>
                          <a:pt x="110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94" name="Freeform 122"/>
                  <p:cNvSpPr>
                    <a:spLocks/>
                  </p:cNvSpPr>
                  <p:nvPr/>
                </p:nvSpPr>
                <p:spPr bwMode="gray">
                  <a:xfrm>
                    <a:off x="2406" y="2621"/>
                    <a:ext cx="90" cy="109"/>
                  </a:xfrm>
                  <a:custGeom>
                    <a:avLst/>
                    <a:gdLst/>
                    <a:ahLst/>
                    <a:cxnLst>
                      <a:cxn ang="0">
                        <a:pos x="82" y="9"/>
                      </a:cxn>
                      <a:cxn ang="0">
                        <a:pos x="64" y="12"/>
                      </a:cxn>
                      <a:cxn ang="0">
                        <a:pos x="26" y="9"/>
                      </a:cxn>
                      <a:cxn ang="0">
                        <a:pos x="17" y="20"/>
                      </a:cxn>
                      <a:cxn ang="0">
                        <a:pos x="1" y="59"/>
                      </a:cxn>
                      <a:cxn ang="0">
                        <a:pos x="12" y="68"/>
                      </a:cxn>
                      <a:cxn ang="0">
                        <a:pos x="10" y="87"/>
                      </a:cxn>
                      <a:cxn ang="0">
                        <a:pos x="21" y="105"/>
                      </a:cxn>
                      <a:cxn ang="0">
                        <a:pos x="34" y="69"/>
                      </a:cxn>
                      <a:cxn ang="0">
                        <a:pos x="34" y="94"/>
                      </a:cxn>
                      <a:cxn ang="0">
                        <a:pos x="38" y="109"/>
                      </a:cxn>
                      <a:cxn ang="0">
                        <a:pos x="65" y="98"/>
                      </a:cxn>
                      <a:cxn ang="0">
                        <a:pos x="41" y="58"/>
                      </a:cxn>
                      <a:cxn ang="0">
                        <a:pos x="56" y="35"/>
                      </a:cxn>
                      <a:cxn ang="0">
                        <a:pos x="39" y="41"/>
                      </a:cxn>
                      <a:cxn ang="0">
                        <a:pos x="29" y="39"/>
                      </a:cxn>
                      <a:cxn ang="0">
                        <a:pos x="36" y="27"/>
                      </a:cxn>
                      <a:cxn ang="0">
                        <a:pos x="51" y="17"/>
                      </a:cxn>
                      <a:cxn ang="0">
                        <a:pos x="78" y="30"/>
                      </a:cxn>
                      <a:cxn ang="0">
                        <a:pos x="90" y="21"/>
                      </a:cxn>
                      <a:cxn ang="0">
                        <a:pos x="82" y="9"/>
                      </a:cxn>
                    </a:cxnLst>
                    <a:rect l="0" t="0" r="r" b="b"/>
                    <a:pathLst>
                      <a:path w="90" h="109">
                        <a:moveTo>
                          <a:pt x="82" y="9"/>
                        </a:moveTo>
                        <a:cubicBezTo>
                          <a:pt x="66" y="6"/>
                          <a:pt x="73" y="13"/>
                          <a:pt x="64" y="12"/>
                        </a:cubicBezTo>
                        <a:cubicBezTo>
                          <a:pt x="62" y="12"/>
                          <a:pt x="29" y="0"/>
                          <a:pt x="26" y="9"/>
                        </a:cubicBezTo>
                        <a:cubicBezTo>
                          <a:pt x="26" y="17"/>
                          <a:pt x="24" y="18"/>
                          <a:pt x="17" y="20"/>
                        </a:cubicBezTo>
                        <a:cubicBezTo>
                          <a:pt x="13" y="28"/>
                          <a:pt x="2" y="51"/>
                          <a:pt x="1" y="59"/>
                        </a:cubicBezTo>
                        <a:cubicBezTo>
                          <a:pt x="0" y="63"/>
                          <a:pt x="11" y="63"/>
                          <a:pt x="12" y="68"/>
                        </a:cubicBezTo>
                        <a:cubicBezTo>
                          <a:pt x="13" y="73"/>
                          <a:pt x="12" y="82"/>
                          <a:pt x="10" y="87"/>
                        </a:cubicBezTo>
                        <a:cubicBezTo>
                          <a:pt x="11" y="93"/>
                          <a:pt x="17" y="108"/>
                          <a:pt x="21" y="105"/>
                        </a:cubicBezTo>
                        <a:cubicBezTo>
                          <a:pt x="23" y="93"/>
                          <a:pt x="20" y="74"/>
                          <a:pt x="34" y="69"/>
                        </a:cubicBezTo>
                        <a:cubicBezTo>
                          <a:pt x="34" y="78"/>
                          <a:pt x="28" y="86"/>
                          <a:pt x="34" y="94"/>
                        </a:cubicBezTo>
                        <a:cubicBezTo>
                          <a:pt x="33" y="100"/>
                          <a:pt x="33" y="105"/>
                          <a:pt x="38" y="109"/>
                        </a:cubicBezTo>
                        <a:cubicBezTo>
                          <a:pt x="43" y="102"/>
                          <a:pt x="65" y="106"/>
                          <a:pt x="65" y="98"/>
                        </a:cubicBezTo>
                        <a:cubicBezTo>
                          <a:pt x="70" y="88"/>
                          <a:pt x="28" y="61"/>
                          <a:pt x="41" y="58"/>
                        </a:cubicBezTo>
                        <a:cubicBezTo>
                          <a:pt x="47" y="52"/>
                          <a:pt x="59" y="41"/>
                          <a:pt x="56" y="35"/>
                        </a:cubicBezTo>
                        <a:cubicBezTo>
                          <a:pt x="56" y="32"/>
                          <a:pt x="43" y="40"/>
                          <a:pt x="39" y="41"/>
                        </a:cubicBezTo>
                        <a:cubicBezTo>
                          <a:pt x="35" y="42"/>
                          <a:pt x="30" y="41"/>
                          <a:pt x="29" y="39"/>
                        </a:cubicBezTo>
                        <a:cubicBezTo>
                          <a:pt x="28" y="31"/>
                          <a:pt x="27" y="27"/>
                          <a:pt x="36" y="27"/>
                        </a:cubicBezTo>
                        <a:cubicBezTo>
                          <a:pt x="42" y="25"/>
                          <a:pt x="44" y="15"/>
                          <a:pt x="51" y="17"/>
                        </a:cubicBezTo>
                        <a:cubicBezTo>
                          <a:pt x="58" y="17"/>
                          <a:pt x="72" y="29"/>
                          <a:pt x="78" y="30"/>
                        </a:cubicBezTo>
                        <a:cubicBezTo>
                          <a:pt x="84" y="28"/>
                          <a:pt x="86" y="24"/>
                          <a:pt x="90" y="21"/>
                        </a:cubicBezTo>
                        <a:cubicBezTo>
                          <a:pt x="88" y="16"/>
                          <a:pt x="85" y="12"/>
                          <a:pt x="82" y="9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95" name="Freeform 123"/>
                  <p:cNvSpPr>
                    <a:spLocks/>
                  </p:cNvSpPr>
                  <p:nvPr/>
                </p:nvSpPr>
                <p:spPr bwMode="gray">
                  <a:xfrm>
                    <a:off x="2440" y="2537"/>
                    <a:ext cx="63" cy="51"/>
                  </a:xfrm>
                  <a:custGeom>
                    <a:avLst/>
                    <a:gdLst/>
                    <a:ahLst/>
                    <a:cxnLst>
                      <a:cxn ang="0">
                        <a:pos x="40" y="0"/>
                      </a:cxn>
                      <a:cxn ang="0">
                        <a:pos x="16" y="10"/>
                      </a:cxn>
                      <a:cxn ang="0">
                        <a:pos x="7" y="17"/>
                      </a:cxn>
                      <a:cxn ang="0">
                        <a:pos x="0" y="32"/>
                      </a:cxn>
                      <a:cxn ang="0">
                        <a:pos x="24" y="30"/>
                      </a:cxn>
                      <a:cxn ang="0">
                        <a:pos x="36" y="48"/>
                      </a:cxn>
                      <a:cxn ang="0">
                        <a:pos x="51" y="32"/>
                      </a:cxn>
                      <a:cxn ang="0">
                        <a:pos x="63" y="30"/>
                      </a:cxn>
                      <a:cxn ang="0">
                        <a:pos x="59" y="13"/>
                      </a:cxn>
                      <a:cxn ang="0">
                        <a:pos x="40" y="0"/>
                      </a:cxn>
                    </a:cxnLst>
                    <a:rect l="0" t="0" r="r" b="b"/>
                    <a:pathLst>
                      <a:path w="63" h="51">
                        <a:moveTo>
                          <a:pt x="40" y="0"/>
                        </a:moveTo>
                        <a:cubicBezTo>
                          <a:pt x="34" y="3"/>
                          <a:pt x="22" y="7"/>
                          <a:pt x="16" y="10"/>
                        </a:cubicBezTo>
                        <a:cubicBezTo>
                          <a:pt x="13" y="12"/>
                          <a:pt x="10" y="15"/>
                          <a:pt x="7" y="17"/>
                        </a:cubicBezTo>
                        <a:cubicBezTo>
                          <a:pt x="2" y="27"/>
                          <a:pt x="3" y="14"/>
                          <a:pt x="0" y="32"/>
                        </a:cubicBezTo>
                        <a:cubicBezTo>
                          <a:pt x="3" y="34"/>
                          <a:pt x="18" y="27"/>
                          <a:pt x="24" y="30"/>
                        </a:cubicBezTo>
                        <a:cubicBezTo>
                          <a:pt x="23" y="37"/>
                          <a:pt x="26" y="45"/>
                          <a:pt x="36" y="48"/>
                        </a:cubicBezTo>
                        <a:cubicBezTo>
                          <a:pt x="45" y="51"/>
                          <a:pt x="41" y="35"/>
                          <a:pt x="51" y="32"/>
                        </a:cubicBezTo>
                        <a:cubicBezTo>
                          <a:pt x="56" y="32"/>
                          <a:pt x="57" y="33"/>
                          <a:pt x="63" y="30"/>
                        </a:cubicBezTo>
                        <a:cubicBezTo>
                          <a:pt x="63" y="23"/>
                          <a:pt x="62" y="19"/>
                          <a:pt x="59" y="13"/>
                        </a:cubicBezTo>
                        <a:cubicBezTo>
                          <a:pt x="55" y="8"/>
                          <a:pt x="47" y="0"/>
                          <a:pt x="40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96" name="Freeform 124"/>
                  <p:cNvSpPr>
                    <a:spLocks/>
                  </p:cNvSpPr>
                  <p:nvPr/>
                </p:nvSpPr>
                <p:spPr bwMode="gray">
                  <a:xfrm>
                    <a:off x="2417" y="2410"/>
                    <a:ext cx="39" cy="102"/>
                  </a:xfrm>
                  <a:custGeom>
                    <a:avLst/>
                    <a:gdLst/>
                    <a:ahLst/>
                    <a:cxnLst>
                      <a:cxn ang="0">
                        <a:pos x="6" y="11"/>
                      </a:cxn>
                      <a:cxn ang="0">
                        <a:pos x="0" y="44"/>
                      </a:cxn>
                      <a:cxn ang="0">
                        <a:pos x="3" y="75"/>
                      </a:cxn>
                      <a:cxn ang="0">
                        <a:pos x="18" y="102"/>
                      </a:cxn>
                      <a:cxn ang="0">
                        <a:pos x="27" y="86"/>
                      </a:cxn>
                      <a:cxn ang="0">
                        <a:pos x="39" y="6"/>
                      </a:cxn>
                      <a:cxn ang="0">
                        <a:pos x="15" y="0"/>
                      </a:cxn>
                      <a:cxn ang="0">
                        <a:pos x="6" y="11"/>
                      </a:cxn>
                    </a:cxnLst>
                    <a:rect l="0" t="0" r="r" b="b"/>
                    <a:pathLst>
                      <a:path w="39" h="102">
                        <a:moveTo>
                          <a:pt x="6" y="11"/>
                        </a:moveTo>
                        <a:lnTo>
                          <a:pt x="0" y="44"/>
                        </a:lnTo>
                        <a:lnTo>
                          <a:pt x="3" y="75"/>
                        </a:lnTo>
                        <a:lnTo>
                          <a:pt x="18" y="102"/>
                        </a:lnTo>
                        <a:lnTo>
                          <a:pt x="27" y="86"/>
                        </a:lnTo>
                        <a:lnTo>
                          <a:pt x="39" y="6"/>
                        </a:lnTo>
                        <a:lnTo>
                          <a:pt x="15" y="0"/>
                        </a:lnTo>
                        <a:lnTo>
                          <a:pt x="6" y="1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mpd="sng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97" name="Freeform 125"/>
                  <p:cNvSpPr>
                    <a:spLocks/>
                  </p:cNvSpPr>
                  <p:nvPr/>
                </p:nvSpPr>
                <p:spPr bwMode="gray">
                  <a:xfrm>
                    <a:off x="2097" y="2587"/>
                    <a:ext cx="145" cy="153"/>
                  </a:xfrm>
                  <a:custGeom>
                    <a:avLst/>
                    <a:gdLst/>
                    <a:ahLst/>
                    <a:cxnLst>
                      <a:cxn ang="0">
                        <a:pos x="138" y="110"/>
                      </a:cxn>
                      <a:cxn ang="0">
                        <a:pos x="123" y="96"/>
                      </a:cxn>
                      <a:cxn ang="0">
                        <a:pos x="98" y="60"/>
                      </a:cxn>
                      <a:cxn ang="0">
                        <a:pos x="59" y="33"/>
                      </a:cxn>
                      <a:cxn ang="0">
                        <a:pos x="33" y="2"/>
                      </a:cxn>
                      <a:cxn ang="0">
                        <a:pos x="11" y="0"/>
                      </a:cxn>
                      <a:cxn ang="0">
                        <a:pos x="0" y="3"/>
                      </a:cxn>
                      <a:cxn ang="0">
                        <a:pos x="27" y="32"/>
                      </a:cxn>
                      <a:cxn ang="0">
                        <a:pos x="86" y="119"/>
                      </a:cxn>
                      <a:cxn ang="0">
                        <a:pos x="113" y="144"/>
                      </a:cxn>
                      <a:cxn ang="0">
                        <a:pos x="135" y="153"/>
                      </a:cxn>
                      <a:cxn ang="0">
                        <a:pos x="145" y="135"/>
                      </a:cxn>
                      <a:cxn ang="0">
                        <a:pos x="138" y="110"/>
                      </a:cxn>
                    </a:cxnLst>
                    <a:rect l="0" t="0" r="r" b="b"/>
                    <a:pathLst>
                      <a:path w="145" h="153">
                        <a:moveTo>
                          <a:pt x="138" y="110"/>
                        </a:moveTo>
                        <a:lnTo>
                          <a:pt x="123" y="96"/>
                        </a:lnTo>
                        <a:lnTo>
                          <a:pt x="98" y="60"/>
                        </a:lnTo>
                        <a:lnTo>
                          <a:pt x="59" y="33"/>
                        </a:lnTo>
                        <a:lnTo>
                          <a:pt x="33" y="2"/>
                        </a:lnTo>
                        <a:lnTo>
                          <a:pt x="11" y="0"/>
                        </a:lnTo>
                        <a:lnTo>
                          <a:pt x="0" y="3"/>
                        </a:lnTo>
                        <a:lnTo>
                          <a:pt x="27" y="32"/>
                        </a:lnTo>
                        <a:lnTo>
                          <a:pt x="86" y="119"/>
                        </a:lnTo>
                        <a:lnTo>
                          <a:pt x="113" y="144"/>
                        </a:lnTo>
                        <a:lnTo>
                          <a:pt x="135" y="153"/>
                        </a:lnTo>
                        <a:lnTo>
                          <a:pt x="145" y="135"/>
                        </a:lnTo>
                        <a:lnTo>
                          <a:pt x="138" y="11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mpd="sng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98" name="Freeform 126"/>
                  <p:cNvSpPr>
                    <a:spLocks/>
                  </p:cNvSpPr>
                  <p:nvPr/>
                </p:nvSpPr>
                <p:spPr bwMode="gray">
                  <a:xfrm>
                    <a:off x="2382" y="2515"/>
                    <a:ext cx="38" cy="30"/>
                  </a:xfrm>
                  <a:custGeom>
                    <a:avLst/>
                    <a:gdLst/>
                    <a:ahLst/>
                    <a:cxnLst>
                      <a:cxn ang="0">
                        <a:pos x="0" y="24"/>
                      </a:cxn>
                      <a:cxn ang="0">
                        <a:pos x="17" y="30"/>
                      </a:cxn>
                      <a:cxn ang="0">
                        <a:pos x="32" y="15"/>
                      </a:cxn>
                      <a:cxn ang="0">
                        <a:pos x="38" y="0"/>
                      </a:cxn>
                      <a:cxn ang="0">
                        <a:pos x="20" y="3"/>
                      </a:cxn>
                      <a:cxn ang="0">
                        <a:pos x="0" y="24"/>
                      </a:cxn>
                    </a:cxnLst>
                    <a:rect l="0" t="0" r="r" b="b"/>
                    <a:pathLst>
                      <a:path w="38" h="30">
                        <a:moveTo>
                          <a:pt x="0" y="24"/>
                        </a:moveTo>
                        <a:lnTo>
                          <a:pt x="17" y="30"/>
                        </a:lnTo>
                        <a:lnTo>
                          <a:pt x="32" y="15"/>
                        </a:lnTo>
                        <a:lnTo>
                          <a:pt x="38" y="0"/>
                        </a:lnTo>
                        <a:lnTo>
                          <a:pt x="20" y="3"/>
                        </a:lnTo>
                        <a:lnTo>
                          <a:pt x="0" y="24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mpd="sng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99" name="Freeform 127"/>
                  <p:cNvSpPr>
                    <a:spLocks/>
                  </p:cNvSpPr>
                  <p:nvPr/>
                </p:nvSpPr>
                <p:spPr bwMode="gray">
                  <a:xfrm>
                    <a:off x="2234" y="2737"/>
                    <a:ext cx="120" cy="35"/>
                  </a:xfrm>
                  <a:custGeom>
                    <a:avLst/>
                    <a:gdLst/>
                    <a:ahLst/>
                    <a:cxnLst>
                      <a:cxn ang="0">
                        <a:pos x="0" y="12"/>
                      </a:cxn>
                      <a:cxn ang="0">
                        <a:pos x="18" y="27"/>
                      </a:cxn>
                      <a:cxn ang="0">
                        <a:pos x="60" y="27"/>
                      </a:cxn>
                      <a:cxn ang="0">
                        <a:pos x="93" y="33"/>
                      </a:cxn>
                      <a:cxn ang="0">
                        <a:pos x="120" y="35"/>
                      </a:cxn>
                      <a:cxn ang="0">
                        <a:pos x="120" y="27"/>
                      </a:cxn>
                      <a:cxn ang="0">
                        <a:pos x="78" y="6"/>
                      </a:cxn>
                      <a:cxn ang="0">
                        <a:pos x="49" y="5"/>
                      </a:cxn>
                      <a:cxn ang="0">
                        <a:pos x="15" y="0"/>
                      </a:cxn>
                      <a:cxn ang="0">
                        <a:pos x="0" y="12"/>
                      </a:cxn>
                    </a:cxnLst>
                    <a:rect l="0" t="0" r="r" b="b"/>
                    <a:pathLst>
                      <a:path w="120" h="35">
                        <a:moveTo>
                          <a:pt x="0" y="12"/>
                        </a:moveTo>
                        <a:lnTo>
                          <a:pt x="18" y="27"/>
                        </a:lnTo>
                        <a:lnTo>
                          <a:pt x="60" y="27"/>
                        </a:lnTo>
                        <a:lnTo>
                          <a:pt x="93" y="33"/>
                        </a:lnTo>
                        <a:lnTo>
                          <a:pt x="120" y="35"/>
                        </a:lnTo>
                        <a:lnTo>
                          <a:pt x="120" y="27"/>
                        </a:lnTo>
                        <a:lnTo>
                          <a:pt x="78" y="6"/>
                        </a:lnTo>
                        <a:lnTo>
                          <a:pt x="49" y="5"/>
                        </a:lnTo>
                        <a:lnTo>
                          <a:pt x="15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mpd="sng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00" name="Freeform 128"/>
                  <p:cNvSpPr>
                    <a:spLocks/>
                  </p:cNvSpPr>
                  <p:nvPr/>
                </p:nvSpPr>
                <p:spPr bwMode="gray">
                  <a:xfrm rot="1828510">
                    <a:off x="2489" y="2179"/>
                    <a:ext cx="11" cy="18"/>
                  </a:xfrm>
                  <a:custGeom>
                    <a:avLst/>
                    <a:gdLst/>
                    <a:ahLst/>
                    <a:cxnLst>
                      <a:cxn ang="0">
                        <a:pos x="6" y="0"/>
                      </a:cxn>
                      <a:cxn ang="0">
                        <a:pos x="0" y="13"/>
                      </a:cxn>
                      <a:cxn ang="0">
                        <a:pos x="12" y="24"/>
                      </a:cxn>
                      <a:cxn ang="0">
                        <a:pos x="6" y="0"/>
                      </a:cxn>
                    </a:cxnLst>
                    <a:rect l="0" t="0" r="r" b="b"/>
                    <a:pathLst>
                      <a:path w="14" h="25">
                        <a:moveTo>
                          <a:pt x="6" y="0"/>
                        </a:moveTo>
                        <a:cubicBezTo>
                          <a:pt x="4" y="5"/>
                          <a:pt x="3" y="9"/>
                          <a:pt x="0" y="13"/>
                        </a:cubicBezTo>
                        <a:cubicBezTo>
                          <a:pt x="1" y="24"/>
                          <a:pt x="1" y="25"/>
                          <a:pt x="12" y="24"/>
                        </a:cubicBezTo>
                        <a:cubicBezTo>
                          <a:pt x="14" y="12"/>
                          <a:pt x="8" y="10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01" name="Freeform 129"/>
                  <p:cNvSpPr>
                    <a:spLocks/>
                  </p:cNvSpPr>
                  <p:nvPr/>
                </p:nvSpPr>
                <p:spPr bwMode="gray">
                  <a:xfrm>
                    <a:off x="1103" y="1035"/>
                    <a:ext cx="117" cy="228"/>
                  </a:xfrm>
                  <a:custGeom>
                    <a:avLst/>
                    <a:gdLst/>
                    <a:ahLst/>
                    <a:cxnLst>
                      <a:cxn ang="0">
                        <a:pos x="58" y="34"/>
                      </a:cxn>
                      <a:cxn ang="0">
                        <a:pos x="40" y="24"/>
                      </a:cxn>
                      <a:cxn ang="0">
                        <a:pos x="30" y="39"/>
                      </a:cxn>
                      <a:cxn ang="0">
                        <a:pos x="15" y="19"/>
                      </a:cxn>
                      <a:cxn ang="0">
                        <a:pos x="0" y="25"/>
                      </a:cxn>
                      <a:cxn ang="0">
                        <a:pos x="9" y="93"/>
                      </a:cxn>
                      <a:cxn ang="0">
                        <a:pos x="30" y="117"/>
                      </a:cxn>
                      <a:cxn ang="0">
                        <a:pos x="52" y="102"/>
                      </a:cxn>
                      <a:cxn ang="0">
                        <a:pos x="69" y="109"/>
                      </a:cxn>
                      <a:cxn ang="0">
                        <a:pos x="36" y="139"/>
                      </a:cxn>
                      <a:cxn ang="0">
                        <a:pos x="48" y="156"/>
                      </a:cxn>
                      <a:cxn ang="0">
                        <a:pos x="37" y="171"/>
                      </a:cxn>
                      <a:cxn ang="0">
                        <a:pos x="72" y="220"/>
                      </a:cxn>
                      <a:cxn ang="0">
                        <a:pos x="96" y="151"/>
                      </a:cxn>
                      <a:cxn ang="0">
                        <a:pos x="105" y="123"/>
                      </a:cxn>
                      <a:cxn ang="0">
                        <a:pos x="114" y="84"/>
                      </a:cxn>
                      <a:cxn ang="0">
                        <a:pos x="108" y="57"/>
                      </a:cxn>
                      <a:cxn ang="0">
                        <a:pos x="102" y="27"/>
                      </a:cxn>
                      <a:cxn ang="0">
                        <a:pos x="79" y="4"/>
                      </a:cxn>
                      <a:cxn ang="0">
                        <a:pos x="63" y="7"/>
                      </a:cxn>
                      <a:cxn ang="0">
                        <a:pos x="58" y="34"/>
                      </a:cxn>
                    </a:cxnLst>
                    <a:rect l="0" t="0" r="r" b="b"/>
                    <a:pathLst>
                      <a:path w="117" h="228">
                        <a:moveTo>
                          <a:pt x="58" y="34"/>
                        </a:moveTo>
                        <a:cubicBezTo>
                          <a:pt x="51" y="35"/>
                          <a:pt x="45" y="23"/>
                          <a:pt x="40" y="24"/>
                        </a:cubicBezTo>
                        <a:cubicBezTo>
                          <a:pt x="35" y="25"/>
                          <a:pt x="34" y="40"/>
                          <a:pt x="30" y="39"/>
                        </a:cubicBezTo>
                        <a:cubicBezTo>
                          <a:pt x="26" y="38"/>
                          <a:pt x="20" y="21"/>
                          <a:pt x="15" y="19"/>
                        </a:cubicBezTo>
                        <a:cubicBezTo>
                          <a:pt x="10" y="17"/>
                          <a:pt x="1" y="13"/>
                          <a:pt x="0" y="25"/>
                        </a:cubicBezTo>
                        <a:cubicBezTo>
                          <a:pt x="5" y="29"/>
                          <a:pt x="4" y="99"/>
                          <a:pt x="9" y="93"/>
                        </a:cubicBezTo>
                        <a:cubicBezTo>
                          <a:pt x="11" y="93"/>
                          <a:pt x="34" y="110"/>
                          <a:pt x="30" y="117"/>
                        </a:cubicBezTo>
                        <a:cubicBezTo>
                          <a:pt x="27" y="122"/>
                          <a:pt x="52" y="102"/>
                          <a:pt x="52" y="102"/>
                        </a:cubicBezTo>
                        <a:cubicBezTo>
                          <a:pt x="50" y="103"/>
                          <a:pt x="69" y="105"/>
                          <a:pt x="69" y="109"/>
                        </a:cubicBezTo>
                        <a:cubicBezTo>
                          <a:pt x="70" y="114"/>
                          <a:pt x="39" y="131"/>
                          <a:pt x="36" y="139"/>
                        </a:cubicBezTo>
                        <a:cubicBezTo>
                          <a:pt x="33" y="147"/>
                          <a:pt x="48" y="151"/>
                          <a:pt x="48" y="156"/>
                        </a:cubicBezTo>
                        <a:cubicBezTo>
                          <a:pt x="45" y="173"/>
                          <a:pt x="31" y="178"/>
                          <a:pt x="37" y="171"/>
                        </a:cubicBezTo>
                        <a:cubicBezTo>
                          <a:pt x="44" y="163"/>
                          <a:pt x="60" y="228"/>
                          <a:pt x="72" y="220"/>
                        </a:cubicBezTo>
                        <a:cubicBezTo>
                          <a:pt x="90" y="219"/>
                          <a:pt x="90" y="156"/>
                          <a:pt x="96" y="151"/>
                        </a:cubicBezTo>
                        <a:cubicBezTo>
                          <a:pt x="102" y="151"/>
                          <a:pt x="101" y="128"/>
                          <a:pt x="105" y="123"/>
                        </a:cubicBezTo>
                        <a:cubicBezTo>
                          <a:pt x="106" y="111"/>
                          <a:pt x="117" y="94"/>
                          <a:pt x="114" y="84"/>
                        </a:cubicBezTo>
                        <a:cubicBezTo>
                          <a:pt x="113" y="80"/>
                          <a:pt x="108" y="57"/>
                          <a:pt x="108" y="57"/>
                        </a:cubicBezTo>
                        <a:cubicBezTo>
                          <a:pt x="106" y="48"/>
                          <a:pt x="107" y="36"/>
                          <a:pt x="102" y="27"/>
                        </a:cubicBezTo>
                        <a:cubicBezTo>
                          <a:pt x="100" y="22"/>
                          <a:pt x="85" y="7"/>
                          <a:pt x="79" y="4"/>
                        </a:cubicBezTo>
                        <a:cubicBezTo>
                          <a:pt x="73" y="1"/>
                          <a:pt x="66" y="2"/>
                          <a:pt x="63" y="7"/>
                        </a:cubicBezTo>
                        <a:cubicBezTo>
                          <a:pt x="58" y="0"/>
                          <a:pt x="66" y="30"/>
                          <a:pt x="58" y="3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02" name="Freeform 130"/>
                  <p:cNvSpPr>
                    <a:spLocks/>
                  </p:cNvSpPr>
                  <p:nvPr/>
                </p:nvSpPr>
                <p:spPr bwMode="gray">
                  <a:xfrm>
                    <a:off x="1217" y="1161"/>
                    <a:ext cx="61" cy="54"/>
                  </a:xfrm>
                  <a:custGeom>
                    <a:avLst/>
                    <a:gdLst/>
                    <a:ahLst/>
                    <a:cxnLst>
                      <a:cxn ang="0">
                        <a:pos x="19" y="0"/>
                      </a:cxn>
                      <a:cxn ang="0">
                        <a:pos x="6" y="16"/>
                      </a:cxn>
                      <a:cxn ang="0">
                        <a:pos x="36" y="51"/>
                      </a:cxn>
                      <a:cxn ang="0">
                        <a:pos x="51" y="33"/>
                      </a:cxn>
                      <a:cxn ang="0">
                        <a:pos x="54" y="25"/>
                      </a:cxn>
                      <a:cxn ang="0">
                        <a:pos x="19" y="0"/>
                      </a:cxn>
                    </a:cxnLst>
                    <a:rect l="0" t="0" r="r" b="b"/>
                    <a:pathLst>
                      <a:path w="61" h="54">
                        <a:moveTo>
                          <a:pt x="19" y="0"/>
                        </a:moveTo>
                        <a:cubicBezTo>
                          <a:pt x="16" y="9"/>
                          <a:pt x="14" y="13"/>
                          <a:pt x="6" y="16"/>
                        </a:cubicBezTo>
                        <a:cubicBezTo>
                          <a:pt x="0" y="24"/>
                          <a:pt x="29" y="50"/>
                          <a:pt x="36" y="51"/>
                        </a:cubicBezTo>
                        <a:cubicBezTo>
                          <a:pt x="43" y="54"/>
                          <a:pt x="48" y="37"/>
                          <a:pt x="51" y="33"/>
                        </a:cubicBezTo>
                        <a:cubicBezTo>
                          <a:pt x="54" y="29"/>
                          <a:pt x="59" y="30"/>
                          <a:pt x="54" y="25"/>
                        </a:cubicBezTo>
                        <a:cubicBezTo>
                          <a:pt x="61" y="22"/>
                          <a:pt x="19" y="2"/>
                          <a:pt x="19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03" name="Freeform 131"/>
                  <p:cNvSpPr>
                    <a:spLocks/>
                  </p:cNvSpPr>
                  <p:nvPr/>
                </p:nvSpPr>
                <p:spPr bwMode="gray">
                  <a:xfrm rot="-840682">
                    <a:off x="1616" y="1186"/>
                    <a:ext cx="141" cy="188"/>
                  </a:xfrm>
                  <a:custGeom>
                    <a:avLst/>
                    <a:gdLst/>
                    <a:ahLst/>
                    <a:cxnLst>
                      <a:cxn ang="0">
                        <a:pos x="171" y="4"/>
                      </a:cxn>
                      <a:cxn ang="0">
                        <a:pos x="185" y="4"/>
                      </a:cxn>
                      <a:cxn ang="0">
                        <a:pos x="189" y="16"/>
                      </a:cxn>
                      <a:cxn ang="0">
                        <a:pos x="187" y="24"/>
                      </a:cxn>
                      <a:cxn ang="0">
                        <a:pos x="131" y="44"/>
                      </a:cxn>
                      <a:cxn ang="0">
                        <a:pos x="109" y="58"/>
                      </a:cxn>
                      <a:cxn ang="0">
                        <a:pos x="97" y="62"/>
                      </a:cxn>
                      <a:cxn ang="0">
                        <a:pos x="71" y="82"/>
                      </a:cxn>
                      <a:cxn ang="0">
                        <a:pos x="75" y="92"/>
                      </a:cxn>
                      <a:cxn ang="0">
                        <a:pos x="83" y="116"/>
                      </a:cxn>
                      <a:cxn ang="0">
                        <a:pos x="107" y="126"/>
                      </a:cxn>
                      <a:cxn ang="0">
                        <a:pos x="93" y="140"/>
                      </a:cxn>
                      <a:cxn ang="0">
                        <a:pos x="83" y="130"/>
                      </a:cxn>
                      <a:cxn ang="0">
                        <a:pos x="71" y="134"/>
                      </a:cxn>
                      <a:cxn ang="0">
                        <a:pos x="21" y="122"/>
                      </a:cxn>
                      <a:cxn ang="0">
                        <a:pos x="19" y="106"/>
                      </a:cxn>
                      <a:cxn ang="0">
                        <a:pos x="47" y="90"/>
                      </a:cxn>
                      <a:cxn ang="0">
                        <a:pos x="51" y="76"/>
                      </a:cxn>
                      <a:cxn ang="0">
                        <a:pos x="47" y="64"/>
                      </a:cxn>
                      <a:cxn ang="0">
                        <a:pos x="73" y="46"/>
                      </a:cxn>
                      <a:cxn ang="0">
                        <a:pos x="97" y="36"/>
                      </a:cxn>
                      <a:cxn ang="0">
                        <a:pos x="113" y="24"/>
                      </a:cxn>
                      <a:cxn ang="0">
                        <a:pos x="171" y="4"/>
                      </a:cxn>
                    </a:cxnLst>
                    <a:rect l="0" t="0" r="r" b="b"/>
                    <a:pathLst>
                      <a:path w="189" h="144">
                        <a:moveTo>
                          <a:pt x="171" y="4"/>
                        </a:moveTo>
                        <a:cubicBezTo>
                          <a:pt x="174" y="3"/>
                          <a:pt x="182" y="0"/>
                          <a:pt x="185" y="4"/>
                        </a:cubicBezTo>
                        <a:cubicBezTo>
                          <a:pt x="187" y="7"/>
                          <a:pt x="189" y="16"/>
                          <a:pt x="189" y="16"/>
                        </a:cubicBezTo>
                        <a:cubicBezTo>
                          <a:pt x="188" y="19"/>
                          <a:pt x="189" y="22"/>
                          <a:pt x="187" y="24"/>
                        </a:cubicBezTo>
                        <a:cubicBezTo>
                          <a:pt x="175" y="34"/>
                          <a:pt x="146" y="34"/>
                          <a:pt x="131" y="44"/>
                        </a:cubicBezTo>
                        <a:cubicBezTo>
                          <a:pt x="125" y="53"/>
                          <a:pt x="120" y="54"/>
                          <a:pt x="109" y="58"/>
                        </a:cubicBezTo>
                        <a:cubicBezTo>
                          <a:pt x="105" y="59"/>
                          <a:pt x="97" y="62"/>
                          <a:pt x="97" y="62"/>
                        </a:cubicBezTo>
                        <a:cubicBezTo>
                          <a:pt x="88" y="76"/>
                          <a:pt x="83" y="74"/>
                          <a:pt x="71" y="82"/>
                        </a:cubicBezTo>
                        <a:cubicBezTo>
                          <a:pt x="66" y="98"/>
                          <a:pt x="70" y="78"/>
                          <a:pt x="75" y="92"/>
                        </a:cubicBezTo>
                        <a:cubicBezTo>
                          <a:pt x="81" y="108"/>
                          <a:pt x="71" y="108"/>
                          <a:pt x="83" y="116"/>
                        </a:cubicBezTo>
                        <a:cubicBezTo>
                          <a:pt x="90" y="121"/>
                          <a:pt x="107" y="126"/>
                          <a:pt x="107" y="126"/>
                        </a:cubicBezTo>
                        <a:cubicBezTo>
                          <a:pt x="105" y="139"/>
                          <a:pt x="106" y="144"/>
                          <a:pt x="93" y="140"/>
                        </a:cubicBezTo>
                        <a:cubicBezTo>
                          <a:pt x="91" y="137"/>
                          <a:pt x="87" y="130"/>
                          <a:pt x="83" y="130"/>
                        </a:cubicBezTo>
                        <a:cubicBezTo>
                          <a:pt x="79" y="130"/>
                          <a:pt x="71" y="134"/>
                          <a:pt x="71" y="134"/>
                        </a:cubicBezTo>
                        <a:cubicBezTo>
                          <a:pt x="52" y="129"/>
                          <a:pt x="42" y="124"/>
                          <a:pt x="21" y="122"/>
                        </a:cubicBezTo>
                        <a:cubicBezTo>
                          <a:pt x="14" y="115"/>
                          <a:pt x="0" y="102"/>
                          <a:pt x="19" y="106"/>
                        </a:cubicBezTo>
                        <a:cubicBezTo>
                          <a:pt x="29" y="91"/>
                          <a:pt x="26" y="93"/>
                          <a:pt x="47" y="90"/>
                        </a:cubicBezTo>
                        <a:cubicBezTo>
                          <a:pt x="55" y="84"/>
                          <a:pt x="54" y="88"/>
                          <a:pt x="51" y="76"/>
                        </a:cubicBezTo>
                        <a:cubicBezTo>
                          <a:pt x="50" y="72"/>
                          <a:pt x="47" y="64"/>
                          <a:pt x="47" y="64"/>
                        </a:cubicBezTo>
                        <a:cubicBezTo>
                          <a:pt x="50" y="41"/>
                          <a:pt x="50" y="43"/>
                          <a:pt x="73" y="46"/>
                        </a:cubicBezTo>
                        <a:cubicBezTo>
                          <a:pt x="82" y="45"/>
                          <a:pt x="97" y="36"/>
                          <a:pt x="97" y="36"/>
                        </a:cubicBezTo>
                        <a:cubicBezTo>
                          <a:pt x="102" y="29"/>
                          <a:pt x="105" y="27"/>
                          <a:pt x="113" y="24"/>
                        </a:cubicBezTo>
                        <a:cubicBezTo>
                          <a:pt x="134" y="27"/>
                          <a:pt x="161" y="25"/>
                          <a:pt x="171" y="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04" name="Freeform 132"/>
                  <p:cNvSpPr>
                    <a:spLocks/>
                  </p:cNvSpPr>
                  <p:nvPr/>
                </p:nvSpPr>
                <p:spPr bwMode="gray">
                  <a:xfrm>
                    <a:off x="1471" y="1019"/>
                    <a:ext cx="121" cy="76"/>
                  </a:xfrm>
                  <a:custGeom>
                    <a:avLst/>
                    <a:gdLst/>
                    <a:ahLst/>
                    <a:cxnLst>
                      <a:cxn ang="0">
                        <a:pos x="28" y="19"/>
                      </a:cxn>
                      <a:cxn ang="0">
                        <a:pos x="50" y="2"/>
                      </a:cxn>
                      <a:cxn ang="0">
                        <a:pos x="76" y="7"/>
                      </a:cxn>
                      <a:cxn ang="0">
                        <a:pos x="62" y="29"/>
                      </a:cxn>
                      <a:cxn ang="0">
                        <a:pos x="89" y="29"/>
                      </a:cxn>
                      <a:cxn ang="0">
                        <a:pos x="121" y="23"/>
                      </a:cxn>
                      <a:cxn ang="0">
                        <a:pos x="101" y="49"/>
                      </a:cxn>
                      <a:cxn ang="0">
                        <a:pos x="80" y="76"/>
                      </a:cxn>
                      <a:cxn ang="0">
                        <a:pos x="52" y="47"/>
                      </a:cxn>
                      <a:cxn ang="0">
                        <a:pos x="26" y="46"/>
                      </a:cxn>
                      <a:cxn ang="0">
                        <a:pos x="8" y="35"/>
                      </a:cxn>
                      <a:cxn ang="0">
                        <a:pos x="28" y="19"/>
                      </a:cxn>
                    </a:cxnLst>
                    <a:rect l="0" t="0" r="r" b="b"/>
                    <a:pathLst>
                      <a:path w="121" h="76">
                        <a:moveTo>
                          <a:pt x="28" y="19"/>
                        </a:moveTo>
                        <a:cubicBezTo>
                          <a:pt x="35" y="16"/>
                          <a:pt x="35" y="1"/>
                          <a:pt x="50" y="2"/>
                        </a:cubicBezTo>
                        <a:cubicBezTo>
                          <a:pt x="58" y="0"/>
                          <a:pt x="74" y="3"/>
                          <a:pt x="76" y="7"/>
                        </a:cubicBezTo>
                        <a:cubicBezTo>
                          <a:pt x="78" y="11"/>
                          <a:pt x="60" y="25"/>
                          <a:pt x="62" y="29"/>
                        </a:cubicBezTo>
                        <a:cubicBezTo>
                          <a:pt x="64" y="33"/>
                          <a:pt x="79" y="30"/>
                          <a:pt x="89" y="29"/>
                        </a:cubicBezTo>
                        <a:cubicBezTo>
                          <a:pt x="99" y="28"/>
                          <a:pt x="119" y="20"/>
                          <a:pt x="121" y="23"/>
                        </a:cubicBezTo>
                        <a:cubicBezTo>
                          <a:pt x="118" y="28"/>
                          <a:pt x="107" y="48"/>
                          <a:pt x="101" y="49"/>
                        </a:cubicBezTo>
                        <a:cubicBezTo>
                          <a:pt x="98" y="60"/>
                          <a:pt x="87" y="72"/>
                          <a:pt x="80" y="76"/>
                        </a:cubicBezTo>
                        <a:cubicBezTo>
                          <a:pt x="74" y="75"/>
                          <a:pt x="58" y="47"/>
                          <a:pt x="52" y="47"/>
                        </a:cubicBezTo>
                        <a:cubicBezTo>
                          <a:pt x="51" y="47"/>
                          <a:pt x="25" y="48"/>
                          <a:pt x="26" y="46"/>
                        </a:cubicBezTo>
                        <a:cubicBezTo>
                          <a:pt x="14" y="43"/>
                          <a:pt x="0" y="37"/>
                          <a:pt x="8" y="35"/>
                        </a:cubicBezTo>
                        <a:cubicBezTo>
                          <a:pt x="12" y="28"/>
                          <a:pt x="22" y="25"/>
                          <a:pt x="28" y="19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05" name="Freeform 133"/>
                  <p:cNvSpPr>
                    <a:spLocks/>
                  </p:cNvSpPr>
                  <p:nvPr/>
                </p:nvSpPr>
                <p:spPr bwMode="gray">
                  <a:xfrm>
                    <a:off x="1193" y="999"/>
                    <a:ext cx="129" cy="100"/>
                  </a:xfrm>
                  <a:custGeom>
                    <a:avLst/>
                    <a:gdLst/>
                    <a:ahLst/>
                    <a:cxnLst>
                      <a:cxn ang="0">
                        <a:pos x="16" y="54"/>
                      </a:cxn>
                      <a:cxn ang="0">
                        <a:pos x="24" y="67"/>
                      </a:cxn>
                      <a:cxn ang="0">
                        <a:pos x="34" y="93"/>
                      </a:cxn>
                      <a:cxn ang="0">
                        <a:pos x="64" y="87"/>
                      </a:cxn>
                      <a:cxn ang="0">
                        <a:pos x="85" y="93"/>
                      </a:cxn>
                      <a:cxn ang="0">
                        <a:pos x="123" y="45"/>
                      </a:cxn>
                      <a:cxn ang="0">
                        <a:pos x="118" y="24"/>
                      </a:cxn>
                      <a:cxn ang="0">
                        <a:pos x="58" y="4"/>
                      </a:cxn>
                      <a:cxn ang="0">
                        <a:pos x="48" y="10"/>
                      </a:cxn>
                      <a:cxn ang="0">
                        <a:pos x="19" y="1"/>
                      </a:cxn>
                      <a:cxn ang="0">
                        <a:pos x="16" y="19"/>
                      </a:cxn>
                      <a:cxn ang="0">
                        <a:pos x="0" y="31"/>
                      </a:cxn>
                      <a:cxn ang="0">
                        <a:pos x="16" y="54"/>
                      </a:cxn>
                    </a:cxnLst>
                    <a:rect l="0" t="0" r="r" b="b"/>
                    <a:pathLst>
                      <a:path w="129" h="100">
                        <a:moveTo>
                          <a:pt x="16" y="54"/>
                        </a:moveTo>
                        <a:cubicBezTo>
                          <a:pt x="13" y="63"/>
                          <a:pt x="32" y="64"/>
                          <a:pt x="24" y="67"/>
                        </a:cubicBezTo>
                        <a:cubicBezTo>
                          <a:pt x="24" y="71"/>
                          <a:pt x="27" y="90"/>
                          <a:pt x="34" y="93"/>
                        </a:cubicBezTo>
                        <a:cubicBezTo>
                          <a:pt x="41" y="96"/>
                          <a:pt x="56" y="87"/>
                          <a:pt x="64" y="87"/>
                        </a:cubicBezTo>
                        <a:cubicBezTo>
                          <a:pt x="71" y="90"/>
                          <a:pt x="75" y="100"/>
                          <a:pt x="85" y="93"/>
                        </a:cubicBezTo>
                        <a:cubicBezTo>
                          <a:pt x="95" y="86"/>
                          <a:pt x="118" y="56"/>
                          <a:pt x="123" y="45"/>
                        </a:cubicBezTo>
                        <a:cubicBezTo>
                          <a:pt x="128" y="34"/>
                          <a:pt x="129" y="31"/>
                          <a:pt x="118" y="24"/>
                        </a:cubicBezTo>
                        <a:cubicBezTo>
                          <a:pt x="96" y="27"/>
                          <a:pt x="71" y="0"/>
                          <a:pt x="58" y="4"/>
                        </a:cubicBezTo>
                        <a:cubicBezTo>
                          <a:pt x="46" y="2"/>
                          <a:pt x="54" y="10"/>
                          <a:pt x="48" y="10"/>
                        </a:cubicBezTo>
                        <a:cubicBezTo>
                          <a:pt x="42" y="10"/>
                          <a:pt x="24" y="0"/>
                          <a:pt x="19" y="1"/>
                        </a:cubicBezTo>
                        <a:cubicBezTo>
                          <a:pt x="14" y="2"/>
                          <a:pt x="19" y="14"/>
                          <a:pt x="16" y="19"/>
                        </a:cubicBezTo>
                        <a:cubicBezTo>
                          <a:pt x="13" y="24"/>
                          <a:pt x="0" y="25"/>
                          <a:pt x="0" y="31"/>
                        </a:cubicBezTo>
                        <a:cubicBezTo>
                          <a:pt x="0" y="37"/>
                          <a:pt x="13" y="49"/>
                          <a:pt x="16" y="5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grpSp>
              <p:nvGrpSpPr>
                <p:cNvPr id="57" name="Group 134"/>
                <p:cNvGrpSpPr>
                  <a:grpSpLocks/>
                </p:cNvGrpSpPr>
                <p:nvPr/>
              </p:nvGrpSpPr>
              <p:grpSpPr bwMode="auto">
                <a:xfrm>
                  <a:off x="3356" y="912"/>
                  <a:ext cx="1851" cy="2746"/>
                  <a:chOff x="3356" y="912"/>
                  <a:chExt cx="1851" cy="2746"/>
                </a:xfrm>
              </p:grpSpPr>
              <p:sp>
                <p:nvSpPr>
                  <p:cNvPr id="58" name="Freeform 135"/>
                  <p:cNvSpPr>
                    <a:spLocks/>
                  </p:cNvSpPr>
                  <p:nvPr/>
                </p:nvSpPr>
                <p:spPr bwMode="gray">
                  <a:xfrm>
                    <a:off x="3356" y="1317"/>
                    <a:ext cx="1747" cy="2341"/>
                  </a:xfrm>
                  <a:custGeom>
                    <a:avLst/>
                    <a:gdLst/>
                    <a:ahLst/>
                    <a:cxnLst>
                      <a:cxn ang="0">
                        <a:pos x="73" y="204"/>
                      </a:cxn>
                      <a:cxn ang="0">
                        <a:pos x="103" y="279"/>
                      </a:cxn>
                      <a:cxn ang="0">
                        <a:pos x="75" y="387"/>
                      </a:cxn>
                      <a:cxn ang="0">
                        <a:pos x="117" y="492"/>
                      </a:cxn>
                      <a:cxn ang="0">
                        <a:pos x="255" y="343"/>
                      </a:cxn>
                      <a:cxn ang="0">
                        <a:pos x="292" y="367"/>
                      </a:cxn>
                      <a:cxn ang="0">
                        <a:pos x="469" y="468"/>
                      </a:cxn>
                      <a:cxn ang="0">
                        <a:pos x="559" y="790"/>
                      </a:cxn>
                      <a:cxn ang="0">
                        <a:pos x="690" y="936"/>
                      </a:cxn>
                      <a:cxn ang="0">
                        <a:pos x="808" y="1116"/>
                      </a:cxn>
                      <a:cxn ang="0">
                        <a:pos x="1036" y="1195"/>
                      </a:cxn>
                      <a:cxn ang="0">
                        <a:pos x="1138" y="1272"/>
                      </a:cxn>
                      <a:cxn ang="0">
                        <a:pos x="1111" y="1386"/>
                      </a:cxn>
                      <a:cxn ang="0">
                        <a:pos x="1240" y="1758"/>
                      </a:cxn>
                      <a:cxn ang="0">
                        <a:pos x="1228" y="1918"/>
                      </a:cxn>
                      <a:cxn ang="0">
                        <a:pos x="1204" y="2047"/>
                      </a:cxn>
                      <a:cxn ang="0">
                        <a:pos x="1236" y="2262"/>
                      </a:cxn>
                      <a:cxn ang="0">
                        <a:pos x="1254" y="2331"/>
                      </a:cxn>
                      <a:cxn ang="0">
                        <a:pos x="1326" y="2335"/>
                      </a:cxn>
                      <a:cxn ang="0">
                        <a:pos x="1288" y="2181"/>
                      </a:cxn>
                      <a:cxn ang="0">
                        <a:pos x="1342" y="2035"/>
                      </a:cxn>
                      <a:cxn ang="0">
                        <a:pos x="1438" y="1932"/>
                      </a:cxn>
                      <a:cxn ang="0">
                        <a:pos x="1548" y="1735"/>
                      </a:cxn>
                      <a:cxn ang="0">
                        <a:pos x="1747" y="1444"/>
                      </a:cxn>
                      <a:cxn ang="0">
                        <a:pos x="1542" y="1347"/>
                      </a:cxn>
                      <a:cxn ang="0">
                        <a:pos x="1384" y="1204"/>
                      </a:cxn>
                      <a:cxn ang="0">
                        <a:pos x="1194" y="1188"/>
                      </a:cxn>
                      <a:cxn ang="0">
                        <a:pos x="1099" y="1239"/>
                      </a:cxn>
                      <a:cxn ang="0">
                        <a:pos x="1038" y="1107"/>
                      </a:cxn>
                      <a:cxn ang="0">
                        <a:pos x="918" y="1099"/>
                      </a:cxn>
                      <a:cxn ang="0">
                        <a:pos x="1077" y="955"/>
                      </a:cxn>
                      <a:cxn ang="0">
                        <a:pos x="1117" y="927"/>
                      </a:cxn>
                      <a:cxn ang="0">
                        <a:pos x="1197" y="813"/>
                      </a:cxn>
                      <a:cxn ang="0">
                        <a:pos x="1243" y="745"/>
                      </a:cxn>
                      <a:cxn ang="0">
                        <a:pos x="1366" y="709"/>
                      </a:cxn>
                      <a:cxn ang="0">
                        <a:pos x="1249" y="666"/>
                      </a:cxn>
                      <a:cxn ang="0">
                        <a:pos x="1443" y="522"/>
                      </a:cxn>
                      <a:cxn ang="0">
                        <a:pos x="1273" y="408"/>
                      </a:cxn>
                      <a:cxn ang="0">
                        <a:pos x="1161" y="364"/>
                      </a:cxn>
                      <a:cxn ang="0">
                        <a:pos x="1128" y="589"/>
                      </a:cxn>
                      <a:cxn ang="0">
                        <a:pos x="969" y="420"/>
                      </a:cxn>
                      <a:cxn ang="0">
                        <a:pos x="1053" y="222"/>
                      </a:cxn>
                      <a:cxn ang="0">
                        <a:pos x="1110" y="138"/>
                      </a:cxn>
                      <a:cxn ang="0">
                        <a:pos x="1056" y="138"/>
                      </a:cxn>
                      <a:cxn ang="0">
                        <a:pos x="1003" y="64"/>
                      </a:cxn>
                      <a:cxn ang="0">
                        <a:pos x="954" y="114"/>
                      </a:cxn>
                      <a:cxn ang="0">
                        <a:pos x="901" y="127"/>
                      </a:cxn>
                      <a:cxn ang="0">
                        <a:pos x="804" y="108"/>
                      </a:cxn>
                      <a:cxn ang="0">
                        <a:pos x="694" y="153"/>
                      </a:cxn>
                      <a:cxn ang="0">
                        <a:pos x="573" y="61"/>
                      </a:cxn>
                      <a:cxn ang="0">
                        <a:pos x="448" y="96"/>
                      </a:cxn>
                      <a:cxn ang="0">
                        <a:pos x="241" y="64"/>
                      </a:cxn>
                    </a:cxnLst>
                    <a:rect l="0" t="0" r="r" b="b"/>
                    <a:pathLst>
                      <a:path w="1747" h="2341">
                        <a:moveTo>
                          <a:pt x="106" y="40"/>
                        </a:moveTo>
                        <a:lnTo>
                          <a:pt x="76" y="88"/>
                        </a:lnTo>
                        <a:cubicBezTo>
                          <a:pt x="63" y="101"/>
                          <a:pt x="29" y="101"/>
                          <a:pt x="30" y="117"/>
                        </a:cubicBezTo>
                        <a:cubicBezTo>
                          <a:pt x="32" y="134"/>
                          <a:pt x="72" y="168"/>
                          <a:pt x="84" y="186"/>
                        </a:cubicBezTo>
                        <a:cubicBezTo>
                          <a:pt x="91" y="200"/>
                          <a:pt x="79" y="203"/>
                          <a:pt x="73" y="204"/>
                        </a:cubicBezTo>
                        <a:cubicBezTo>
                          <a:pt x="67" y="205"/>
                          <a:pt x="56" y="186"/>
                          <a:pt x="45" y="190"/>
                        </a:cubicBezTo>
                        <a:cubicBezTo>
                          <a:pt x="34" y="194"/>
                          <a:pt x="6" y="215"/>
                          <a:pt x="7" y="226"/>
                        </a:cubicBezTo>
                        <a:cubicBezTo>
                          <a:pt x="0" y="238"/>
                          <a:pt x="41" y="235"/>
                          <a:pt x="48" y="258"/>
                        </a:cubicBezTo>
                        <a:cubicBezTo>
                          <a:pt x="64" y="262"/>
                          <a:pt x="94" y="246"/>
                          <a:pt x="103" y="249"/>
                        </a:cubicBezTo>
                        <a:cubicBezTo>
                          <a:pt x="112" y="252"/>
                          <a:pt x="110" y="268"/>
                          <a:pt x="103" y="279"/>
                        </a:cubicBezTo>
                        <a:cubicBezTo>
                          <a:pt x="96" y="290"/>
                          <a:pt x="74" y="303"/>
                          <a:pt x="61" y="313"/>
                        </a:cubicBezTo>
                        <a:cubicBezTo>
                          <a:pt x="48" y="323"/>
                          <a:pt x="25" y="330"/>
                          <a:pt x="24" y="339"/>
                        </a:cubicBezTo>
                        <a:cubicBezTo>
                          <a:pt x="23" y="348"/>
                          <a:pt x="46" y="359"/>
                          <a:pt x="52" y="367"/>
                        </a:cubicBezTo>
                        <a:lnTo>
                          <a:pt x="57" y="390"/>
                        </a:lnTo>
                        <a:lnTo>
                          <a:pt x="75" y="387"/>
                        </a:lnTo>
                        <a:lnTo>
                          <a:pt x="90" y="423"/>
                        </a:lnTo>
                        <a:lnTo>
                          <a:pt x="147" y="405"/>
                        </a:lnTo>
                        <a:lnTo>
                          <a:pt x="141" y="433"/>
                        </a:lnTo>
                        <a:lnTo>
                          <a:pt x="73" y="498"/>
                        </a:lnTo>
                        <a:lnTo>
                          <a:pt x="117" y="492"/>
                        </a:lnTo>
                        <a:lnTo>
                          <a:pt x="169" y="442"/>
                        </a:lnTo>
                        <a:lnTo>
                          <a:pt x="202" y="418"/>
                        </a:lnTo>
                        <a:lnTo>
                          <a:pt x="196" y="391"/>
                        </a:lnTo>
                        <a:lnTo>
                          <a:pt x="228" y="343"/>
                        </a:lnTo>
                        <a:lnTo>
                          <a:pt x="255" y="343"/>
                        </a:lnTo>
                        <a:lnTo>
                          <a:pt x="225" y="370"/>
                        </a:lnTo>
                        <a:lnTo>
                          <a:pt x="220" y="405"/>
                        </a:lnTo>
                        <a:lnTo>
                          <a:pt x="265" y="387"/>
                        </a:lnTo>
                        <a:lnTo>
                          <a:pt x="273" y="355"/>
                        </a:lnTo>
                        <a:lnTo>
                          <a:pt x="292" y="367"/>
                        </a:lnTo>
                        <a:lnTo>
                          <a:pt x="357" y="387"/>
                        </a:lnTo>
                        <a:lnTo>
                          <a:pt x="376" y="385"/>
                        </a:lnTo>
                        <a:lnTo>
                          <a:pt x="418" y="441"/>
                        </a:lnTo>
                        <a:lnTo>
                          <a:pt x="438" y="415"/>
                        </a:lnTo>
                        <a:lnTo>
                          <a:pt x="469" y="468"/>
                        </a:lnTo>
                        <a:lnTo>
                          <a:pt x="489" y="489"/>
                        </a:lnTo>
                        <a:lnTo>
                          <a:pt x="492" y="528"/>
                        </a:lnTo>
                        <a:lnTo>
                          <a:pt x="528" y="585"/>
                        </a:lnTo>
                        <a:lnTo>
                          <a:pt x="577" y="607"/>
                        </a:lnTo>
                        <a:lnTo>
                          <a:pt x="559" y="790"/>
                        </a:lnTo>
                        <a:cubicBezTo>
                          <a:pt x="566" y="836"/>
                          <a:pt x="605" y="867"/>
                          <a:pt x="619" y="885"/>
                        </a:cubicBezTo>
                        <a:cubicBezTo>
                          <a:pt x="633" y="903"/>
                          <a:pt x="632" y="882"/>
                          <a:pt x="645" y="901"/>
                        </a:cubicBezTo>
                        <a:cubicBezTo>
                          <a:pt x="658" y="920"/>
                          <a:pt x="680" y="975"/>
                          <a:pt x="699" y="1002"/>
                        </a:cubicBezTo>
                        <a:cubicBezTo>
                          <a:pt x="718" y="1029"/>
                          <a:pt x="762" y="1074"/>
                          <a:pt x="760" y="1063"/>
                        </a:cubicBezTo>
                        <a:cubicBezTo>
                          <a:pt x="778" y="1078"/>
                          <a:pt x="702" y="961"/>
                          <a:pt x="690" y="936"/>
                        </a:cubicBezTo>
                        <a:lnTo>
                          <a:pt x="699" y="934"/>
                        </a:lnTo>
                        <a:lnTo>
                          <a:pt x="732" y="991"/>
                        </a:lnTo>
                        <a:lnTo>
                          <a:pt x="751" y="1000"/>
                        </a:lnTo>
                        <a:lnTo>
                          <a:pt x="798" y="1057"/>
                        </a:lnTo>
                        <a:lnTo>
                          <a:pt x="808" y="1116"/>
                        </a:lnTo>
                        <a:lnTo>
                          <a:pt x="868" y="1135"/>
                        </a:lnTo>
                        <a:lnTo>
                          <a:pt x="924" y="1161"/>
                        </a:lnTo>
                        <a:lnTo>
                          <a:pt x="963" y="1156"/>
                        </a:lnTo>
                        <a:lnTo>
                          <a:pt x="994" y="1191"/>
                        </a:lnTo>
                        <a:lnTo>
                          <a:pt x="1036" y="1195"/>
                        </a:lnTo>
                        <a:lnTo>
                          <a:pt x="1053" y="1245"/>
                        </a:lnTo>
                        <a:lnTo>
                          <a:pt x="1066" y="1245"/>
                        </a:lnTo>
                        <a:lnTo>
                          <a:pt x="1089" y="1266"/>
                        </a:lnTo>
                        <a:lnTo>
                          <a:pt x="1116" y="1260"/>
                        </a:lnTo>
                        <a:lnTo>
                          <a:pt x="1138" y="1272"/>
                        </a:lnTo>
                        <a:lnTo>
                          <a:pt x="1149" y="1249"/>
                        </a:lnTo>
                        <a:lnTo>
                          <a:pt x="1165" y="1264"/>
                        </a:lnTo>
                        <a:lnTo>
                          <a:pt x="1158" y="1317"/>
                        </a:lnTo>
                        <a:lnTo>
                          <a:pt x="1138" y="1341"/>
                        </a:lnTo>
                        <a:lnTo>
                          <a:pt x="1111" y="1386"/>
                        </a:lnTo>
                        <a:lnTo>
                          <a:pt x="1101" y="1426"/>
                        </a:lnTo>
                        <a:lnTo>
                          <a:pt x="1125" y="1467"/>
                        </a:lnTo>
                        <a:lnTo>
                          <a:pt x="1177" y="1573"/>
                        </a:lnTo>
                        <a:lnTo>
                          <a:pt x="1252" y="1615"/>
                        </a:lnTo>
                        <a:lnTo>
                          <a:pt x="1240" y="1758"/>
                        </a:lnTo>
                        <a:lnTo>
                          <a:pt x="1225" y="1845"/>
                        </a:lnTo>
                        <a:lnTo>
                          <a:pt x="1204" y="1933"/>
                        </a:lnTo>
                        <a:lnTo>
                          <a:pt x="1207" y="1968"/>
                        </a:lnTo>
                        <a:lnTo>
                          <a:pt x="1216" y="1942"/>
                        </a:lnTo>
                        <a:lnTo>
                          <a:pt x="1228" y="1918"/>
                        </a:lnTo>
                        <a:lnTo>
                          <a:pt x="1222" y="1971"/>
                        </a:lnTo>
                        <a:lnTo>
                          <a:pt x="1207" y="1980"/>
                        </a:lnTo>
                        <a:lnTo>
                          <a:pt x="1216" y="1990"/>
                        </a:lnTo>
                        <a:lnTo>
                          <a:pt x="1197" y="2017"/>
                        </a:lnTo>
                        <a:lnTo>
                          <a:pt x="1204" y="2047"/>
                        </a:lnTo>
                        <a:lnTo>
                          <a:pt x="1204" y="2086"/>
                        </a:lnTo>
                        <a:lnTo>
                          <a:pt x="1174" y="2172"/>
                        </a:lnTo>
                        <a:lnTo>
                          <a:pt x="1180" y="2236"/>
                        </a:lnTo>
                        <a:lnTo>
                          <a:pt x="1213" y="2274"/>
                        </a:lnTo>
                        <a:lnTo>
                          <a:pt x="1236" y="2262"/>
                        </a:lnTo>
                        <a:lnTo>
                          <a:pt x="1251" y="2274"/>
                        </a:lnTo>
                        <a:lnTo>
                          <a:pt x="1236" y="2293"/>
                        </a:lnTo>
                        <a:lnTo>
                          <a:pt x="1234" y="2316"/>
                        </a:lnTo>
                        <a:lnTo>
                          <a:pt x="1251" y="2313"/>
                        </a:lnTo>
                        <a:lnTo>
                          <a:pt x="1254" y="2331"/>
                        </a:lnTo>
                        <a:lnTo>
                          <a:pt x="1270" y="2334"/>
                        </a:lnTo>
                        <a:lnTo>
                          <a:pt x="1278" y="2320"/>
                        </a:lnTo>
                        <a:lnTo>
                          <a:pt x="1284" y="2341"/>
                        </a:lnTo>
                        <a:lnTo>
                          <a:pt x="1302" y="2329"/>
                        </a:lnTo>
                        <a:lnTo>
                          <a:pt x="1326" y="2335"/>
                        </a:lnTo>
                        <a:lnTo>
                          <a:pt x="1335" y="2319"/>
                        </a:lnTo>
                        <a:lnTo>
                          <a:pt x="1312" y="2284"/>
                        </a:lnTo>
                        <a:lnTo>
                          <a:pt x="1278" y="2272"/>
                        </a:lnTo>
                        <a:lnTo>
                          <a:pt x="1270" y="2214"/>
                        </a:lnTo>
                        <a:lnTo>
                          <a:pt x="1288" y="2181"/>
                        </a:lnTo>
                        <a:lnTo>
                          <a:pt x="1309" y="2167"/>
                        </a:lnTo>
                        <a:lnTo>
                          <a:pt x="1315" y="2137"/>
                        </a:lnTo>
                        <a:lnTo>
                          <a:pt x="1293" y="2116"/>
                        </a:lnTo>
                        <a:lnTo>
                          <a:pt x="1300" y="2095"/>
                        </a:lnTo>
                        <a:lnTo>
                          <a:pt x="1342" y="2035"/>
                        </a:lnTo>
                        <a:lnTo>
                          <a:pt x="1329" y="2007"/>
                        </a:lnTo>
                        <a:lnTo>
                          <a:pt x="1354" y="2005"/>
                        </a:lnTo>
                        <a:lnTo>
                          <a:pt x="1368" y="1966"/>
                        </a:lnTo>
                        <a:lnTo>
                          <a:pt x="1410" y="1966"/>
                        </a:lnTo>
                        <a:lnTo>
                          <a:pt x="1438" y="1932"/>
                        </a:lnTo>
                        <a:lnTo>
                          <a:pt x="1428" y="1897"/>
                        </a:lnTo>
                        <a:lnTo>
                          <a:pt x="1441" y="1897"/>
                        </a:lnTo>
                        <a:lnTo>
                          <a:pt x="1489" y="1881"/>
                        </a:lnTo>
                        <a:lnTo>
                          <a:pt x="1524" y="1812"/>
                        </a:lnTo>
                        <a:lnTo>
                          <a:pt x="1548" y="1735"/>
                        </a:lnTo>
                        <a:lnTo>
                          <a:pt x="1588" y="1711"/>
                        </a:lnTo>
                        <a:lnTo>
                          <a:pt x="1666" y="1657"/>
                        </a:lnTo>
                        <a:lnTo>
                          <a:pt x="1689" y="1566"/>
                        </a:lnTo>
                        <a:lnTo>
                          <a:pt x="1729" y="1494"/>
                        </a:lnTo>
                        <a:lnTo>
                          <a:pt x="1747" y="1444"/>
                        </a:lnTo>
                        <a:lnTo>
                          <a:pt x="1734" y="1417"/>
                        </a:lnTo>
                        <a:lnTo>
                          <a:pt x="1681" y="1398"/>
                        </a:lnTo>
                        <a:lnTo>
                          <a:pt x="1602" y="1369"/>
                        </a:lnTo>
                        <a:lnTo>
                          <a:pt x="1594" y="1359"/>
                        </a:lnTo>
                        <a:lnTo>
                          <a:pt x="1542" y="1347"/>
                        </a:lnTo>
                        <a:lnTo>
                          <a:pt x="1507" y="1369"/>
                        </a:lnTo>
                        <a:lnTo>
                          <a:pt x="1536" y="1329"/>
                        </a:lnTo>
                        <a:lnTo>
                          <a:pt x="1510" y="1288"/>
                        </a:lnTo>
                        <a:lnTo>
                          <a:pt x="1432" y="1252"/>
                        </a:lnTo>
                        <a:lnTo>
                          <a:pt x="1384" y="1204"/>
                        </a:lnTo>
                        <a:lnTo>
                          <a:pt x="1348" y="1186"/>
                        </a:lnTo>
                        <a:lnTo>
                          <a:pt x="1303" y="1203"/>
                        </a:lnTo>
                        <a:lnTo>
                          <a:pt x="1264" y="1162"/>
                        </a:lnTo>
                        <a:lnTo>
                          <a:pt x="1228" y="1171"/>
                        </a:lnTo>
                        <a:lnTo>
                          <a:pt x="1194" y="1188"/>
                        </a:lnTo>
                        <a:lnTo>
                          <a:pt x="1167" y="1216"/>
                        </a:lnTo>
                        <a:lnTo>
                          <a:pt x="1165" y="1242"/>
                        </a:lnTo>
                        <a:lnTo>
                          <a:pt x="1153" y="1237"/>
                        </a:lnTo>
                        <a:lnTo>
                          <a:pt x="1126" y="1246"/>
                        </a:lnTo>
                        <a:lnTo>
                          <a:pt x="1099" y="1239"/>
                        </a:lnTo>
                        <a:lnTo>
                          <a:pt x="1083" y="1218"/>
                        </a:lnTo>
                        <a:lnTo>
                          <a:pt x="1087" y="1180"/>
                        </a:lnTo>
                        <a:lnTo>
                          <a:pt x="1086" y="1153"/>
                        </a:lnTo>
                        <a:lnTo>
                          <a:pt x="1032" y="1143"/>
                        </a:lnTo>
                        <a:lnTo>
                          <a:pt x="1038" y="1107"/>
                        </a:lnTo>
                        <a:lnTo>
                          <a:pt x="1053" y="1075"/>
                        </a:lnTo>
                        <a:lnTo>
                          <a:pt x="999" y="1074"/>
                        </a:lnTo>
                        <a:lnTo>
                          <a:pt x="990" y="1102"/>
                        </a:lnTo>
                        <a:lnTo>
                          <a:pt x="958" y="1111"/>
                        </a:lnTo>
                        <a:lnTo>
                          <a:pt x="918" y="1099"/>
                        </a:lnTo>
                        <a:lnTo>
                          <a:pt x="906" y="1030"/>
                        </a:lnTo>
                        <a:lnTo>
                          <a:pt x="916" y="984"/>
                        </a:lnTo>
                        <a:lnTo>
                          <a:pt x="969" y="961"/>
                        </a:lnTo>
                        <a:lnTo>
                          <a:pt x="1015" y="952"/>
                        </a:lnTo>
                        <a:lnTo>
                          <a:pt x="1077" y="955"/>
                        </a:lnTo>
                        <a:lnTo>
                          <a:pt x="1098" y="1011"/>
                        </a:lnTo>
                        <a:lnTo>
                          <a:pt x="1132" y="1038"/>
                        </a:lnTo>
                        <a:lnTo>
                          <a:pt x="1140" y="1015"/>
                        </a:lnTo>
                        <a:lnTo>
                          <a:pt x="1120" y="961"/>
                        </a:lnTo>
                        <a:lnTo>
                          <a:pt x="1117" y="927"/>
                        </a:lnTo>
                        <a:lnTo>
                          <a:pt x="1156" y="895"/>
                        </a:lnTo>
                        <a:lnTo>
                          <a:pt x="1179" y="873"/>
                        </a:lnTo>
                        <a:lnTo>
                          <a:pt x="1188" y="859"/>
                        </a:lnTo>
                        <a:lnTo>
                          <a:pt x="1182" y="837"/>
                        </a:lnTo>
                        <a:lnTo>
                          <a:pt x="1197" y="813"/>
                        </a:lnTo>
                        <a:lnTo>
                          <a:pt x="1210" y="826"/>
                        </a:lnTo>
                        <a:lnTo>
                          <a:pt x="1210" y="780"/>
                        </a:lnTo>
                        <a:lnTo>
                          <a:pt x="1234" y="772"/>
                        </a:lnTo>
                        <a:lnTo>
                          <a:pt x="1264" y="766"/>
                        </a:lnTo>
                        <a:lnTo>
                          <a:pt x="1243" y="745"/>
                        </a:lnTo>
                        <a:lnTo>
                          <a:pt x="1300" y="703"/>
                        </a:lnTo>
                        <a:lnTo>
                          <a:pt x="1330" y="694"/>
                        </a:lnTo>
                        <a:lnTo>
                          <a:pt x="1311" y="715"/>
                        </a:lnTo>
                        <a:lnTo>
                          <a:pt x="1312" y="730"/>
                        </a:lnTo>
                        <a:lnTo>
                          <a:pt x="1366" y="709"/>
                        </a:lnTo>
                        <a:lnTo>
                          <a:pt x="1330" y="664"/>
                        </a:lnTo>
                        <a:lnTo>
                          <a:pt x="1326" y="651"/>
                        </a:lnTo>
                        <a:lnTo>
                          <a:pt x="1333" y="627"/>
                        </a:lnTo>
                        <a:lnTo>
                          <a:pt x="1311" y="619"/>
                        </a:lnTo>
                        <a:lnTo>
                          <a:pt x="1249" y="666"/>
                        </a:lnTo>
                        <a:lnTo>
                          <a:pt x="1309" y="604"/>
                        </a:lnTo>
                        <a:lnTo>
                          <a:pt x="1407" y="603"/>
                        </a:lnTo>
                        <a:lnTo>
                          <a:pt x="1414" y="573"/>
                        </a:lnTo>
                        <a:lnTo>
                          <a:pt x="1440" y="568"/>
                        </a:lnTo>
                        <a:lnTo>
                          <a:pt x="1443" y="522"/>
                        </a:lnTo>
                        <a:lnTo>
                          <a:pt x="1423" y="498"/>
                        </a:lnTo>
                        <a:lnTo>
                          <a:pt x="1396" y="502"/>
                        </a:lnTo>
                        <a:cubicBezTo>
                          <a:pt x="1381" y="481"/>
                          <a:pt x="1347" y="388"/>
                          <a:pt x="1333" y="372"/>
                        </a:cubicBezTo>
                        <a:cubicBezTo>
                          <a:pt x="1319" y="356"/>
                          <a:pt x="1324" y="417"/>
                          <a:pt x="1311" y="408"/>
                        </a:cubicBezTo>
                        <a:lnTo>
                          <a:pt x="1273" y="408"/>
                        </a:lnTo>
                        <a:lnTo>
                          <a:pt x="1276" y="361"/>
                        </a:lnTo>
                        <a:lnTo>
                          <a:pt x="1254" y="331"/>
                        </a:lnTo>
                        <a:lnTo>
                          <a:pt x="1228" y="310"/>
                        </a:lnTo>
                        <a:cubicBezTo>
                          <a:pt x="1212" y="308"/>
                          <a:pt x="1167" y="310"/>
                          <a:pt x="1156" y="319"/>
                        </a:cubicBezTo>
                        <a:cubicBezTo>
                          <a:pt x="1144" y="328"/>
                          <a:pt x="1161" y="332"/>
                          <a:pt x="1161" y="364"/>
                        </a:cubicBezTo>
                        <a:cubicBezTo>
                          <a:pt x="1161" y="379"/>
                          <a:pt x="1155" y="389"/>
                          <a:pt x="1155" y="408"/>
                        </a:cubicBezTo>
                        <a:cubicBezTo>
                          <a:pt x="1155" y="427"/>
                          <a:pt x="1167" y="458"/>
                          <a:pt x="1164" y="477"/>
                        </a:cubicBezTo>
                        <a:lnTo>
                          <a:pt x="1135" y="520"/>
                        </a:lnTo>
                        <a:lnTo>
                          <a:pt x="1150" y="571"/>
                        </a:lnTo>
                        <a:lnTo>
                          <a:pt x="1128" y="589"/>
                        </a:lnTo>
                        <a:lnTo>
                          <a:pt x="1090" y="519"/>
                        </a:lnTo>
                        <a:lnTo>
                          <a:pt x="1084" y="492"/>
                        </a:lnTo>
                        <a:lnTo>
                          <a:pt x="1030" y="493"/>
                        </a:lnTo>
                        <a:lnTo>
                          <a:pt x="996" y="466"/>
                        </a:lnTo>
                        <a:lnTo>
                          <a:pt x="969" y="420"/>
                        </a:lnTo>
                        <a:cubicBezTo>
                          <a:pt x="960" y="407"/>
                          <a:pt x="938" y="405"/>
                          <a:pt x="940" y="388"/>
                        </a:cubicBezTo>
                        <a:cubicBezTo>
                          <a:pt x="943" y="373"/>
                          <a:pt x="970" y="339"/>
                          <a:pt x="982" y="319"/>
                        </a:cubicBezTo>
                        <a:lnTo>
                          <a:pt x="1005" y="295"/>
                        </a:lnTo>
                        <a:lnTo>
                          <a:pt x="1027" y="300"/>
                        </a:lnTo>
                        <a:lnTo>
                          <a:pt x="1053" y="222"/>
                        </a:lnTo>
                        <a:lnTo>
                          <a:pt x="1024" y="199"/>
                        </a:lnTo>
                        <a:lnTo>
                          <a:pt x="1074" y="207"/>
                        </a:lnTo>
                        <a:lnTo>
                          <a:pt x="1111" y="195"/>
                        </a:lnTo>
                        <a:lnTo>
                          <a:pt x="1129" y="156"/>
                        </a:lnTo>
                        <a:lnTo>
                          <a:pt x="1110" y="138"/>
                        </a:lnTo>
                        <a:lnTo>
                          <a:pt x="1129" y="108"/>
                        </a:lnTo>
                        <a:lnTo>
                          <a:pt x="1108" y="79"/>
                        </a:lnTo>
                        <a:lnTo>
                          <a:pt x="1086" y="72"/>
                        </a:lnTo>
                        <a:lnTo>
                          <a:pt x="1074" y="139"/>
                        </a:lnTo>
                        <a:lnTo>
                          <a:pt x="1056" y="138"/>
                        </a:lnTo>
                        <a:lnTo>
                          <a:pt x="1047" y="93"/>
                        </a:lnTo>
                        <a:lnTo>
                          <a:pt x="1027" y="118"/>
                        </a:lnTo>
                        <a:lnTo>
                          <a:pt x="1018" y="93"/>
                        </a:lnTo>
                        <a:lnTo>
                          <a:pt x="999" y="97"/>
                        </a:lnTo>
                        <a:lnTo>
                          <a:pt x="1003" y="64"/>
                        </a:lnTo>
                        <a:lnTo>
                          <a:pt x="972" y="0"/>
                        </a:lnTo>
                        <a:lnTo>
                          <a:pt x="946" y="16"/>
                        </a:lnTo>
                        <a:lnTo>
                          <a:pt x="936" y="60"/>
                        </a:lnTo>
                        <a:lnTo>
                          <a:pt x="960" y="90"/>
                        </a:lnTo>
                        <a:lnTo>
                          <a:pt x="954" y="114"/>
                        </a:lnTo>
                        <a:lnTo>
                          <a:pt x="981" y="132"/>
                        </a:lnTo>
                        <a:lnTo>
                          <a:pt x="960" y="150"/>
                        </a:lnTo>
                        <a:lnTo>
                          <a:pt x="933" y="154"/>
                        </a:lnTo>
                        <a:lnTo>
                          <a:pt x="931" y="123"/>
                        </a:lnTo>
                        <a:lnTo>
                          <a:pt x="901" y="127"/>
                        </a:lnTo>
                        <a:lnTo>
                          <a:pt x="906" y="150"/>
                        </a:lnTo>
                        <a:lnTo>
                          <a:pt x="856" y="156"/>
                        </a:lnTo>
                        <a:lnTo>
                          <a:pt x="838" y="133"/>
                        </a:lnTo>
                        <a:lnTo>
                          <a:pt x="817" y="130"/>
                        </a:lnTo>
                        <a:lnTo>
                          <a:pt x="804" y="108"/>
                        </a:lnTo>
                        <a:lnTo>
                          <a:pt x="772" y="127"/>
                        </a:lnTo>
                        <a:lnTo>
                          <a:pt x="777" y="187"/>
                        </a:lnTo>
                        <a:lnTo>
                          <a:pt x="751" y="141"/>
                        </a:lnTo>
                        <a:lnTo>
                          <a:pt x="726" y="154"/>
                        </a:lnTo>
                        <a:lnTo>
                          <a:pt x="694" y="153"/>
                        </a:lnTo>
                        <a:lnTo>
                          <a:pt x="706" y="120"/>
                        </a:lnTo>
                        <a:lnTo>
                          <a:pt x="685" y="97"/>
                        </a:lnTo>
                        <a:lnTo>
                          <a:pt x="678" y="115"/>
                        </a:lnTo>
                        <a:lnTo>
                          <a:pt x="600" y="69"/>
                        </a:lnTo>
                        <a:lnTo>
                          <a:pt x="573" y="61"/>
                        </a:lnTo>
                        <a:lnTo>
                          <a:pt x="570" y="79"/>
                        </a:lnTo>
                        <a:cubicBezTo>
                          <a:pt x="563" y="76"/>
                          <a:pt x="544" y="36"/>
                          <a:pt x="532" y="42"/>
                        </a:cubicBezTo>
                        <a:cubicBezTo>
                          <a:pt x="520" y="48"/>
                          <a:pt x="542" y="53"/>
                          <a:pt x="526" y="67"/>
                        </a:cubicBezTo>
                        <a:lnTo>
                          <a:pt x="508" y="60"/>
                        </a:lnTo>
                        <a:lnTo>
                          <a:pt x="448" y="96"/>
                        </a:lnTo>
                        <a:lnTo>
                          <a:pt x="420" y="106"/>
                        </a:lnTo>
                        <a:lnTo>
                          <a:pt x="345" y="67"/>
                        </a:lnTo>
                        <a:lnTo>
                          <a:pt x="309" y="70"/>
                        </a:lnTo>
                        <a:cubicBezTo>
                          <a:pt x="292" y="66"/>
                          <a:pt x="252" y="41"/>
                          <a:pt x="241" y="40"/>
                        </a:cubicBezTo>
                        <a:cubicBezTo>
                          <a:pt x="230" y="39"/>
                          <a:pt x="248" y="65"/>
                          <a:pt x="241" y="64"/>
                        </a:cubicBezTo>
                        <a:lnTo>
                          <a:pt x="196" y="31"/>
                        </a:lnTo>
                        <a:lnTo>
                          <a:pt x="166" y="19"/>
                        </a:lnTo>
                        <a:lnTo>
                          <a:pt x="145" y="31"/>
                        </a:lnTo>
                        <a:lnTo>
                          <a:pt x="106" y="4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59" name="Freeform 136"/>
                  <p:cNvSpPr>
                    <a:spLocks/>
                  </p:cNvSpPr>
                  <p:nvPr/>
                </p:nvSpPr>
                <p:spPr bwMode="gray">
                  <a:xfrm>
                    <a:off x="4005" y="1254"/>
                    <a:ext cx="239" cy="182"/>
                  </a:xfrm>
                  <a:custGeom>
                    <a:avLst/>
                    <a:gdLst/>
                    <a:ahLst/>
                    <a:cxnLst>
                      <a:cxn ang="0">
                        <a:pos x="30" y="14"/>
                      </a:cxn>
                      <a:cxn ang="0">
                        <a:pos x="2" y="67"/>
                      </a:cxn>
                      <a:cxn ang="0">
                        <a:pos x="44" y="79"/>
                      </a:cxn>
                      <a:cxn ang="0">
                        <a:pos x="6" y="94"/>
                      </a:cxn>
                      <a:cxn ang="0">
                        <a:pos x="39" y="114"/>
                      </a:cxn>
                      <a:cxn ang="0">
                        <a:pos x="50" y="106"/>
                      </a:cxn>
                      <a:cxn ang="0">
                        <a:pos x="75" y="103"/>
                      </a:cxn>
                      <a:cxn ang="0">
                        <a:pos x="83" y="126"/>
                      </a:cxn>
                      <a:cxn ang="0">
                        <a:pos x="30" y="127"/>
                      </a:cxn>
                      <a:cxn ang="0">
                        <a:pos x="26" y="150"/>
                      </a:cxn>
                      <a:cxn ang="0">
                        <a:pos x="99" y="180"/>
                      </a:cxn>
                      <a:cxn ang="0">
                        <a:pos x="110" y="182"/>
                      </a:cxn>
                      <a:cxn ang="0">
                        <a:pos x="128" y="169"/>
                      </a:cxn>
                      <a:cxn ang="0">
                        <a:pos x="155" y="162"/>
                      </a:cxn>
                      <a:cxn ang="0">
                        <a:pos x="173" y="165"/>
                      </a:cxn>
                      <a:cxn ang="0">
                        <a:pos x="215" y="162"/>
                      </a:cxn>
                      <a:cxn ang="0">
                        <a:pos x="193" y="143"/>
                      </a:cxn>
                      <a:cxn ang="0">
                        <a:pos x="233" y="145"/>
                      </a:cxn>
                      <a:cxn ang="0">
                        <a:pos x="230" y="126"/>
                      </a:cxn>
                      <a:cxn ang="0">
                        <a:pos x="183" y="109"/>
                      </a:cxn>
                      <a:cxn ang="0">
                        <a:pos x="176" y="78"/>
                      </a:cxn>
                      <a:cxn ang="0">
                        <a:pos x="171" y="43"/>
                      </a:cxn>
                      <a:cxn ang="0">
                        <a:pos x="152" y="21"/>
                      </a:cxn>
                      <a:cxn ang="0">
                        <a:pos x="138" y="28"/>
                      </a:cxn>
                      <a:cxn ang="0">
                        <a:pos x="117" y="13"/>
                      </a:cxn>
                      <a:cxn ang="0">
                        <a:pos x="102" y="31"/>
                      </a:cxn>
                      <a:cxn ang="0">
                        <a:pos x="89" y="7"/>
                      </a:cxn>
                      <a:cxn ang="0">
                        <a:pos x="69" y="34"/>
                      </a:cxn>
                      <a:cxn ang="0">
                        <a:pos x="65" y="3"/>
                      </a:cxn>
                      <a:cxn ang="0">
                        <a:pos x="51" y="0"/>
                      </a:cxn>
                      <a:cxn ang="0">
                        <a:pos x="30" y="14"/>
                      </a:cxn>
                    </a:cxnLst>
                    <a:rect l="0" t="0" r="r" b="b"/>
                    <a:pathLst>
                      <a:path w="239" h="182">
                        <a:moveTo>
                          <a:pt x="30" y="14"/>
                        </a:moveTo>
                        <a:cubicBezTo>
                          <a:pt x="0" y="30"/>
                          <a:pt x="12" y="51"/>
                          <a:pt x="2" y="67"/>
                        </a:cubicBezTo>
                        <a:cubicBezTo>
                          <a:pt x="0" y="72"/>
                          <a:pt x="47" y="74"/>
                          <a:pt x="44" y="79"/>
                        </a:cubicBezTo>
                        <a:cubicBezTo>
                          <a:pt x="43" y="81"/>
                          <a:pt x="6" y="94"/>
                          <a:pt x="6" y="94"/>
                        </a:cubicBezTo>
                        <a:cubicBezTo>
                          <a:pt x="17" y="118"/>
                          <a:pt x="25" y="110"/>
                          <a:pt x="39" y="114"/>
                        </a:cubicBezTo>
                        <a:cubicBezTo>
                          <a:pt x="42" y="114"/>
                          <a:pt x="50" y="106"/>
                          <a:pt x="50" y="106"/>
                        </a:cubicBezTo>
                        <a:cubicBezTo>
                          <a:pt x="56" y="97"/>
                          <a:pt x="72" y="117"/>
                          <a:pt x="75" y="103"/>
                        </a:cubicBezTo>
                        <a:cubicBezTo>
                          <a:pt x="80" y="106"/>
                          <a:pt x="88" y="119"/>
                          <a:pt x="83" y="126"/>
                        </a:cubicBezTo>
                        <a:cubicBezTo>
                          <a:pt x="84" y="141"/>
                          <a:pt x="22" y="125"/>
                          <a:pt x="30" y="127"/>
                        </a:cubicBezTo>
                        <a:cubicBezTo>
                          <a:pt x="25" y="131"/>
                          <a:pt x="14" y="141"/>
                          <a:pt x="26" y="150"/>
                        </a:cubicBezTo>
                        <a:cubicBezTo>
                          <a:pt x="38" y="159"/>
                          <a:pt x="85" y="175"/>
                          <a:pt x="99" y="180"/>
                        </a:cubicBezTo>
                        <a:cubicBezTo>
                          <a:pt x="102" y="179"/>
                          <a:pt x="110" y="182"/>
                          <a:pt x="110" y="182"/>
                        </a:cubicBezTo>
                        <a:cubicBezTo>
                          <a:pt x="121" y="174"/>
                          <a:pt x="121" y="181"/>
                          <a:pt x="128" y="169"/>
                        </a:cubicBezTo>
                        <a:cubicBezTo>
                          <a:pt x="136" y="167"/>
                          <a:pt x="147" y="161"/>
                          <a:pt x="155" y="162"/>
                        </a:cubicBezTo>
                        <a:cubicBezTo>
                          <a:pt x="160" y="163"/>
                          <a:pt x="173" y="165"/>
                          <a:pt x="173" y="165"/>
                        </a:cubicBezTo>
                        <a:cubicBezTo>
                          <a:pt x="179" y="166"/>
                          <a:pt x="212" y="166"/>
                          <a:pt x="215" y="162"/>
                        </a:cubicBezTo>
                        <a:cubicBezTo>
                          <a:pt x="218" y="158"/>
                          <a:pt x="190" y="146"/>
                          <a:pt x="193" y="143"/>
                        </a:cubicBezTo>
                        <a:cubicBezTo>
                          <a:pt x="199" y="138"/>
                          <a:pt x="227" y="148"/>
                          <a:pt x="233" y="145"/>
                        </a:cubicBezTo>
                        <a:cubicBezTo>
                          <a:pt x="239" y="142"/>
                          <a:pt x="238" y="132"/>
                          <a:pt x="230" y="126"/>
                        </a:cubicBezTo>
                        <a:cubicBezTo>
                          <a:pt x="226" y="118"/>
                          <a:pt x="183" y="118"/>
                          <a:pt x="183" y="109"/>
                        </a:cubicBezTo>
                        <a:cubicBezTo>
                          <a:pt x="183" y="102"/>
                          <a:pt x="176" y="78"/>
                          <a:pt x="176" y="78"/>
                        </a:cubicBezTo>
                        <a:cubicBezTo>
                          <a:pt x="173" y="62"/>
                          <a:pt x="180" y="61"/>
                          <a:pt x="171" y="43"/>
                        </a:cubicBezTo>
                        <a:cubicBezTo>
                          <a:pt x="165" y="34"/>
                          <a:pt x="160" y="19"/>
                          <a:pt x="152" y="21"/>
                        </a:cubicBezTo>
                        <a:cubicBezTo>
                          <a:pt x="146" y="27"/>
                          <a:pt x="146" y="30"/>
                          <a:pt x="138" y="28"/>
                        </a:cubicBezTo>
                        <a:cubicBezTo>
                          <a:pt x="132" y="32"/>
                          <a:pt x="123" y="12"/>
                          <a:pt x="117" y="13"/>
                        </a:cubicBezTo>
                        <a:cubicBezTo>
                          <a:pt x="111" y="14"/>
                          <a:pt x="107" y="32"/>
                          <a:pt x="102" y="31"/>
                        </a:cubicBezTo>
                        <a:cubicBezTo>
                          <a:pt x="97" y="30"/>
                          <a:pt x="99" y="4"/>
                          <a:pt x="89" y="7"/>
                        </a:cubicBezTo>
                        <a:cubicBezTo>
                          <a:pt x="79" y="10"/>
                          <a:pt x="73" y="35"/>
                          <a:pt x="69" y="34"/>
                        </a:cubicBezTo>
                        <a:cubicBezTo>
                          <a:pt x="60" y="41"/>
                          <a:pt x="75" y="3"/>
                          <a:pt x="65" y="3"/>
                        </a:cubicBezTo>
                        <a:cubicBezTo>
                          <a:pt x="62" y="1"/>
                          <a:pt x="54" y="0"/>
                          <a:pt x="51" y="0"/>
                        </a:cubicBezTo>
                        <a:cubicBezTo>
                          <a:pt x="45" y="0"/>
                          <a:pt x="41" y="24"/>
                          <a:pt x="30" y="1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0" name="Freeform 137"/>
                  <p:cNvSpPr>
                    <a:spLocks/>
                  </p:cNvSpPr>
                  <p:nvPr/>
                </p:nvSpPr>
                <p:spPr bwMode="gray">
                  <a:xfrm>
                    <a:off x="4469" y="1287"/>
                    <a:ext cx="284" cy="332"/>
                  </a:xfrm>
                  <a:custGeom>
                    <a:avLst/>
                    <a:gdLst/>
                    <a:ahLst/>
                    <a:cxnLst>
                      <a:cxn ang="0">
                        <a:pos x="12" y="24"/>
                      </a:cxn>
                      <a:cxn ang="0">
                        <a:pos x="8" y="49"/>
                      </a:cxn>
                      <a:cxn ang="0">
                        <a:pos x="0" y="73"/>
                      </a:cxn>
                      <a:cxn ang="0">
                        <a:pos x="45" y="123"/>
                      </a:cxn>
                      <a:cxn ang="0">
                        <a:pos x="67" y="127"/>
                      </a:cxn>
                      <a:cxn ang="0">
                        <a:pos x="91" y="139"/>
                      </a:cxn>
                      <a:cxn ang="0">
                        <a:pos x="96" y="113"/>
                      </a:cxn>
                      <a:cxn ang="0">
                        <a:pos x="116" y="130"/>
                      </a:cxn>
                      <a:cxn ang="0">
                        <a:pos x="137" y="164"/>
                      </a:cxn>
                      <a:cxn ang="0">
                        <a:pos x="156" y="207"/>
                      </a:cxn>
                      <a:cxn ang="0">
                        <a:pos x="144" y="244"/>
                      </a:cxn>
                      <a:cxn ang="0">
                        <a:pos x="118" y="245"/>
                      </a:cxn>
                      <a:cxn ang="0">
                        <a:pos x="112" y="256"/>
                      </a:cxn>
                      <a:cxn ang="0">
                        <a:pos x="115" y="277"/>
                      </a:cxn>
                      <a:cxn ang="0">
                        <a:pos x="139" y="277"/>
                      </a:cxn>
                      <a:cxn ang="0">
                        <a:pos x="157" y="285"/>
                      </a:cxn>
                      <a:cxn ang="0">
                        <a:pos x="189" y="317"/>
                      </a:cxn>
                      <a:cxn ang="0">
                        <a:pos x="198" y="319"/>
                      </a:cxn>
                      <a:cxn ang="0">
                        <a:pos x="208" y="320"/>
                      </a:cxn>
                      <a:cxn ang="0">
                        <a:pos x="226" y="332"/>
                      </a:cxn>
                      <a:cxn ang="0">
                        <a:pos x="217" y="306"/>
                      </a:cxn>
                      <a:cxn ang="0">
                        <a:pos x="247" y="321"/>
                      </a:cxn>
                      <a:cxn ang="0">
                        <a:pos x="249" y="283"/>
                      </a:cxn>
                      <a:cxn ang="0">
                        <a:pos x="217" y="261"/>
                      </a:cxn>
                      <a:cxn ang="0">
                        <a:pos x="208" y="234"/>
                      </a:cxn>
                      <a:cxn ang="0">
                        <a:pos x="220" y="223"/>
                      </a:cxn>
                      <a:cxn ang="0">
                        <a:pos x="235" y="259"/>
                      </a:cxn>
                      <a:cxn ang="0">
                        <a:pos x="265" y="249"/>
                      </a:cxn>
                      <a:cxn ang="0">
                        <a:pos x="283" y="234"/>
                      </a:cxn>
                      <a:cxn ang="0">
                        <a:pos x="261" y="214"/>
                      </a:cxn>
                      <a:cxn ang="0">
                        <a:pos x="223" y="181"/>
                      </a:cxn>
                      <a:cxn ang="0">
                        <a:pos x="211" y="174"/>
                      </a:cxn>
                      <a:cxn ang="0">
                        <a:pos x="231" y="157"/>
                      </a:cxn>
                      <a:cxn ang="0">
                        <a:pos x="219" y="126"/>
                      </a:cxn>
                      <a:cxn ang="0">
                        <a:pos x="193" y="101"/>
                      </a:cxn>
                      <a:cxn ang="0">
                        <a:pos x="177" y="94"/>
                      </a:cxn>
                      <a:cxn ang="0">
                        <a:pos x="151" y="78"/>
                      </a:cxn>
                      <a:cxn ang="0">
                        <a:pos x="133" y="55"/>
                      </a:cxn>
                      <a:cxn ang="0">
                        <a:pos x="99" y="49"/>
                      </a:cxn>
                      <a:cxn ang="0">
                        <a:pos x="85" y="49"/>
                      </a:cxn>
                      <a:cxn ang="0">
                        <a:pos x="85" y="19"/>
                      </a:cxn>
                      <a:cxn ang="0">
                        <a:pos x="55" y="36"/>
                      </a:cxn>
                      <a:cxn ang="0">
                        <a:pos x="70" y="99"/>
                      </a:cxn>
                      <a:cxn ang="0">
                        <a:pos x="51" y="78"/>
                      </a:cxn>
                      <a:cxn ang="0">
                        <a:pos x="49" y="15"/>
                      </a:cxn>
                      <a:cxn ang="0">
                        <a:pos x="12" y="24"/>
                      </a:cxn>
                    </a:cxnLst>
                    <a:rect l="0" t="0" r="r" b="b"/>
                    <a:pathLst>
                      <a:path w="284" h="332">
                        <a:moveTo>
                          <a:pt x="12" y="24"/>
                        </a:moveTo>
                        <a:cubicBezTo>
                          <a:pt x="13" y="33"/>
                          <a:pt x="8" y="49"/>
                          <a:pt x="8" y="49"/>
                        </a:cubicBezTo>
                        <a:cubicBezTo>
                          <a:pt x="11" y="67"/>
                          <a:pt x="4" y="64"/>
                          <a:pt x="0" y="73"/>
                        </a:cubicBezTo>
                        <a:cubicBezTo>
                          <a:pt x="9" y="93"/>
                          <a:pt x="30" y="126"/>
                          <a:pt x="45" y="123"/>
                        </a:cubicBezTo>
                        <a:cubicBezTo>
                          <a:pt x="59" y="138"/>
                          <a:pt x="59" y="135"/>
                          <a:pt x="67" y="127"/>
                        </a:cubicBezTo>
                        <a:cubicBezTo>
                          <a:pt x="74" y="128"/>
                          <a:pt x="83" y="137"/>
                          <a:pt x="91" y="139"/>
                        </a:cubicBezTo>
                        <a:cubicBezTo>
                          <a:pt x="97" y="130"/>
                          <a:pt x="91" y="122"/>
                          <a:pt x="96" y="113"/>
                        </a:cubicBezTo>
                        <a:cubicBezTo>
                          <a:pt x="103" y="117"/>
                          <a:pt x="108" y="121"/>
                          <a:pt x="116" y="130"/>
                        </a:cubicBezTo>
                        <a:cubicBezTo>
                          <a:pt x="124" y="151"/>
                          <a:pt x="121" y="155"/>
                          <a:pt x="137" y="164"/>
                        </a:cubicBezTo>
                        <a:cubicBezTo>
                          <a:pt x="157" y="183"/>
                          <a:pt x="159" y="198"/>
                          <a:pt x="156" y="207"/>
                        </a:cubicBezTo>
                        <a:cubicBezTo>
                          <a:pt x="158" y="221"/>
                          <a:pt x="148" y="234"/>
                          <a:pt x="144" y="244"/>
                        </a:cubicBezTo>
                        <a:cubicBezTo>
                          <a:pt x="138" y="245"/>
                          <a:pt x="124" y="246"/>
                          <a:pt x="118" y="245"/>
                        </a:cubicBezTo>
                        <a:cubicBezTo>
                          <a:pt x="115" y="245"/>
                          <a:pt x="112" y="256"/>
                          <a:pt x="112" y="256"/>
                        </a:cubicBezTo>
                        <a:cubicBezTo>
                          <a:pt x="109" y="264"/>
                          <a:pt x="110" y="263"/>
                          <a:pt x="115" y="277"/>
                        </a:cubicBezTo>
                        <a:cubicBezTo>
                          <a:pt x="117" y="283"/>
                          <a:pt x="139" y="277"/>
                          <a:pt x="139" y="277"/>
                        </a:cubicBezTo>
                        <a:cubicBezTo>
                          <a:pt x="146" y="278"/>
                          <a:pt x="149" y="278"/>
                          <a:pt x="157" y="285"/>
                        </a:cubicBezTo>
                        <a:cubicBezTo>
                          <a:pt x="169" y="292"/>
                          <a:pt x="177" y="300"/>
                          <a:pt x="189" y="317"/>
                        </a:cubicBezTo>
                        <a:cubicBezTo>
                          <a:pt x="191" y="322"/>
                          <a:pt x="195" y="318"/>
                          <a:pt x="198" y="319"/>
                        </a:cubicBezTo>
                        <a:cubicBezTo>
                          <a:pt x="201" y="319"/>
                          <a:pt x="208" y="320"/>
                          <a:pt x="208" y="320"/>
                        </a:cubicBezTo>
                        <a:cubicBezTo>
                          <a:pt x="216" y="329"/>
                          <a:pt x="219" y="331"/>
                          <a:pt x="226" y="332"/>
                        </a:cubicBezTo>
                        <a:cubicBezTo>
                          <a:pt x="234" y="327"/>
                          <a:pt x="232" y="328"/>
                          <a:pt x="217" y="306"/>
                        </a:cubicBezTo>
                        <a:cubicBezTo>
                          <a:pt x="207" y="282"/>
                          <a:pt x="235" y="315"/>
                          <a:pt x="247" y="321"/>
                        </a:cubicBezTo>
                        <a:cubicBezTo>
                          <a:pt x="258" y="312"/>
                          <a:pt x="259" y="310"/>
                          <a:pt x="249" y="283"/>
                        </a:cubicBezTo>
                        <a:cubicBezTo>
                          <a:pt x="247" y="271"/>
                          <a:pt x="221" y="271"/>
                          <a:pt x="217" y="261"/>
                        </a:cubicBezTo>
                        <a:cubicBezTo>
                          <a:pt x="210" y="253"/>
                          <a:pt x="210" y="241"/>
                          <a:pt x="208" y="234"/>
                        </a:cubicBezTo>
                        <a:cubicBezTo>
                          <a:pt x="209" y="228"/>
                          <a:pt x="216" y="227"/>
                          <a:pt x="220" y="223"/>
                        </a:cubicBezTo>
                        <a:cubicBezTo>
                          <a:pt x="227" y="228"/>
                          <a:pt x="227" y="249"/>
                          <a:pt x="235" y="259"/>
                        </a:cubicBezTo>
                        <a:cubicBezTo>
                          <a:pt x="238" y="266"/>
                          <a:pt x="260" y="245"/>
                          <a:pt x="265" y="249"/>
                        </a:cubicBezTo>
                        <a:cubicBezTo>
                          <a:pt x="270" y="254"/>
                          <a:pt x="281" y="237"/>
                          <a:pt x="283" y="234"/>
                        </a:cubicBezTo>
                        <a:cubicBezTo>
                          <a:pt x="284" y="226"/>
                          <a:pt x="265" y="224"/>
                          <a:pt x="261" y="214"/>
                        </a:cubicBezTo>
                        <a:cubicBezTo>
                          <a:pt x="251" y="205"/>
                          <a:pt x="231" y="188"/>
                          <a:pt x="223" y="181"/>
                        </a:cubicBezTo>
                        <a:cubicBezTo>
                          <a:pt x="220" y="165"/>
                          <a:pt x="220" y="180"/>
                          <a:pt x="211" y="174"/>
                        </a:cubicBezTo>
                        <a:cubicBezTo>
                          <a:pt x="191" y="153"/>
                          <a:pt x="247" y="154"/>
                          <a:pt x="231" y="157"/>
                        </a:cubicBezTo>
                        <a:cubicBezTo>
                          <a:pt x="232" y="151"/>
                          <a:pt x="225" y="135"/>
                          <a:pt x="219" y="126"/>
                        </a:cubicBezTo>
                        <a:cubicBezTo>
                          <a:pt x="213" y="117"/>
                          <a:pt x="200" y="106"/>
                          <a:pt x="193" y="101"/>
                        </a:cubicBezTo>
                        <a:cubicBezTo>
                          <a:pt x="194" y="97"/>
                          <a:pt x="177" y="94"/>
                          <a:pt x="177" y="94"/>
                        </a:cubicBezTo>
                        <a:cubicBezTo>
                          <a:pt x="173" y="71"/>
                          <a:pt x="163" y="76"/>
                          <a:pt x="151" y="78"/>
                        </a:cubicBezTo>
                        <a:cubicBezTo>
                          <a:pt x="143" y="69"/>
                          <a:pt x="141" y="65"/>
                          <a:pt x="133" y="55"/>
                        </a:cubicBezTo>
                        <a:cubicBezTo>
                          <a:pt x="117" y="52"/>
                          <a:pt x="112" y="51"/>
                          <a:pt x="99" y="49"/>
                        </a:cubicBezTo>
                        <a:cubicBezTo>
                          <a:pt x="92" y="56"/>
                          <a:pt x="87" y="32"/>
                          <a:pt x="85" y="49"/>
                        </a:cubicBezTo>
                        <a:cubicBezTo>
                          <a:pt x="69" y="31"/>
                          <a:pt x="78" y="31"/>
                          <a:pt x="85" y="19"/>
                        </a:cubicBezTo>
                        <a:cubicBezTo>
                          <a:pt x="72" y="0"/>
                          <a:pt x="64" y="29"/>
                          <a:pt x="55" y="36"/>
                        </a:cubicBezTo>
                        <a:cubicBezTo>
                          <a:pt x="49" y="37"/>
                          <a:pt x="72" y="101"/>
                          <a:pt x="70" y="99"/>
                        </a:cubicBezTo>
                        <a:cubicBezTo>
                          <a:pt x="69" y="106"/>
                          <a:pt x="55" y="92"/>
                          <a:pt x="51" y="78"/>
                        </a:cubicBezTo>
                        <a:cubicBezTo>
                          <a:pt x="43" y="69"/>
                          <a:pt x="56" y="24"/>
                          <a:pt x="49" y="15"/>
                        </a:cubicBezTo>
                        <a:cubicBezTo>
                          <a:pt x="43" y="6"/>
                          <a:pt x="21" y="22"/>
                          <a:pt x="12" y="2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1" name="Freeform 138"/>
                  <p:cNvSpPr>
                    <a:spLocks/>
                  </p:cNvSpPr>
                  <p:nvPr/>
                </p:nvSpPr>
                <p:spPr bwMode="gray">
                  <a:xfrm>
                    <a:off x="4279" y="1131"/>
                    <a:ext cx="51" cy="48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7" y="18"/>
                      </a:cxn>
                      <a:cxn ang="0">
                        <a:pos x="27" y="24"/>
                      </a:cxn>
                      <a:cxn ang="0">
                        <a:pos x="33" y="4"/>
                      </a:cxn>
                      <a:cxn ang="0">
                        <a:pos x="13" y="0"/>
                      </a:cxn>
                    </a:cxnLst>
                    <a:rect l="0" t="0" r="r" b="b"/>
                    <a:pathLst>
                      <a:path w="51" h="24">
                        <a:moveTo>
                          <a:pt x="13" y="0"/>
                        </a:moveTo>
                        <a:cubicBezTo>
                          <a:pt x="12" y="2"/>
                          <a:pt x="0" y="12"/>
                          <a:pt x="7" y="18"/>
                        </a:cubicBezTo>
                        <a:cubicBezTo>
                          <a:pt x="12" y="22"/>
                          <a:pt x="27" y="24"/>
                          <a:pt x="27" y="24"/>
                        </a:cubicBezTo>
                        <a:cubicBezTo>
                          <a:pt x="44" y="22"/>
                          <a:pt x="51" y="16"/>
                          <a:pt x="33" y="4"/>
                        </a:cubicBezTo>
                        <a:cubicBezTo>
                          <a:pt x="29" y="1"/>
                          <a:pt x="14" y="0"/>
                          <a:pt x="13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2" name="Freeform 139"/>
                  <p:cNvSpPr>
                    <a:spLocks/>
                  </p:cNvSpPr>
                  <p:nvPr/>
                </p:nvSpPr>
                <p:spPr bwMode="gray">
                  <a:xfrm>
                    <a:off x="4342" y="954"/>
                    <a:ext cx="52" cy="62"/>
                  </a:xfrm>
                  <a:custGeom>
                    <a:avLst/>
                    <a:gdLst/>
                    <a:ahLst/>
                    <a:cxnLst>
                      <a:cxn ang="0">
                        <a:pos x="15" y="0"/>
                      </a:cxn>
                      <a:cxn ang="0">
                        <a:pos x="7" y="52"/>
                      </a:cxn>
                      <a:cxn ang="0">
                        <a:pos x="28" y="59"/>
                      </a:cxn>
                      <a:cxn ang="0">
                        <a:pos x="34" y="24"/>
                      </a:cxn>
                      <a:cxn ang="0">
                        <a:pos x="15" y="0"/>
                      </a:cxn>
                    </a:cxnLst>
                    <a:rect l="0" t="0" r="r" b="b"/>
                    <a:pathLst>
                      <a:path w="52" h="62">
                        <a:moveTo>
                          <a:pt x="15" y="0"/>
                        </a:moveTo>
                        <a:cubicBezTo>
                          <a:pt x="14" y="5"/>
                          <a:pt x="0" y="38"/>
                          <a:pt x="7" y="52"/>
                        </a:cubicBezTo>
                        <a:cubicBezTo>
                          <a:pt x="12" y="62"/>
                          <a:pt x="28" y="59"/>
                          <a:pt x="28" y="59"/>
                        </a:cubicBezTo>
                        <a:cubicBezTo>
                          <a:pt x="45" y="54"/>
                          <a:pt x="52" y="53"/>
                          <a:pt x="34" y="24"/>
                        </a:cubicBezTo>
                        <a:cubicBezTo>
                          <a:pt x="30" y="16"/>
                          <a:pt x="16" y="0"/>
                          <a:pt x="15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3" name="Freeform 140"/>
                  <p:cNvSpPr>
                    <a:spLocks/>
                  </p:cNvSpPr>
                  <p:nvPr/>
                </p:nvSpPr>
                <p:spPr bwMode="gray">
                  <a:xfrm>
                    <a:off x="5063" y="1559"/>
                    <a:ext cx="144" cy="100"/>
                  </a:xfrm>
                  <a:custGeom>
                    <a:avLst/>
                    <a:gdLst/>
                    <a:ahLst/>
                    <a:cxnLst>
                      <a:cxn ang="0">
                        <a:pos x="81" y="18"/>
                      </a:cxn>
                      <a:cxn ang="0">
                        <a:pos x="66" y="7"/>
                      </a:cxn>
                      <a:cxn ang="0">
                        <a:pos x="50" y="12"/>
                      </a:cxn>
                      <a:cxn ang="0">
                        <a:pos x="48" y="25"/>
                      </a:cxn>
                      <a:cxn ang="0">
                        <a:pos x="19" y="1"/>
                      </a:cxn>
                      <a:cxn ang="0">
                        <a:pos x="6" y="34"/>
                      </a:cxn>
                      <a:cxn ang="0">
                        <a:pos x="19" y="50"/>
                      </a:cxn>
                      <a:cxn ang="0">
                        <a:pos x="10" y="71"/>
                      </a:cxn>
                      <a:cxn ang="0">
                        <a:pos x="28" y="74"/>
                      </a:cxn>
                      <a:cxn ang="0">
                        <a:pos x="50" y="99"/>
                      </a:cxn>
                      <a:cxn ang="0">
                        <a:pos x="75" y="95"/>
                      </a:cxn>
                      <a:cxn ang="0">
                        <a:pos x="105" y="88"/>
                      </a:cxn>
                      <a:cxn ang="0">
                        <a:pos x="141" y="66"/>
                      </a:cxn>
                      <a:cxn ang="0">
                        <a:pos x="120" y="31"/>
                      </a:cxn>
                      <a:cxn ang="0">
                        <a:pos x="110" y="12"/>
                      </a:cxn>
                      <a:cxn ang="0">
                        <a:pos x="81" y="18"/>
                      </a:cxn>
                    </a:cxnLst>
                    <a:rect l="0" t="0" r="r" b="b"/>
                    <a:pathLst>
                      <a:path w="144" h="100">
                        <a:moveTo>
                          <a:pt x="81" y="18"/>
                        </a:moveTo>
                        <a:cubicBezTo>
                          <a:pt x="73" y="19"/>
                          <a:pt x="71" y="8"/>
                          <a:pt x="66" y="7"/>
                        </a:cubicBezTo>
                        <a:cubicBezTo>
                          <a:pt x="61" y="6"/>
                          <a:pt x="53" y="9"/>
                          <a:pt x="50" y="12"/>
                        </a:cubicBezTo>
                        <a:cubicBezTo>
                          <a:pt x="43" y="10"/>
                          <a:pt x="53" y="27"/>
                          <a:pt x="48" y="25"/>
                        </a:cubicBezTo>
                        <a:cubicBezTo>
                          <a:pt x="43" y="23"/>
                          <a:pt x="26" y="0"/>
                          <a:pt x="19" y="1"/>
                        </a:cubicBezTo>
                        <a:cubicBezTo>
                          <a:pt x="15" y="3"/>
                          <a:pt x="6" y="26"/>
                          <a:pt x="6" y="34"/>
                        </a:cubicBezTo>
                        <a:cubicBezTo>
                          <a:pt x="6" y="42"/>
                          <a:pt x="18" y="44"/>
                          <a:pt x="19" y="50"/>
                        </a:cubicBezTo>
                        <a:cubicBezTo>
                          <a:pt x="22" y="65"/>
                          <a:pt x="0" y="53"/>
                          <a:pt x="10" y="71"/>
                        </a:cubicBezTo>
                        <a:cubicBezTo>
                          <a:pt x="19" y="76"/>
                          <a:pt x="27" y="74"/>
                          <a:pt x="28" y="74"/>
                        </a:cubicBezTo>
                        <a:cubicBezTo>
                          <a:pt x="35" y="78"/>
                          <a:pt x="44" y="95"/>
                          <a:pt x="50" y="99"/>
                        </a:cubicBezTo>
                        <a:cubicBezTo>
                          <a:pt x="54" y="100"/>
                          <a:pt x="75" y="95"/>
                          <a:pt x="75" y="95"/>
                        </a:cubicBezTo>
                        <a:cubicBezTo>
                          <a:pt x="87" y="94"/>
                          <a:pt x="94" y="100"/>
                          <a:pt x="105" y="88"/>
                        </a:cubicBezTo>
                        <a:cubicBezTo>
                          <a:pt x="120" y="82"/>
                          <a:pt x="123" y="82"/>
                          <a:pt x="141" y="66"/>
                        </a:cubicBezTo>
                        <a:cubicBezTo>
                          <a:pt x="144" y="34"/>
                          <a:pt x="132" y="38"/>
                          <a:pt x="120" y="31"/>
                        </a:cubicBezTo>
                        <a:cubicBezTo>
                          <a:pt x="118" y="20"/>
                          <a:pt x="117" y="16"/>
                          <a:pt x="110" y="12"/>
                        </a:cubicBezTo>
                        <a:cubicBezTo>
                          <a:pt x="109" y="12"/>
                          <a:pt x="84" y="22"/>
                          <a:pt x="81" y="1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4" name="Freeform 141"/>
                  <p:cNvSpPr>
                    <a:spLocks/>
                  </p:cNvSpPr>
                  <p:nvPr/>
                </p:nvSpPr>
                <p:spPr bwMode="gray">
                  <a:xfrm>
                    <a:off x="5049" y="1251"/>
                    <a:ext cx="53" cy="57"/>
                  </a:xfrm>
                  <a:custGeom>
                    <a:avLst/>
                    <a:gdLst/>
                    <a:ahLst/>
                    <a:cxnLst>
                      <a:cxn ang="0">
                        <a:pos x="36" y="7"/>
                      </a:cxn>
                      <a:cxn ang="0">
                        <a:pos x="15" y="3"/>
                      </a:cxn>
                      <a:cxn ang="0">
                        <a:pos x="6" y="27"/>
                      </a:cxn>
                      <a:cxn ang="0">
                        <a:pos x="18" y="46"/>
                      </a:cxn>
                      <a:cxn ang="0">
                        <a:pos x="50" y="54"/>
                      </a:cxn>
                      <a:cxn ang="0">
                        <a:pos x="30" y="27"/>
                      </a:cxn>
                      <a:cxn ang="0">
                        <a:pos x="36" y="7"/>
                      </a:cxn>
                    </a:cxnLst>
                    <a:rect l="0" t="0" r="r" b="b"/>
                    <a:pathLst>
                      <a:path w="53" h="57">
                        <a:moveTo>
                          <a:pt x="36" y="7"/>
                        </a:moveTo>
                        <a:cubicBezTo>
                          <a:pt x="34" y="6"/>
                          <a:pt x="20" y="0"/>
                          <a:pt x="15" y="3"/>
                        </a:cubicBezTo>
                        <a:cubicBezTo>
                          <a:pt x="10" y="6"/>
                          <a:pt x="6" y="20"/>
                          <a:pt x="6" y="27"/>
                        </a:cubicBezTo>
                        <a:cubicBezTo>
                          <a:pt x="0" y="46"/>
                          <a:pt x="11" y="44"/>
                          <a:pt x="18" y="46"/>
                        </a:cubicBezTo>
                        <a:cubicBezTo>
                          <a:pt x="23" y="44"/>
                          <a:pt x="45" y="57"/>
                          <a:pt x="50" y="54"/>
                        </a:cubicBezTo>
                        <a:cubicBezTo>
                          <a:pt x="53" y="50"/>
                          <a:pt x="34" y="37"/>
                          <a:pt x="30" y="27"/>
                        </a:cubicBezTo>
                        <a:cubicBezTo>
                          <a:pt x="28" y="19"/>
                          <a:pt x="38" y="8"/>
                          <a:pt x="36" y="7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5" name="Freeform 142"/>
                  <p:cNvSpPr>
                    <a:spLocks/>
                  </p:cNvSpPr>
                  <p:nvPr/>
                </p:nvSpPr>
                <p:spPr bwMode="gray">
                  <a:xfrm>
                    <a:off x="4525" y="1426"/>
                    <a:ext cx="38" cy="41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7" y="18"/>
                      </a:cxn>
                      <a:cxn ang="0">
                        <a:pos x="27" y="24"/>
                      </a:cxn>
                      <a:cxn ang="0">
                        <a:pos x="33" y="4"/>
                      </a:cxn>
                      <a:cxn ang="0">
                        <a:pos x="13" y="0"/>
                      </a:cxn>
                    </a:cxnLst>
                    <a:rect l="0" t="0" r="r" b="b"/>
                    <a:pathLst>
                      <a:path w="51" h="24">
                        <a:moveTo>
                          <a:pt x="13" y="0"/>
                        </a:moveTo>
                        <a:cubicBezTo>
                          <a:pt x="12" y="2"/>
                          <a:pt x="0" y="12"/>
                          <a:pt x="7" y="18"/>
                        </a:cubicBezTo>
                        <a:cubicBezTo>
                          <a:pt x="12" y="22"/>
                          <a:pt x="27" y="24"/>
                          <a:pt x="27" y="24"/>
                        </a:cubicBezTo>
                        <a:cubicBezTo>
                          <a:pt x="44" y="22"/>
                          <a:pt x="51" y="16"/>
                          <a:pt x="33" y="4"/>
                        </a:cubicBezTo>
                        <a:cubicBezTo>
                          <a:pt x="29" y="1"/>
                          <a:pt x="14" y="0"/>
                          <a:pt x="13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6" name="Freeform 143"/>
                  <p:cNvSpPr>
                    <a:spLocks/>
                  </p:cNvSpPr>
                  <p:nvPr/>
                </p:nvSpPr>
                <p:spPr bwMode="gray">
                  <a:xfrm>
                    <a:off x="4226" y="1386"/>
                    <a:ext cx="67" cy="46"/>
                  </a:xfrm>
                  <a:custGeom>
                    <a:avLst/>
                    <a:gdLst/>
                    <a:ahLst/>
                    <a:cxnLst>
                      <a:cxn ang="0">
                        <a:pos x="30" y="0"/>
                      </a:cxn>
                      <a:cxn ang="0">
                        <a:pos x="31" y="15"/>
                      </a:cxn>
                      <a:cxn ang="0">
                        <a:pos x="4" y="39"/>
                      </a:cxn>
                      <a:cxn ang="0">
                        <a:pos x="54" y="43"/>
                      </a:cxn>
                      <a:cxn ang="0">
                        <a:pos x="45" y="7"/>
                      </a:cxn>
                      <a:cxn ang="0">
                        <a:pos x="30" y="0"/>
                      </a:cxn>
                    </a:cxnLst>
                    <a:rect l="0" t="0" r="r" b="b"/>
                    <a:pathLst>
                      <a:path w="67" h="46">
                        <a:moveTo>
                          <a:pt x="30" y="0"/>
                        </a:moveTo>
                        <a:cubicBezTo>
                          <a:pt x="26" y="1"/>
                          <a:pt x="35" y="9"/>
                          <a:pt x="31" y="15"/>
                        </a:cubicBezTo>
                        <a:cubicBezTo>
                          <a:pt x="27" y="21"/>
                          <a:pt x="0" y="34"/>
                          <a:pt x="4" y="39"/>
                        </a:cubicBezTo>
                        <a:cubicBezTo>
                          <a:pt x="8" y="46"/>
                          <a:pt x="54" y="43"/>
                          <a:pt x="54" y="43"/>
                        </a:cubicBezTo>
                        <a:cubicBezTo>
                          <a:pt x="67" y="40"/>
                          <a:pt x="58" y="26"/>
                          <a:pt x="45" y="7"/>
                        </a:cubicBezTo>
                        <a:cubicBezTo>
                          <a:pt x="42" y="2"/>
                          <a:pt x="30" y="0"/>
                          <a:pt x="30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7" name="Freeform 144"/>
                  <p:cNvSpPr>
                    <a:spLocks/>
                  </p:cNvSpPr>
                  <p:nvPr/>
                </p:nvSpPr>
                <p:spPr bwMode="gray">
                  <a:xfrm>
                    <a:off x="4514" y="940"/>
                    <a:ext cx="237" cy="263"/>
                  </a:xfrm>
                  <a:custGeom>
                    <a:avLst/>
                    <a:gdLst/>
                    <a:ahLst/>
                    <a:cxnLst>
                      <a:cxn ang="0">
                        <a:pos x="100" y="24"/>
                      </a:cxn>
                      <a:cxn ang="0">
                        <a:pos x="52" y="44"/>
                      </a:cxn>
                      <a:cxn ang="0">
                        <a:pos x="52" y="68"/>
                      </a:cxn>
                      <a:cxn ang="0">
                        <a:pos x="84" y="83"/>
                      </a:cxn>
                      <a:cxn ang="0">
                        <a:pos x="135" y="83"/>
                      </a:cxn>
                      <a:cxn ang="0">
                        <a:pos x="88" y="98"/>
                      </a:cxn>
                      <a:cxn ang="0">
                        <a:pos x="90" y="141"/>
                      </a:cxn>
                      <a:cxn ang="0">
                        <a:pos x="72" y="113"/>
                      </a:cxn>
                      <a:cxn ang="0">
                        <a:pos x="55" y="129"/>
                      </a:cxn>
                      <a:cxn ang="0">
                        <a:pos x="63" y="143"/>
                      </a:cxn>
                      <a:cxn ang="0">
                        <a:pos x="51" y="170"/>
                      </a:cxn>
                      <a:cxn ang="0">
                        <a:pos x="67" y="174"/>
                      </a:cxn>
                      <a:cxn ang="0">
                        <a:pos x="34" y="188"/>
                      </a:cxn>
                      <a:cxn ang="0">
                        <a:pos x="43" y="221"/>
                      </a:cxn>
                      <a:cxn ang="0">
                        <a:pos x="19" y="218"/>
                      </a:cxn>
                      <a:cxn ang="0">
                        <a:pos x="4" y="243"/>
                      </a:cxn>
                      <a:cxn ang="0">
                        <a:pos x="45" y="261"/>
                      </a:cxn>
                      <a:cxn ang="0">
                        <a:pos x="88" y="257"/>
                      </a:cxn>
                      <a:cxn ang="0">
                        <a:pos x="88" y="234"/>
                      </a:cxn>
                      <a:cxn ang="0">
                        <a:pos x="126" y="203"/>
                      </a:cxn>
                      <a:cxn ang="0">
                        <a:pos x="120" y="185"/>
                      </a:cxn>
                      <a:cxn ang="0">
                        <a:pos x="162" y="156"/>
                      </a:cxn>
                      <a:cxn ang="0">
                        <a:pos x="223" y="116"/>
                      </a:cxn>
                      <a:cxn ang="0">
                        <a:pos x="210" y="98"/>
                      </a:cxn>
                      <a:cxn ang="0">
                        <a:pos x="237" y="84"/>
                      </a:cxn>
                      <a:cxn ang="0">
                        <a:pos x="225" y="59"/>
                      </a:cxn>
                      <a:cxn ang="0">
                        <a:pos x="207" y="20"/>
                      </a:cxn>
                      <a:cxn ang="0">
                        <a:pos x="181" y="8"/>
                      </a:cxn>
                      <a:cxn ang="0">
                        <a:pos x="144" y="3"/>
                      </a:cxn>
                      <a:cxn ang="0">
                        <a:pos x="100" y="24"/>
                      </a:cxn>
                    </a:cxnLst>
                    <a:rect l="0" t="0" r="r" b="b"/>
                    <a:pathLst>
                      <a:path w="237" h="263">
                        <a:moveTo>
                          <a:pt x="100" y="24"/>
                        </a:moveTo>
                        <a:cubicBezTo>
                          <a:pt x="80" y="38"/>
                          <a:pt x="74" y="40"/>
                          <a:pt x="52" y="44"/>
                        </a:cubicBezTo>
                        <a:cubicBezTo>
                          <a:pt x="49" y="45"/>
                          <a:pt x="45" y="55"/>
                          <a:pt x="52" y="68"/>
                        </a:cubicBezTo>
                        <a:cubicBezTo>
                          <a:pt x="61" y="85"/>
                          <a:pt x="73" y="68"/>
                          <a:pt x="84" y="83"/>
                        </a:cubicBezTo>
                        <a:cubicBezTo>
                          <a:pt x="90" y="88"/>
                          <a:pt x="136" y="72"/>
                          <a:pt x="135" y="83"/>
                        </a:cubicBezTo>
                        <a:cubicBezTo>
                          <a:pt x="136" y="85"/>
                          <a:pt x="95" y="88"/>
                          <a:pt x="88" y="98"/>
                        </a:cubicBezTo>
                        <a:cubicBezTo>
                          <a:pt x="81" y="108"/>
                          <a:pt x="93" y="139"/>
                          <a:pt x="90" y="141"/>
                        </a:cubicBezTo>
                        <a:cubicBezTo>
                          <a:pt x="95" y="146"/>
                          <a:pt x="58" y="120"/>
                          <a:pt x="72" y="113"/>
                        </a:cubicBezTo>
                        <a:cubicBezTo>
                          <a:pt x="66" y="111"/>
                          <a:pt x="56" y="124"/>
                          <a:pt x="55" y="129"/>
                        </a:cubicBezTo>
                        <a:cubicBezTo>
                          <a:pt x="54" y="134"/>
                          <a:pt x="64" y="136"/>
                          <a:pt x="63" y="143"/>
                        </a:cubicBezTo>
                        <a:cubicBezTo>
                          <a:pt x="62" y="150"/>
                          <a:pt x="50" y="165"/>
                          <a:pt x="51" y="170"/>
                        </a:cubicBezTo>
                        <a:cubicBezTo>
                          <a:pt x="52" y="175"/>
                          <a:pt x="70" y="171"/>
                          <a:pt x="67" y="174"/>
                        </a:cubicBezTo>
                        <a:cubicBezTo>
                          <a:pt x="64" y="177"/>
                          <a:pt x="38" y="180"/>
                          <a:pt x="34" y="188"/>
                        </a:cubicBezTo>
                        <a:cubicBezTo>
                          <a:pt x="30" y="196"/>
                          <a:pt x="46" y="216"/>
                          <a:pt x="43" y="221"/>
                        </a:cubicBezTo>
                        <a:cubicBezTo>
                          <a:pt x="40" y="226"/>
                          <a:pt x="25" y="214"/>
                          <a:pt x="19" y="218"/>
                        </a:cubicBezTo>
                        <a:cubicBezTo>
                          <a:pt x="13" y="222"/>
                          <a:pt x="0" y="236"/>
                          <a:pt x="4" y="243"/>
                        </a:cubicBezTo>
                        <a:cubicBezTo>
                          <a:pt x="8" y="250"/>
                          <a:pt x="31" y="259"/>
                          <a:pt x="45" y="261"/>
                        </a:cubicBezTo>
                        <a:cubicBezTo>
                          <a:pt x="59" y="263"/>
                          <a:pt x="81" y="261"/>
                          <a:pt x="88" y="257"/>
                        </a:cubicBezTo>
                        <a:cubicBezTo>
                          <a:pt x="97" y="252"/>
                          <a:pt x="73" y="262"/>
                          <a:pt x="88" y="234"/>
                        </a:cubicBezTo>
                        <a:cubicBezTo>
                          <a:pt x="94" y="225"/>
                          <a:pt x="121" y="211"/>
                          <a:pt x="126" y="203"/>
                        </a:cubicBezTo>
                        <a:cubicBezTo>
                          <a:pt x="131" y="195"/>
                          <a:pt x="114" y="193"/>
                          <a:pt x="120" y="185"/>
                        </a:cubicBezTo>
                        <a:cubicBezTo>
                          <a:pt x="126" y="177"/>
                          <a:pt x="145" y="167"/>
                          <a:pt x="162" y="156"/>
                        </a:cubicBezTo>
                        <a:cubicBezTo>
                          <a:pt x="170" y="143"/>
                          <a:pt x="222" y="132"/>
                          <a:pt x="223" y="116"/>
                        </a:cubicBezTo>
                        <a:cubicBezTo>
                          <a:pt x="231" y="106"/>
                          <a:pt x="208" y="103"/>
                          <a:pt x="210" y="98"/>
                        </a:cubicBezTo>
                        <a:cubicBezTo>
                          <a:pt x="212" y="93"/>
                          <a:pt x="235" y="90"/>
                          <a:pt x="237" y="84"/>
                        </a:cubicBezTo>
                        <a:cubicBezTo>
                          <a:pt x="234" y="80"/>
                          <a:pt x="225" y="59"/>
                          <a:pt x="225" y="59"/>
                        </a:cubicBezTo>
                        <a:cubicBezTo>
                          <a:pt x="226" y="42"/>
                          <a:pt x="222" y="25"/>
                          <a:pt x="207" y="20"/>
                        </a:cubicBezTo>
                        <a:cubicBezTo>
                          <a:pt x="200" y="12"/>
                          <a:pt x="191" y="11"/>
                          <a:pt x="181" y="8"/>
                        </a:cubicBezTo>
                        <a:cubicBezTo>
                          <a:pt x="171" y="5"/>
                          <a:pt x="157" y="0"/>
                          <a:pt x="144" y="3"/>
                        </a:cubicBezTo>
                        <a:cubicBezTo>
                          <a:pt x="124" y="9"/>
                          <a:pt x="108" y="7"/>
                          <a:pt x="100" y="2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8" name="Freeform 145"/>
                  <p:cNvSpPr>
                    <a:spLocks/>
                  </p:cNvSpPr>
                  <p:nvPr/>
                </p:nvSpPr>
                <p:spPr bwMode="gray">
                  <a:xfrm>
                    <a:off x="4472" y="967"/>
                    <a:ext cx="75" cy="157"/>
                  </a:xfrm>
                  <a:custGeom>
                    <a:avLst/>
                    <a:gdLst/>
                    <a:ahLst/>
                    <a:cxnLst>
                      <a:cxn ang="0">
                        <a:pos x="16" y="0"/>
                      </a:cxn>
                      <a:cxn ang="0">
                        <a:pos x="6" y="36"/>
                      </a:cxn>
                      <a:cxn ang="0">
                        <a:pos x="1" y="77"/>
                      </a:cxn>
                      <a:cxn ang="0">
                        <a:pos x="12" y="108"/>
                      </a:cxn>
                      <a:cxn ang="0">
                        <a:pos x="15" y="146"/>
                      </a:cxn>
                      <a:cxn ang="0">
                        <a:pos x="49" y="147"/>
                      </a:cxn>
                      <a:cxn ang="0">
                        <a:pos x="72" y="86"/>
                      </a:cxn>
                      <a:cxn ang="0">
                        <a:pos x="58" y="75"/>
                      </a:cxn>
                      <a:cxn ang="0">
                        <a:pos x="61" y="54"/>
                      </a:cxn>
                      <a:cxn ang="0">
                        <a:pos x="40" y="24"/>
                      </a:cxn>
                      <a:cxn ang="0">
                        <a:pos x="16" y="0"/>
                      </a:cxn>
                    </a:cxnLst>
                    <a:rect l="0" t="0" r="r" b="b"/>
                    <a:pathLst>
                      <a:path w="75" h="157">
                        <a:moveTo>
                          <a:pt x="16" y="0"/>
                        </a:moveTo>
                        <a:cubicBezTo>
                          <a:pt x="7" y="3"/>
                          <a:pt x="11" y="20"/>
                          <a:pt x="6" y="36"/>
                        </a:cubicBezTo>
                        <a:cubicBezTo>
                          <a:pt x="3" y="47"/>
                          <a:pt x="0" y="65"/>
                          <a:pt x="1" y="77"/>
                        </a:cubicBezTo>
                        <a:cubicBezTo>
                          <a:pt x="2" y="89"/>
                          <a:pt x="10" y="97"/>
                          <a:pt x="12" y="108"/>
                        </a:cubicBezTo>
                        <a:cubicBezTo>
                          <a:pt x="18" y="111"/>
                          <a:pt x="15" y="146"/>
                          <a:pt x="15" y="146"/>
                        </a:cubicBezTo>
                        <a:cubicBezTo>
                          <a:pt x="20" y="147"/>
                          <a:pt x="40" y="157"/>
                          <a:pt x="49" y="147"/>
                        </a:cubicBezTo>
                        <a:cubicBezTo>
                          <a:pt x="58" y="137"/>
                          <a:pt x="70" y="98"/>
                          <a:pt x="72" y="86"/>
                        </a:cubicBezTo>
                        <a:cubicBezTo>
                          <a:pt x="75" y="72"/>
                          <a:pt x="63" y="85"/>
                          <a:pt x="58" y="75"/>
                        </a:cubicBezTo>
                        <a:cubicBezTo>
                          <a:pt x="56" y="70"/>
                          <a:pt x="64" y="62"/>
                          <a:pt x="61" y="54"/>
                        </a:cubicBezTo>
                        <a:cubicBezTo>
                          <a:pt x="58" y="46"/>
                          <a:pt x="48" y="33"/>
                          <a:pt x="40" y="24"/>
                        </a:cubicBezTo>
                        <a:cubicBezTo>
                          <a:pt x="38" y="21"/>
                          <a:pt x="16" y="8"/>
                          <a:pt x="1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9" name="Freeform 146"/>
                  <p:cNvSpPr>
                    <a:spLocks/>
                  </p:cNvSpPr>
                  <p:nvPr/>
                </p:nvSpPr>
                <p:spPr bwMode="gray">
                  <a:xfrm>
                    <a:off x="4475" y="1220"/>
                    <a:ext cx="91" cy="46"/>
                  </a:xfrm>
                  <a:custGeom>
                    <a:avLst/>
                    <a:gdLst/>
                    <a:ahLst/>
                    <a:cxnLst>
                      <a:cxn ang="0">
                        <a:pos x="73" y="13"/>
                      </a:cxn>
                      <a:cxn ang="0">
                        <a:pos x="57" y="1"/>
                      </a:cxn>
                      <a:cxn ang="0">
                        <a:pos x="24" y="4"/>
                      </a:cxn>
                      <a:cxn ang="0">
                        <a:pos x="9" y="28"/>
                      </a:cxn>
                      <a:cxn ang="0">
                        <a:pos x="36" y="41"/>
                      </a:cxn>
                      <a:cxn ang="0">
                        <a:pos x="69" y="46"/>
                      </a:cxn>
                      <a:cxn ang="0">
                        <a:pos x="73" y="13"/>
                      </a:cxn>
                    </a:cxnLst>
                    <a:rect l="0" t="0" r="r" b="b"/>
                    <a:pathLst>
                      <a:path w="91" h="46">
                        <a:moveTo>
                          <a:pt x="73" y="13"/>
                        </a:moveTo>
                        <a:cubicBezTo>
                          <a:pt x="74" y="8"/>
                          <a:pt x="65" y="2"/>
                          <a:pt x="57" y="1"/>
                        </a:cubicBezTo>
                        <a:cubicBezTo>
                          <a:pt x="49" y="0"/>
                          <a:pt x="32" y="0"/>
                          <a:pt x="24" y="4"/>
                        </a:cubicBezTo>
                        <a:cubicBezTo>
                          <a:pt x="0" y="9"/>
                          <a:pt x="11" y="18"/>
                          <a:pt x="9" y="28"/>
                        </a:cubicBezTo>
                        <a:cubicBezTo>
                          <a:pt x="21" y="39"/>
                          <a:pt x="22" y="35"/>
                          <a:pt x="36" y="41"/>
                        </a:cubicBezTo>
                        <a:cubicBezTo>
                          <a:pt x="41" y="43"/>
                          <a:pt x="69" y="46"/>
                          <a:pt x="69" y="46"/>
                        </a:cubicBezTo>
                        <a:cubicBezTo>
                          <a:pt x="91" y="43"/>
                          <a:pt x="64" y="25"/>
                          <a:pt x="73" y="13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0" name="Freeform 147"/>
                  <p:cNvSpPr>
                    <a:spLocks/>
                  </p:cNvSpPr>
                  <p:nvPr/>
                </p:nvSpPr>
                <p:spPr bwMode="gray">
                  <a:xfrm>
                    <a:off x="4200" y="1212"/>
                    <a:ext cx="94" cy="134"/>
                  </a:xfrm>
                  <a:custGeom>
                    <a:avLst/>
                    <a:gdLst/>
                    <a:ahLst/>
                    <a:cxnLst>
                      <a:cxn ang="0">
                        <a:pos x="23" y="13"/>
                      </a:cxn>
                      <a:cxn ang="0">
                        <a:pos x="38" y="55"/>
                      </a:cxn>
                      <a:cxn ang="0">
                        <a:pos x="2" y="61"/>
                      </a:cxn>
                      <a:cxn ang="0">
                        <a:pos x="23" y="88"/>
                      </a:cxn>
                      <a:cxn ang="0">
                        <a:pos x="47" y="117"/>
                      </a:cxn>
                      <a:cxn ang="0">
                        <a:pos x="71" y="118"/>
                      </a:cxn>
                      <a:cxn ang="0">
                        <a:pos x="92" y="106"/>
                      </a:cxn>
                      <a:cxn ang="0">
                        <a:pos x="86" y="55"/>
                      </a:cxn>
                      <a:cxn ang="0">
                        <a:pos x="66" y="55"/>
                      </a:cxn>
                      <a:cxn ang="0">
                        <a:pos x="87" y="21"/>
                      </a:cxn>
                      <a:cxn ang="0">
                        <a:pos x="68" y="0"/>
                      </a:cxn>
                      <a:cxn ang="0">
                        <a:pos x="23" y="13"/>
                      </a:cxn>
                    </a:cxnLst>
                    <a:rect l="0" t="0" r="r" b="b"/>
                    <a:pathLst>
                      <a:path w="94" h="134">
                        <a:moveTo>
                          <a:pt x="23" y="13"/>
                        </a:moveTo>
                        <a:cubicBezTo>
                          <a:pt x="9" y="23"/>
                          <a:pt x="51" y="65"/>
                          <a:pt x="38" y="55"/>
                        </a:cubicBezTo>
                        <a:cubicBezTo>
                          <a:pt x="22" y="58"/>
                          <a:pt x="6" y="34"/>
                          <a:pt x="2" y="61"/>
                        </a:cubicBezTo>
                        <a:cubicBezTo>
                          <a:pt x="0" y="68"/>
                          <a:pt x="16" y="79"/>
                          <a:pt x="23" y="88"/>
                        </a:cubicBezTo>
                        <a:cubicBezTo>
                          <a:pt x="30" y="97"/>
                          <a:pt x="39" y="112"/>
                          <a:pt x="47" y="117"/>
                        </a:cubicBezTo>
                        <a:cubicBezTo>
                          <a:pt x="54" y="134"/>
                          <a:pt x="59" y="126"/>
                          <a:pt x="71" y="118"/>
                        </a:cubicBezTo>
                        <a:cubicBezTo>
                          <a:pt x="75" y="114"/>
                          <a:pt x="90" y="116"/>
                          <a:pt x="92" y="106"/>
                        </a:cubicBezTo>
                        <a:cubicBezTo>
                          <a:pt x="94" y="96"/>
                          <a:pt x="90" y="64"/>
                          <a:pt x="86" y="55"/>
                        </a:cubicBezTo>
                        <a:cubicBezTo>
                          <a:pt x="85" y="48"/>
                          <a:pt x="68" y="60"/>
                          <a:pt x="66" y="55"/>
                        </a:cubicBezTo>
                        <a:cubicBezTo>
                          <a:pt x="65" y="45"/>
                          <a:pt x="87" y="30"/>
                          <a:pt x="87" y="21"/>
                        </a:cubicBezTo>
                        <a:cubicBezTo>
                          <a:pt x="87" y="12"/>
                          <a:pt x="79" y="1"/>
                          <a:pt x="68" y="0"/>
                        </a:cubicBezTo>
                        <a:cubicBezTo>
                          <a:pt x="62" y="5"/>
                          <a:pt x="36" y="0"/>
                          <a:pt x="23" y="13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1" name="Freeform 148"/>
                  <p:cNvSpPr>
                    <a:spLocks/>
                  </p:cNvSpPr>
                  <p:nvPr/>
                </p:nvSpPr>
                <p:spPr bwMode="gray">
                  <a:xfrm>
                    <a:off x="4325" y="1117"/>
                    <a:ext cx="178" cy="115"/>
                  </a:xfrm>
                  <a:custGeom>
                    <a:avLst/>
                    <a:gdLst/>
                    <a:ahLst/>
                    <a:cxnLst>
                      <a:cxn ang="0">
                        <a:pos x="6" y="0"/>
                      </a:cxn>
                      <a:cxn ang="0">
                        <a:pos x="9" y="27"/>
                      </a:cxn>
                      <a:cxn ang="0">
                        <a:pos x="42" y="36"/>
                      </a:cxn>
                      <a:cxn ang="0">
                        <a:pos x="42" y="78"/>
                      </a:cxn>
                      <a:cxn ang="0">
                        <a:pos x="73" y="93"/>
                      </a:cxn>
                      <a:cxn ang="0">
                        <a:pos x="123" y="101"/>
                      </a:cxn>
                      <a:cxn ang="0">
                        <a:pos x="160" y="89"/>
                      </a:cxn>
                      <a:cxn ang="0">
                        <a:pos x="168" y="53"/>
                      </a:cxn>
                      <a:cxn ang="0">
                        <a:pos x="115" y="55"/>
                      </a:cxn>
                      <a:cxn ang="0">
                        <a:pos x="95" y="52"/>
                      </a:cxn>
                      <a:cxn ang="0">
                        <a:pos x="79" y="41"/>
                      </a:cxn>
                      <a:cxn ang="0">
                        <a:pos x="55" y="12"/>
                      </a:cxn>
                      <a:cxn ang="0">
                        <a:pos x="6" y="0"/>
                      </a:cxn>
                    </a:cxnLst>
                    <a:rect l="0" t="0" r="r" b="b"/>
                    <a:pathLst>
                      <a:path w="178" h="115">
                        <a:moveTo>
                          <a:pt x="6" y="0"/>
                        </a:moveTo>
                        <a:cubicBezTo>
                          <a:pt x="0" y="13"/>
                          <a:pt x="17" y="17"/>
                          <a:pt x="9" y="27"/>
                        </a:cubicBezTo>
                        <a:cubicBezTo>
                          <a:pt x="25" y="49"/>
                          <a:pt x="49" y="21"/>
                          <a:pt x="42" y="36"/>
                        </a:cubicBezTo>
                        <a:cubicBezTo>
                          <a:pt x="47" y="50"/>
                          <a:pt x="32" y="70"/>
                          <a:pt x="42" y="78"/>
                        </a:cubicBezTo>
                        <a:cubicBezTo>
                          <a:pt x="48" y="92"/>
                          <a:pt x="77" y="85"/>
                          <a:pt x="73" y="93"/>
                        </a:cubicBezTo>
                        <a:cubicBezTo>
                          <a:pt x="90" y="115"/>
                          <a:pt x="116" y="104"/>
                          <a:pt x="123" y="101"/>
                        </a:cubicBezTo>
                        <a:cubicBezTo>
                          <a:pt x="143" y="112"/>
                          <a:pt x="149" y="101"/>
                          <a:pt x="160" y="89"/>
                        </a:cubicBezTo>
                        <a:cubicBezTo>
                          <a:pt x="162" y="88"/>
                          <a:pt x="178" y="79"/>
                          <a:pt x="168" y="53"/>
                        </a:cubicBezTo>
                        <a:cubicBezTo>
                          <a:pt x="132" y="36"/>
                          <a:pt x="151" y="39"/>
                          <a:pt x="115" y="55"/>
                        </a:cubicBezTo>
                        <a:cubicBezTo>
                          <a:pt x="95" y="40"/>
                          <a:pt x="121" y="58"/>
                          <a:pt x="95" y="52"/>
                        </a:cubicBezTo>
                        <a:cubicBezTo>
                          <a:pt x="90" y="51"/>
                          <a:pt x="84" y="44"/>
                          <a:pt x="79" y="41"/>
                        </a:cubicBezTo>
                        <a:cubicBezTo>
                          <a:pt x="70" y="29"/>
                          <a:pt x="53" y="22"/>
                          <a:pt x="55" y="12"/>
                        </a:cubicBezTo>
                        <a:cubicBezTo>
                          <a:pt x="49" y="1"/>
                          <a:pt x="16" y="11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2" name="Freeform 149"/>
                  <p:cNvSpPr>
                    <a:spLocks/>
                  </p:cNvSpPr>
                  <p:nvPr/>
                </p:nvSpPr>
                <p:spPr bwMode="gray">
                  <a:xfrm>
                    <a:off x="4347" y="1223"/>
                    <a:ext cx="77" cy="121"/>
                  </a:xfrm>
                  <a:custGeom>
                    <a:avLst/>
                    <a:gdLst/>
                    <a:ahLst/>
                    <a:cxnLst>
                      <a:cxn ang="0">
                        <a:pos x="74" y="13"/>
                      </a:cxn>
                      <a:cxn ang="0">
                        <a:pos x="41" y="8"/>
                      </a:cxn>
                      <a:cxn ang="0">
                        <a:pos x="21" y="4"/>
                      </a:cxn>
                      <a:cxn ang="0">
                        <a:pos x="2" y="34"/>
                      </a:cxn>
                      <a:cxn ang="0">
                        <a:pos x="9" y="99"/>
                      </a:cxn>
                      <a:cxn ang="0">
                        <a:pos x="11" y="110"/>
                      </a:cxn>
                      <a:cxn ang="0">
                        <a:pos x="23" y="115"/>
                      </a:cxn>
                      <a:cxn ang="0">
                        <a:pos x="26" y="74"/>
                      </a:cxn>
                      <a:cxn ang="0">
                        <a:pos x="50" y="64"/>
                      </a:cxn>
                      <a:cxn ang="0">
                        <a:pos x="63" y="47"/>
                      </a:cxn>
                      <a:cxn ang="0">
                        <a:pos x="74" y="13"/>
                      </a:cxn>
                    </a:cxnLst>
                    <a:rect l="0" t="0" r="r" b="b"/>
                    <a:pathLst>
                      <a:path w="77" h="121">
                        <a:moveTo>
                          <a:pt x="74" y="13"/>
                        </a:moveTo>
                        <a:cubicBezTo>
                          <a:pt x="71" y="6"/>
                          <a:pt x="50" y="9"/>
                          <a:pt x="41" y="8"/>
                        </a:cubicBezTo>
                        <a:cubicBezTo>
                          <a:pt x="32" y="7"/>
                          <a:pt x="27" y="0"/>
                          <a:pt x="21" y="4"/>
                        </a:cubicBezTo>
                        <a:cubicBezTo>
                          <a:pt x="12" y="8"/>
                          <a:pt x="4" y="18"/>
                          <a:pt x="2" y="34"/>
                        </a:cubicBezTo>
                        <a:cubicBezTo>
                          <a:pt x="0" y="50"/>
                          <a:pt x="7" y="86"/>
                          <a:pt x="9" y="99"/>
                        </a:cubicBezTo>
                        <a:cubicBezTo>
                          <a:pt x="11" y="111"/>
                          <a:pt x="9" y="107"/>
                          <a:pt x="11" y="110"/>
                        </a:cubicBezTo>
                        <a:cubicBezTo>
                          <a:pt x="13" y="113"/>
                          <a:pt x="21" y="121"/>
                          <a:pt x="23" y="115"/>
                        </a:cubicBezTo>
                        <a:cubicBezTo>
                          <a:pt x="30" y="105"/>
                          <a:pt x="24" y="89"/>
                          <a:pt x="26" y="74"/>
                        </a:cubicBezTo>
                        <a:cubicBezTo>
                          <a:pt x="24" y="46"/>
                          <a:pt x="61" y="81"/>
                          <a:pt x="50" y="64"/>
                        </a:cubicBezTo>
                        <a:cubicBezTo>
                          <a:pt x="55" y="59"/>
                          <a:pt x="59" y="55"/>
                          <a:pt x="63" y="47"/>
                        </a:cubicBezTo>
                        <a:cubicBezTo>
                          <a:pt x="67" y="39"/>
                          <a:pt x="77" y="20"/>
                          <a:pt x="74" y="13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3" name="Freeform 150"/>
                  <p:cNvSpPr>
                    <a:spLocks/>
                  </p:cNvSpPr>
                  <p:nvPr/>
                </p:nvSpPr>
                <p:spPr bwMode="gray">
                  <a:xfrm>
                    <a:off x="4656" y="1003"/>
                    <a:ext cx="450" cy="668"/>
                  </a:xfrm>
                  <a:custGeom>
                    <a:avLst/>
                    <a:gdLst/>
                    <a:ahLst/>
                    <a:cxnLst>
                      <a:cxn ang="0">
                        <a:pos x="375" y="270"/>
                      </a:cxn>
                      <a:cxn ang="0">
                        <a:pos x="387" y="189"/>
                      </a:cxn>
                      <a:cxn ang="0">
                        <a:pos x="414" y="179"/>
                      </a:cxn>
                      <a:cxn ang="0">
                        <a:pos x="423" y="141"/>
                      </a:cxn>
                      <a:cxn ang="0">
                        <a:pos x="449" y="90"/>
                      </a:cxn>
                      <a:cxn ang="0">
                        <a:pos x="417" y="83"/>
                      </a:cxn>
                      <a:cxn ang="0">
                        <a:pos x="374" y="137"/>
                      </a:cxn>
                      <a:cxn ang="0">
                        <a:pos x="401" y="69"/>
                      </a:cxn>
                      <a:cxn ang="0">
                        <a:pos x="374" y="63"/>
                      </a:cxn>
                      <a:cxn ang="0">
                        <a:pos x="336" y="71"/>
                      </a:cxn>
                      <a:cxn ang="0">
                        <a:pos x="377" y="39"/>
                      </a:cxn>
                      <a:cxn ang="0">
                        <a:pos x="339" y="30"/>
                      </a:cxn>
                      <a:cxn ang="0">
                        <a:pos x="311" y="27"/>
                      </a:cxn>
                      <a:cxn ang="0">
                        <a:pos x="314" y="3"/>
                      </a:cxn>
                      <a:cxn ang="0">
                        <a:pos x="251" y="12"/>
                      </a:cxn>
                      <a:cxn ang="0">
                        <a:pos x="162" y="68"/>
                      </a:cxn>
                      <a:cxn ang="0">
                        <a:pos x="110" y="83"/>
                      </a:cxn>
                      <a:cxn ang="0">
                        <a:pos x="95" y="126"/>
                      </a:cxn>
                      <a:cxn ang="0">
                        <a:pos x="53" y="150"/>
                      </a:cxn>
                      <a:cxn ang="0">
                        <a:pos x="71" y="162"/>
                      </a:cxn>
                      <a:cxn ang="0">
                        <a:pos x="71" y="188"/>
                      </a:cxn>
                      <a:cxn ang="0">
                        <a:pos x="51" y="204"/>
                      </a:cxn>
                      <a:cxn ang="0">
                        <a:pos x="5" y="233"/>
                      </a:cxn>
                      <a:cxn ang="0">
                        <a:pos x="32" y="258"/>
                      </a:cxn>
                      <a:cxn ang="0">
                        <a:pos x="56" y="264"/>
                      </a:cxn>
                      <a:cxn ang="0">
                        <a:pos x="38" y="281"/>
                      </a:cxn>
                      <a:cxn ang="0">
                        <a:pos x="18" y="290"/>
                      </a:cxn>
                      <a:cxn ang="0">
                        <a:pos x="50" y="326"/>
                      </a:cxn>
                      <a:cxn ang="0">
                        <a:pos x="71" y="316"/>
                      </a:cxn>
                      <a:cxn ang="0">
                        <a:pos x="111" y="309"/>
                      </a:cxn>
                      <a:cxn ang="0">
                        <a:pos x="143" y="360"/>
                      </a:cxn>
                      <a:cxn ang="0">
                        <a:pos x="143" y="386"/>
                      </a:cxn>
                      <a:cxn ang="0">
                        <a:pos x="149" y="413"/>
                      </a:cxn>
                      <a:cxn ang="0">
                        <a:pos x="138" y="444"/>
                      </a:cxn>
                      <a:cxn ang="0">
                        <a:pos x="162" y="434"/>
                      </a:cxn>
                      <a:cxn ang="0">
                        <a:pos x="183" y="467"/>
                      </a:cxn>
                      <a:cxn ang="0">
                        <a:pos x="156" y="459"/>
                      </a:cxn>
                      <a:cxn ang="0">
                        <a:pos x="177" y="486"/>
                      </a:cxn>
                      <a:cxn ang="0">
                        <a:pos x="153" y="533"/>
                      </a:cxn>
                      <a:cxn ang="0">
                        <a:pos x="176" y="620"/>
                      </a:cxn>
                      <a:cxn ang="0">
                        <a:pos x="197" y="650"/>
                      </a:cxn>
                      <a:cxn ang="0">
                        <a:pos x="239" y="663"/>
                      </a:cxn>
                      <a:cxn ang="0">
                        <a:pos x="251" y="618"/>
                      </a:cxn>
                      <a:cxn ang="0">
                        <a:pos x="276" y="569"/>
                      </a:cxn>
                      <a:cxn ang="0">
                        <a:pos x="329" y="524"/>
                      </a:cxn>
                      <a:cxn ang="0">
                        <a:pos x="396" y="471"/>
                      </a:cxn>
                      <a:cxn ang="0">
                        <a:pos x="356" y="468"/>
                      </a:cxn>
                      <a:cxn ang="0">
                        <a:pos x="368" y="459"/>
                      </a:cxn>
                      <a:cxn ang="0">
                        <a:pos x="371" y="438"/>
                      </a:cxn>
                      <a:cxn ang="0">
                        <a:pos x="404" y="455"/>
                      </a:cxn>
                      <a:cxn ang="0">
                        <a:pos x="390" y="410"/>
                      </a:cxn>
                      <a:cxn ang="0">
                        <a:pos x="410" y="369"/>
                      </a:cxn>
                      <a:cxn ang="0">
                        <a:pos x="434" y="341"/>
                      </a:cxn>
                      <a:cxn ang="0">
                        <a:pos x="413" y="309"/>
                      </a:cxn>
                      <a:cxn ang="0">
                        <a:pos x="389" y="317"/>
                      </a:cxn>
                      <a:cxn ang="0">
                        <a:pos x="389" y="281"/>
                      </a:cxn>
                      <a:cxn ang="0">
                        <a:pos x="375" y="270"/>
                      </a:cxn>
                    </a:cxnLst>
                    <a:rect l="0" t="0" r="r" b="b"/>
                    <a:pathLst>
                      <a:path w="450" h="668">
                        <a:moveTo>
                          <a:pt x="375" y="270"/>
                        </a:moveTo>
                        <a:cubicBezTo>
                          <a:pt x="373" y="248"/>
                          <a:pt x="393" y="229"/>
                          <a:pt x="387" y="189"/>
                        </a:cubicBezTo>
                        <a:cubicBezTo>
                          <a:pt x="393" y="174"/>
                          <a:pt x="408" y="187"/>
                          <a:pt x="414" y="179"/>
                        </a:cubicBezTo>
                        <a:cubicBezTo>
                          <a:pt x="420" y="171"/>
                          <a:pt x="417" y="156"/>
                          <a:pt x="423" y="141"/>
                        </a:cubicBezTo>
                        <a:cubicBezTo>
                          <a:pt x="429" y="126"/>
                          <a:pt x="450" y="100"/>
                          <a:pt x="449" y="90"/>
                        </a:cubicBezTo>
                        <a:cubicBezTo>
                          <a:pt x="448" y="80"/>
                          <a:pt x="430" y="75"/>
                          <a:pt x="417" y="83"/>
                        </a:cubicBezTo>
                        <a:cubicBezTo>
                          <a:pt x="404" y="91"/>
                          <a:pt x="377" y="139"/>
                          <a:pt x="374" y="137"/>
                        </a:cubicBezTo>
                        <a:cubicBezTo>
                          <a:pt x="371" y="135"/>
                          <a:pt x="401" y="81"/>
                          <a:pt x="401" y="69"/>
                        </a:cubicBezTo>
                        <a:cubicBezTo>
                          <a:pt x="401" y="57"/>
                          <a:pt x="385" y="63"/>
                          <a:pt x="374" y="63"/>
                        </a:cubicBezTo>
                        <a:cubicBezTo>
                          <a:pt x="363" y="63"/>
                          <a:pt x="336" y="75"/>
                          <a:pt x="336" y="71"/>
                        </a:cubicBezTo>
                        <a:cubicBezTo>
                          <a:pt x="336" y="67"/>
                          <a:pt x="377" y="46"/>
                          <a:pt x="377" y="39"/>
                        </a:cubicBezTo>
                        <a:cubicBezTo>
                          <a:pt x="377" y="32"/>
                          <a:pt x="350" y="32"/>
                          <a:pt x="339" y="30"/>
                        </a:cubicBezTo>
                        <a:cubicBezTo>
                          <a:pt x="328" y="28"/>
                          <a:pt x="315" y="31"/>
                          <a:pt x="311" y="27"/>
                        </a:cubicBezTo>
                        <a:cubicBezTo>
                          <a:pt x="307" y="23"/>
                          <a:pt x="324" y="6"/>
                          <a:pt x="314" y="3"/>
                        </a:cubicBezTo>
                        <a:cubicBezTo>
                          <a:pt x="304" y="0"/>
                          <a:pt x="276" y="1"/>
                          <a:pt x="251" y="12"/>
                        </a:cubicBezTo>
                        <a:cubicBezTo>
                          <a:pt x="226" y="23"/>
                          <a:pt x="186" y="56"/>
                          <a:pt x="162" y="68"/>
                        </a:cubicBezTo>
                        <a:cubicBezTo>
                          <a:pt x="138" y="80"/>
                          <a:pt x="121" y="73"/>
                          <a:pt x="110" y="83"/>
                        </a:cubicBezTo>
                        <a:cubicBezTo>
                          <a:pt x="99" y="93"/>
                          <a:pt x="105" y="115"/>
                          <a:pt x="95" y="126"/>
                        </a:cubicBezTo>
                        <a:cubicBezTo>
                          <a:pt x="85" y="137"/>
                          <a:pt x="57" y="144"/>
                          <a:pt x="53" y="150"/>
                        </a:cubicBezTo>
                        <a:cubicBezTo>
                          <a:pt x="49" y="156"/>
                          <a:pt x="68" y="156"/>
                          <a:pt x="71" y="162"/>
                        </a:cubicBezTo>
                        <a:cubicBezTo>
                          <a:pt x="74" y="168"/>
                          <a:pt x="74" y="181"/>
                          <a:pt x="71" y="188"/>
                        </a:cubicBezTo>
                        <a:cubicBezTo>
                          <a:pt x="68" y="195"/>
                          <a:pt x="62" y="197"/>
                          <a:pt x="51" y="204"/>
                        </a:cubicBezTo>
                        <a:cubicBezTo>
                          <a:pt x="40" y="211"/>
                          <a:pt x="8" y="224"/>
                          <a:pt x="5" y="233"/>
                        </a:cubicBezTo>
                        <a:cubicBezTo>
                          <a:pt x="0" y="237"/>
                          <a:pt x="24" y="253"/>
                          <a:pt x="32" y="258"/>
                        </a:cubicBezTo>
                        <a:cubicBezTo>
                          <a:pt x="40" y="263"/>
                          <a:pt x="55" y="260"/>
                          <a:pt x="56" y="264"/>
                        </a:cubicBezTo>
                        <a:cubicBezTo>
                          <a:pt x="57" y="268"/>
                          <a:pt x="44" y="277"/>
                          <a:pt x="38" y="281"/>
                        </a:cubicBezTo>
                        <a:cubicBezTo>
                          <a:pt x="32" y="285"/>
                          <a:pt x="16" y="283"/>
                          <a:pt x="18" y="290"/>
                        </a:cubicBezTo>
                        <a:cubicBezTo>
                          <a:pt x="20" y="302"/>
                          <a:pt x="41" y="322"/>
                          <a:pt x="50" y="326"/>
                        </a:cubicBezTo>
                        <a:cubicBezTo>
                          <a:pt x="59" y="330"/>
                          <a:pt x="61" y="319"/>
                          <a:pt x="71" y="316"/>
                        </a:cubicBezTo>
                        <a:cubicBezTo>
                          <a:pt x="78" y="306"/>
                          <a:pt x="109" y="324"/>
                          <a:pt x="111" y="309"/>
                        </a:cubicBezTo>
                        <a:cubicBezTo>
                          <a:pt x="109" y="281"/>
                          <a:pt x="154" y="377"/>
                          <a:pt x="143" y="360"/>
                        </a:cubicBezTo>
                        <a:cubicBezTo>
                          <a:pt x="148" y="376"/>
                          <a:pt x="140" y="378"/>
                          <a:pt x="143" y="386"/>
                        </a:cubicBezTo>
                        <a:cubicBezTo>
                          <a:pt x="144" y="395"/>
                          <a:pt x="150" y="403"/>
                          <a:pt x="149" y="413"/>
                        </a:cubicBezTo>
                        <a:cubicBezTo>
                          <a:pt x="148" y="423"/>
                          <a:pt x="136" y="441"/>
                          <a:pt x="138" y="444"/>
                        </a:cubicBezTo>
                        <a:cubicBezTo>
                          <a:pt x="140" y="447"/>
                          <a:pt x="154" y="430"/>
                          <a:pt x="162" y="434"/>
                        </a:cubicBezTo>
                        <a:cubicBezTo>
                          <a:pt x="170" y="438"/>
                          <a:pt x="184" y="463"/>
                          <a:pt x="183" y="467"/>
                        </a:cubicBezTo>
                        <a:cubicBezTo>
                          <a:pt x="182" y="471"/>
                          <a:pt x="165" y="444"/>
                          <a:pt x="156" y="459"/>
                        </a:cubicBezTo>
                        <a:cubicBezTo>
                          <a:pt x="147" y="474"/>
                          <a:pt x="176" y="475"/>
                          <a:pt x="177" y="486"/>
                        </a:cubicBezTo>
                        <a:cubicBezTo>
                          <a:pt x="176" y="498"/>
                          <a:pt x="153" y="511"/>
                          <a:pt x="153" y="533"/>
                        </a:cubicBezTo>
                        <a:cubicBezTo>
                          <a:pt x="153" y="555"/>
                          <a:pt x="169" y="601"/>
                          <a:pt x="176" y="620"/>
                        </a:cubicBezTo>
                        <a:cubicBezTo>
                          <a:pt x="183" y="639"/>
                          <a:pt x="186" y="643"/>
                          <a:pt x="197" y="650"/>
                        </a:cubicBezTo>
                        <a:cubicBezTo>
                          <a:pt x="208" y="657"/>
                          <a:pt x="230" y="668"/>
                          <a:pt x="239" y="663"/>
                        </a:cubicBezTo>
                        <a:cubicBezTo>
                          <a:pt x="248" y="658"/>
                          <a:pt x="245" y="634"/>
                          <a:pt x="251" y="618"/>
                        </a:cubicBezTo>
                        <a:cubicBezTo>
                          <a:pt x="257" y="602"/>
                          <a:pt x="263" y="585"/>
                          <a:pt x="276" y="569"/>
                        </a:cubicBezTo>
                        <a:cubicBezTo>
                          <a:pt x="289" y="553"/>
                          <a:pt x="309" y="540"/>
                          <a:pt x="329" y="524"/>
                        </a:cubicBezTo>
                        <a:cubicBezTo>
                          <a:pt x="349" y="508"/>
                          <a:pt x="391" y="480"/>
                          <a:pt x="396" y="471"/>
                        </a:cubicBezTo>
                        <a:cubicBezTo>
                          <a:pt x="401" y="462"/>
                          <a:pt x="361" y="470"/>
                          <a:pt x="356" y="468"/>
                        </a:cubicBezTo>
                        <a:cubicBezTo>
                          <a:pt x="351" y="466"/>
                          <a:pt x="366" y="464"/>
                          <a:pt x="368" y="459"/>
                        </a:cubicBezTo>
                        <a:cubicBezTo>
                          <a:pt x="370" y="454"/>
                          <a:pt x="365" y="439"/>
                          <a:pt x="371" y="438"/>
                        </a:cubicBezTo>
                        <a:cubicBezTo>
                          <a:pt x="377" y="437"/>
                          <a:pt x="401" y="460"/>
                          <a:pt x="404" y="455"/>
                        </a:cubicBezTo>
                        <a:cubicBezTo>
                          <a:pt x="407" y="450"/>
                          <a:pt x="389" y="424"/>
                          <a:pt x="390" y="410"/>
                        </a:cubicBezTo>
                        <a:cubicBezTo>
                          <a:pt x="391" y="396"/>
                          <a:pt x="403" y="381"/>
                          <a:pt x="410" y="369"/>
                        </a:cubicBezTo>
                        <a:cubicBezTo>
                          <a:pt x="417" y="357"/>
                          <a:pt x="434" y="351"/>
                          <a:pt x="434" y="341"/>
                        </a:cubicBezTo>
                        <a:cubicBezTo>
                          <a:pt x="434" y="331"/>
                          <a:pt x="420" y="313"/>
                          <a:pt x="413" y="309"/>
                        </a:cubicBezTo>
                        <a:cubicBezTo>
                          <a:pt x="406" y="305"/>
                          <a:pt x="393" y="322"/>
                          <a:pt x="389" y="317"/>
                        </a:cubicBezTo>
                        <a:cubicBezTo>
                          <a:pt x="385" y="312"/>
                          <a:pt x="391" y="289"/>
                          <a:pt x="389" y="281"/>
                        </a:cubicBezTo>
                        <a:cubicBezTo>
                          <a:pt x="387" y="273"/>
                          <a:pt x="378" y="272"/>
                          <a:pt x="375" y="27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4" name="Freeform 151"/>
                  <p:cNvSpPr>
                    <a:spLocks/>
                  </p:cNvSpPr>
                  <p:nvPr/>
                </p:nvSpPr>
                <p:spPr bwMode="gray">
                  <a:xfrm>
                    <a:off x="3947" y="1197"/>
                    <a:ext cx="116" cy="124"/>
                  </a:xfrm>
                  <a:custGeom>
                    <a:avLst/>
                    <a:gdLst/>
                    <a:ahLst/>
                    <a:cxnLst>
                      <a:cxn ang="0">
                        <a:pos x="15" y="9"/>
                      </a:cxn>
                      <a:cxn ang="0">
                        <a:pos x="19" y="37"/>
                      </a:cxn>
                      <a:cxn ang="0">
                        <a:pos x="7" y="66"/>
                      </a:cxn>
                      <a:cxn ang="0">
                        <a:pos x="9" y="97"/>
                      </a:cxn>
                      <a:cxn ang="0">
                        <a:pos x="34" y="120"/>
                      </a:cxn>
                      <a:cxn ang="0">
                        <a:pos x="66" y="72"/>
                      </a:cxn>
                      <a:cxn ang="0">
                        <a:pos x="112" y="37"/>
                      </a:cxn>
                      <a:cxn ang="0">
                        <a:pos x="88" y="13"/>
                      </a:cxn>
                      <a:cxn ang="0">
                        <a:pos x="70" y="18"/>
                      </a:cxn>
                      <a:cxn ang="0">
                        <a:pos x="48" y="1"/>
                      </a:cxn>
                      <a:cxn ang="0">
                        <a:pos x="15" y="9"/>
                      </a:cxn>
                    </a:cxnLst>
                    <a:rect l="0" t="0" r="r" b="b"/>
                    <a:pathLst>
                      <a:path w="116" h="124">
                        <a:moveTo>
                          <a:pt x="15" y="9"/>
                        </a:moveTo>
                        <a:cubicBezTo>
                          <a:pt x="10" y="18"/>
                          <a:pt x="24" y="29"/>
                          <a:pt x="19" y="37"/>
                        </a:cubicBezTo>
                        <a:cubicBezTo>
                          <a:pt x="13" y="27"/>
                          <a:pt x="13" y="58"/>
                          <a:pt x="7" y="66"/>
                        </a:cubicBezTo>
                        <a:cubicBezTo>
                          <a:pt x="4" y="84"/>
                          <a:pt x="0" y="91"/>
                          <a:pt x="9" y="97"/>
                        </a:cubicBezTo>
                        <a:cubicBezTo>
                          <a:pt x="16" y="103"/>
                          <a:pt x="25" y="124"/>
                          <a:pt x="34" y="120"/>
                        </a:cubicBezTo>
                        <a:cubicBezTo>
                          <a:pt x="43" y="116"/>
                          <a:pt x="53" y="86"/>
                          <a:pt x="66" y="72"/>
                        </a:cubicBezTo>
                        <a:cubicBezTo>
                          <a:pt x="69" y="62"/>
                          <a:pt x="112" y="37"/>
                          <a:pt x="112" y="37"/>
                        </a:cubicBezTo>
                        <a:cubicBezTo>
                          <a:pt x="116" y="29"/>
                          <a:pt x="95" y="16"/>
                          <a:pt x="88" y="13"/>
                        </a:cubicBezTo>
                        <a:cubicBezTo>
                          <a:pt x="81" y="10"/>
                          <a:pt x="77" y="20"/>
                          <a:pt x="70" y="18"/>
                        </a:cubicBezTo>
                        <a:cubicBezTo>
                          <a:pt x="63" y="16"/>
                          <a:pt x="57" y="2"/>
                          <a:pt x="48" y="1"/>
                        </a:cubicBezTo>
                        <a:cubicBezTo>
                          <a:pt x="39" y="8"/>
                          <a:pt x="20" y="0"/>
                          <a:pt x="15" y="9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5" name="Freeform 152"/>
                  <p:cNvSpPr>
                    <a:spLocks/>
                  </p:cNvSpPr>
                  <p:nvPr/>
                </p:nvSpPr>
                <p:spPr bwMode="gray">
                  <a:xfrm>
                    <a:off x="4195" y="1078"/>
                    <a:ext cx="86" cy="103"/>
                  </a:xfrm>
                  <a:custGeom>
                    <a:avLst/>
                    <a:gdLst/>
                    <a:ahLst/>
                    <a:cxnLst>
                      <a:cxn ang="0">
                        <a:pos x="52" y="35"/>
                      </a:cxn>
                      <a:cxn ang="0">
                        <a:pos x="19" y="6"/>
                      </a:cxn>
                      <a:cxn ang="0">
                        <a:pos x="12" y="38"/>
                      </a:cxn>
                      <a:cxn ang="0">
                        <a:pos x="34" y="51"/>
                      </a:cxn>
                      <a:cxn ang="0">
                        <a:pos x="48" y="72"/>
                      </a:cxn>
                      <a:cxn ang="0">
                        <a:pos x="70" y="91"/>
                      </a:cxn>
                      <a:cxn ang="0">
                        <a:pos x="68" y="51"/>
                      </a:cxn>
                      <a:cxn ang="0">
                        <a:pos x="83" y="21"/>
                      </a:cxn>
                      <a:cxn ang="0">
                        <a:pos x="50" y="0"/>
                      </a:cxn>
                      <a:cxn ang="0">
                        <a:pos x="52" y="35"/>
                      </a:cxn>
                    </a:cxnLst>
                    <a:rect l="0" t="0" r="r" b="b"/>
                    <a:pathLst>
                      <a:path w="86" h="103">
                        <a:moveTo>
                          <a:pt x="52" y="35"/>
                        </a:moveTo>
                        <a:cubicBezTo>
                          <a:pt x="34" y="49"/>
                          <a:pt x="35" y="20"/>
                          <a:pt x="19" y="6"/>
                        </a:cubicBezTo>
                        <a:cubicBezTo>
                          <a:pt x="0" y="10"/>
                          <a:pt x="17" y="0"/>
                          <a:pt x="12" y="38"/>
                        </a:cubicBezTo>
                        <a:cubicBezTo>
                          <a:pt x="13" y="48"/>
                          <a:pt x="28" y="45"/>
                          <a:pt x="34" y="51"/>
                        </a:cubicBezTo>
                        <a:cubicBezTo>
                          <a:pt x="40" y="57"/>
                          <a:pt x="42" y="65"/>
                          <a:pt x="48" y="72"/>
                        </a:cubicBezTo>
                        <a:cubicBezTo>
                          <a:pt x="57" y="96"/>
                          <a:pt x="56" y="103"/>
                          <a:pt x="70" y="91"/>
                        </a:cubicBezTo>
                        <a:cubicBezTo>
                          <a:pt x="75" y="72"/>
                          <a:pt x="62" y="68"/>
                          <a:pt x="68" y="51"/>
                        </a:cubicBezTo>
                        <a:cubicBezTo>
                          <a:pt x="67" y="42"/>
                          <a:pt x="86" y="29"/>
                          <a:pt x="83" y="21"/>
                        </a:cubicBezTo>
                        <a:cubicBezTo>
                          <a:pt x="80" y="9"/>
                          <a:pt x="50" y="0"/>
                          <a:pt x="50" y="0"/>
                        </a:cubicBezTo>
                        <a:cubicBezTo>
                          <a:pt x="43" y="7"/>
                          <a:pt x="48" y="13"/>
                          <a:pt x="52" y="3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6" name="Freeform 153"/>
                  <p:cNvSpPr>
                    <a:spLocks/>
                  </p:cNvSpPr>
                  <p:nvPr/>
                </p:nvSpPr>
                <p:spPr bwMode="gray">
                  <a:xfrm>
                    <a:off x="4243" y="912"/>
                    <a:ext cx="86" cy="117"/>
                  </a:xfrm>
                  <a:custGeom>
                    <a:avLst/>
                    <a:gdLst/>
                    <a:ahLst/>
                    <a:cxnLst>
                      <a:cxn ang="0">
                        <a:pos x="40" y="25"/>
                      </a:cxn>
                      <a:cxn ang="0">
                        <a:pos x="23" y="7"/>
                      </a:cxn>
                      <a:cxn ang="0">
                        <a:pos x="1" y="10"/>
                      </a:cxn>
                      <a:cxn ang="0">
                        <a:pos x="19" y="39"/>
                      </a:cxn>
                      <a:cxn ang="0">
                        <a:pos x="41" y="70"/>
                      </a:cxn>
                      <a:cxn ang="0">
                        <a:pos x="62" y="79"/>
                      </a:cxn>
                      <a:cxn ang="0">
                        <a:pos x="83" y="108"/>
                      </a:cxn>
                      <a:cxn ang="0">
                        <a:pos x="82" y="69"/>
                      </a:cxn>
                      <a:cxn ang="0">
                        <a:pos x="83" y="27"/>
                      </a:cxn>
                      <a:cxn ang="0">
                        <a:pos x="65" y="45"/>
                      </a:cxn>
                      <a:cxn ang="0">
                        <a:pos x="62" y="19"/>
                      </a:cxn>
                      <a:cxn ang="0">
                        <a:pos x="47" y="13"/>
                      </a:cxn>
                      <a:cxn ang="0">
                        <a:pos x="40" y="25"/>
                      </a:cxn>
                    </a:cxnLst>
                    <a:rect l="0" t="0" r="r" b="b"/>
                    <a:pathLst>
                      <a:path w="86" h="117">
                        <a:moveTo>
                          <a:pt x="40" y="25"/>
                        </a:moveTo>
                        <a:cubicBezTo>
                          <a:pt x="37" y="30"/>
                          <a:pt x="26" y="0"/>
                          <a:pt x="23" y="7"/>
                        </a:cubicBezTo>
                        <a:cubicBezTo>
                          <a:pt x="17" y="5"/>
                          <a:pt x="2" y="5"/>
                          <a:pt x="1" y="10"/>
                        </a:cubicBezTo>
                        <a:cubicBezTo>
                          <a:pt x="0" y="15"/>
                          <a:pt x="12" y="29"/>
                          <a:pt x="19" y="39"/>
                        </a:cubicBezTo>
                        <a:cubicBezTo>
                          <a:pt x="25" y="47"/>
                          <a:pt x="34" y="63"/>
                          <a:pt x="41" y="70"/>
                        </a:cubicBezTo>
                        <a:cubicBezTo>
                          <a:pt x="48" y="77"/>
                          <a:pt x="55" y="73"/>
                          <a:pt x="62" y="79"/>
                        </a:cubicBezTo>
                        <a:cubicBezTo>
                          <a:pt x="71" y="79"/>
                          <a:pt x="79" y="117"/>
                          <a:pt x="83" y="108"/>
                        </a:cubicBezTo>
                        <a:cubicBezTo>
                          <a:pt x="86" y="106"/>
                          <a:pt x="82" y="82"/>
                          <a:pt x="82" y="69"/>
                        </a:cubicBezTo>
                        <a:cubicBezTo>
                          <a:pt x="82" y="56"/>
                          <a:pt x="86" y="31"/>
                          <a:pt x="83" y="27"/>
                        </a:cubicBezTo>
                        <a:cubicBezTo>
                          <a:pt x="80" y="19"/>
                          <a:pt x="74" y="47"/>
                          <a:pt x="65" y="45"/>
                        </a:cubicBezTo>
                        <a:cubicBezTo>
                          <a:pt x="62" y="44"/>
                          <a:pt x="65" y="24"/>
                          <a:pt x="62" y="19"/>
                        </a:cubicBezTo>
                        <a:cubicBezTo>
                          <a:pt x="59" y="14"/>
                          <a:pt x="51" y="12"/>
                          <a:pt x="47" y="13"/>
                        </a:cubicBezTo>
                        <a:cubicBezTo>
                          <a:pt x="43" y="14"/>
                          <a:pt x="43" y="20"/>
                          <a:pt x="40" y="2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7" name="Freeform 154"/>
                  <p:cNvSpPr>
                    <a:spLocks/>
                  </p:cNvSpPr>
                  <p:nvPr/>
                </p:nvSpPr>
                <p:spPr bwMode="gray">
                  <a:xfrm>
                    <a:off x="4074" y="1134"/>
                    <a:ext cx="117" cy="103"/>
                  </a:xfrm>
                  <a:custGeom>
                    <a:avLst/>
                    <a:gdLst/>
                    <a:ahLst/>
                    <a:cxnLst>
                      <a:cxn ang="0">
                        <a:pos x="17" y="25"/>
                      </a:cxn>
                      <a:cxn ang="0">
                        <a:pos x="7" y="51"/>
                      </a:cxn>
                      <a:cxn ang="0">
                        <a:pos x="18" y="80"/>
                      </a:cxn>
                      <a:cxn ang="0">
                        <a:pos x="57" y="75"/>
                      </a:cxn>
                      <a:cxn ang="0">
                        <a:pos x="23" y="99"/>
                      </a:cxn>
                      <a:cxn ang="0">
                        <a:pos x="53" y="100"/>
                      </a:cxn>
                      <a:cxn ang="0">
                        <a:pos x="80" y="81"/>
                      </a:cxn>
                      <a:cxn ang="0">
                        <a:pos x="107" y="78"/>
                      </a:cxn>
                      <a:cxn ang="0">
                        <a:pos x="117" y="51"/>
                      </a:cxn>
                      <a:cxn ang="0">
                        <a:pos x="93" y="51"/>
                      </a:cxn>
                      <a:cxn ang="0">
                        <a:pos x="83" y="6"/>
                      </a:cxn>
                      <a:cxn ang="0">
                        <a:pos x="66" y="16"/>
                      </a:cxn>
                      <a:cxn ang="0">
                        <a:pos x="59" y="49"/>
                      </a:cxn>
                      <a:cxn ang="0">
                        <a:pos x="44" y="28"/>
                      </a:cxn>
                      <a:cxn ang="0">
                        <a:pos x="17" y="25"/>
                      </a:cxn>
                    </a:cxnLst>
                    <a:rect l="0" t="0" r="r" b="b"/>
                    <a:pathLst>
                      <a:path w="117" h="103">
                        <a:moveTo>
                          <a:pt x="17" y="25"/>
                        </a:moveTo>
                        <a:cubicBezTo>
                          <a:pt x="9" y="35"/>
                          <a:pt x="15" y="41"/>
                          <a:pt x="7" y="51"/>
                        </a:cubicBezTo>
                        <a:cubicBezTo>
                          <a:pt x="0" y="75"/>
                          <a:pt x="10" y="74"/>
                          <a:pt x="18" y="80"/>
                        </a:cubicBezTo>
                        <a:cubicBezTo>
                          <a:pt x="24" y="85"/>
                          <a:pt x="42" y="75"/>
                          <a:pt x="57" y="75"/>
                        </a:cubicBezTo>
                        <a:cubicBezTo>
                          <a:pt x="58" y="78"/>
                          <a:pt x="24" y="95"/>
                          <a:pt x="23" y="99"/>
                        </a:cubicBezTo>
                        <a:cubicBezTo>
                          <a:pt x="22" y="103"/>
                          <a:pt x="44" y="103"/>
                          <a:pt x="53" y="100"/>
                        </a:cubicBezTo>
                        <a:cubicBezTo>
                          <a:pt x="62" y="97"/>
                          <a:pt x="71" y="85"/>
                          <a:pt x="80" y="81"/>
                        </a:cubicBezTo>
                        <a:cubicBezTo>
                          <a:pt x="89" y="77"/>
                          <a:pt x="101" y="83"/>
                          <a:pt x="107" y="78"/>
                        </a:cubicBezTo>
                        <a:cubicBezTo>
                          <a:pt x="111" y="75"/>
                          <a:pt x="117" y="51"/>
                          <a:pt x="117" y="51"/>
                        </a:cubicBezTo>
                        <a:cubicBezTo>
                          <a:pt x="116" y="42"/>
                          <a:pt x="99" y="58"/>
                          <a:pt x="93" y="51"/>
                        </a:cubicBezTo>
                        <a:cubicBezTo>
                          <a:pt x="87" y="44"/>
                          <a:pt x="88" y="12"/>
                          <a:pt x="83" y="6"/>
                        </a:cubicBezTo>
                        <a:cubicBezTo>
                          <a:pt x="78" y="0"/>
                          <a:pt x="70" y="9"/>
                          <a:pt x="66" y="16"/>
                        </a:cubicBezTo>
                        <a:cubicBezTo>
                          <a:pt x="62" y="23"/>
                          <a:pt x="63" y="47"/>
                          <a:pt x="59" y="49"/>
                        </a:cubicBezTo>
                        <a:cubicBezTo>
                          <a:pt x="55" y="51"/>
                          <a:pt x="51" y="32"/>
                          <a:pt x="44" y="28"/>
                        </a:cubicBezTo>
                        <a:cubicBezTo>
                          <a:pt x="37" y="24"/>
                          <a:pt x="23" y="26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8" name="Freeform 155"/>
                  <p:cNvSpPr>
                    <a:spLocks/>
                  </p:cNvSpPr>
                  <p:nvPr/>
                </p:nvSpPr>
                <p:spPr bwMode="gray">
                  <a:xfrm>
                    <a:off x="4423" y="2366"/>
                    <a:ext cx="144" cy="55"/>
                  </a:xfrm>
                  <a:custGeom>
                    <a:avLst/>
                    <a:gdLst/>
                    <a:ahLst/>
                    <a:cxnLst>
                      <a:cxn ang="0">
                        <a:pos x="4" y="8"/>
                      </a:cxn>
                      <a:cxn ang="0">
                        <a:pos x="10" y="25"/>
                      </a:cxn>
                      <a:cxn ang="0">
                        <a:pos x="37" y="20"/>
                      </a:cxn>
                      <a:cxn ang="0">
                        <a:pos x="86" y="40"/>
                      </a:cxn>
                      <a:cxn ang="0">
                        <a:pos x="95" y="55"/>
                      </a:cxn>
                      <a:cxn ang="0">
                        <a:pos x="137" y="53"/>
                      </a:cxn>
                      <a:cxn ang="0">
                        <a:pos x="137" y="43"/>
                      </a:cxn>
                      <a:cxn ang="0">
                        <a:pos x="110" y="25"/>
                      </a:cxn>
                      <a:cxn ang="0">
                        <a:pos x="92" y="24"/>
                      </a:cxn>
                      <a:cxn ang="0">
                        <a:pos x="56" y="4"/>
                      </a:cxn>
                      <a:cxn ang="0">
                        <a:pos x="34" y="2"/>
                      </a:cxn>
                      <a:cxn ang="0">
                        <a:pos x="4" y="8"/>
                      </a:cxn>
                    </a:cxnLst>
                    <a:rect l="0" t="0" r="r" b="b"/>
                    <a:pathLst>
                      <a:path w="144" h="55">
                        <a:moveTo>
                          <a:pt x="4" y="8"/>
                        </a:moveTo>
                        <a:cubicBezTo>
                          <a:pt x="0" y="12"/>
                          <a:pt x="5" y="23"/>
                          <a:pt x="10" y="25"/>
                        </a:cubicBezTo>
                        <a:cubicBezTo>
                          <a:pt x="15" y="27"/>
                          <a:pt x="24" y="18"/>
                          <a:pt x="37" y="20"/>
                        </a:cubicBezTo>
                        <a:cubicBezTo>
                          <a:pt x="47" y="23"/>
                          <a:pt x="74" y="35"/>
                          <a:pt x="86" y="40"/>
                        </a:cubicBezTo>
                        <a:cubicBezTo>
                          <a:pt x="96" y="46"/>
                          <a:pt x="87" y="53"/>
                          <a:pt x="95" y="55"/>
                        </a:cubicBezTo>
                        <a:cubicBezTo>
                          <a:pt x="102" y="49"/>
                          <a:pt x="130" y="55"/>
                          <a:pt x="137" y="53"/>
                        </a:cubicBezTo>
                        <a:cubicBezTo>
                          <a:pt x="144" y="51"/>
                          <a:pt x="141" y="48"/>
                          <a:pt x="137" y="43"/>
                        </a:cubicBezTo>
                        <a:cubicBezTo>
                          <a:pt x="133" y="38"/>
                          <a:pt x="117" y="28"/>
                          <a:pt x="110" y="25"/>
                        </a:cubicBezTo>
                        <a:cubicBezTo>
                          <a:pt x="103" y="20"/>
                          <a:pt x="98" y="27"/>
                          <a:pt x="92" y="24"/>
                        </a:cubicBezTo>
                        <a:cubicBezTo>
                          <a:pt x="83" y="20"/>
                          <a:pt x="66" y="8"/>
                          <a:pt x="56" y="4"/>
                        </a:cubicBezTo>
                        <a:cubicBezTo>
                          <a:pt x="46" y="0"/>
                          <a:pt x="43" y="1"/>
                          <a:pt x="34" y="2"/>
                        </a:cubicBezTo>
                        <a:cubicBezTo>
                          <a:pt x="25" y="3"/>
                          <a:pt x="10" y="7"/>
                          <a:pt x="4" y="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9" name="Freeform 156"/>
                  <p:cNvSpPr>
                    <a:spLocks/>
                  </p:cNvSpPr>
                  <p:nvPr/>
                </p:nvSpPr>
                <p:spPr bwMode="gray">
                  <a:xfrm>
                    <a:off x="4559" y="2411"/>
                    <a:ext cx="84" cy="43"/>
                  </a:xfrm>
                  <a:custGeom>
                    <a:avLst/>
                    <a:gdLst/>
                    <a:ahLst/>
                    <a:cxnLst>
                      <a:cxn ang="0">
                        <a:pos x="10" y="4"/>
                      </a:cxn>
                      <a:cxn ang="0">
                        <a:pos x="28" y="16"/>
                      </a:cxn>
                      <a:cxn ang="0">
                        <a:pos x="7" y="16"/>
                      </a:cxn>
                      <a:cxn ang="0">
                        <a:pos x="1" y="28"/>
                      </a:cxn>
                      <a:cxn ang="0">
                        <a:pos x="16" y="26"/>
                      </a:cxn>
                      <a:cxn ang="0">
                        <a:pos x="37" y="40"/>
                      </a:cxn>
                      <a:cxn ang="0">
                        <a:pos x="70" y="31"/>
                      </a:cxn>
                      <a:cxn ang="0">
                        <a:pos x="81" y="20"/>
                      </a:cxn>
                      <a:cxn ang="0">
                        <a:pos x="52" y="8"/>
                      </a:cxn>
                      <a:cxn ang="0">
                        <a:pos x="36" y="1"/>
                      </a:cxn>
                      <a:cxn ang="0">
                        <a:pos x="10" y="4"/>
                      </a:cxn>
                    </a:cxnLst>
                    <a:rect l="0" t="0" r="r" b="b"/>
                    <a:pathLst>
                      <a:path w="84" h="43">
                        <a:moveTo>
                          <a:pt x="10" y="4"/>
                        </a:moveTo>
                        <a:cubicBezTo>
                          <a:pt x="9" y="6"/>
                          <a:pt x="29" y="14"/>
                          <a:pt x="28" y="16"/>
                        </a:cubicBezTo>
                        <a:cubicBezTo>
                          <a:pt x="27" y="18"/>
                          <a:pt x="11" y="14"/>
                          <a:pt x="7" y="16"/>
                        </a:cubicBezTo>
                        <a:cubicBezTo>
                          <a:pt x="3" y="18"/>
                          <a:pt x="0" y="26"/>
                          <a:pt x="1" y="28"/>
                        </a:cubicBezTo>
                        <a:cubicBezTo>
                          <a:pt x="2" y="30"/>
                          <a:pt x="10" y="24"/>
                          <a:pt x="16" y="26"/>
                        </a:cubicBezTo>
                        <a:cubicBezTo>
                          <a:pt x="22" y="28"/>
                          <a:pt x="28" y="39"/>
                          <a:pt x="37" y="40"/>
                        </a:cubicBezTo>
                        <a:cubicBezTo>
                          <a:pt x="47" y="43"/>
                          <a:pt x="61" y="35"/>
                          <a:pt x="70" y="31"/>
                        </a:cubicBezTo>
                        <a:cubicBezTo>
                          <a:pt x="77" y="28"/>
                          <a:pt x="84" y="24"/>
                          <a:pt x="81" y="20"/>
                        </a:cubicBezTo>
                        <a:cubicBezTo>
                          <a:pt x="78" y="16"/>
                          <a:pt x="59" y="11"/>
                          <a:pt x="52" y="8"/>
                        </a:cubicBezTo>
                        <a:cubicBezTo>
                          <a:pt x="45" y="5"/>
                          <a:pt x="43" y="2"/>
                          <a:pt x="36" y="1"/>
                        </a:cubicBezTo>
                        <a:cubicBezTo>
                          <a:pt x="29" y="0"/>
                          <a:pt x="15" y="3"/>
                          <a:pt x="10" y="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0000"/>
                    </a:srgbClr>
                  </a:solidFill>
                  <a:ln w="317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</p:grpSp>
          <p:grpSp>
            <p:nvGrpSpPr>
              <p:cNvPr id="39" name="Group 157"/>
              <p:cNvGrpSpPr>
                <a:grpSpLocks/>
              </p:cNvGrpSpPr>
              <p:nvPr/>
            </p:nvGrpSpPr>
            <p:grpSpPr bwMode="auto">
              <a:xfrm>
                <a:off x="106" y="1979"/>
                <a:ext cx="5654" cy="1667"/>
                <a:chOff x="106" y="1797"/>
                <a:chExt cx="5654" cy="1667"/>
              </a:xfrm>
            </p:grpSpPr>
            <p:pic>
              <p:nvPicPr>
                <p:cNvPr id="53" name="Picture 158" descr="10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gray">
                <a:xfrm>
                  <a:off x="106" y="1797"/>
                  <a:ext cx="5654" cy="1667"/>
                </a:xfrm>
                <a:prstGeom prst="rect">
                  <a:avLst/>
                </a:prstGeom>
                <a:noFill/>
              </p:spPr>
            </p:pic>
            <p:pic>
              <p:nvPicPr>
                <p:cNvPr id="54" name="Picture 159" descr="11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gray">
                <a:xfrm>
                  <a:off x="2336" y="2205"/>
                  <a:ext cx="2943" cy="54"/>
                </a:xfrm>
                <a:prstGeom prst="rect">
                  <a:avLst/>
                </a:prstGeom>
                <a:noFill/>
              </p:spPr>
            </p:pic>
            <p:pic>
              <p:nvPicPr>
                <p:cNvPr id="55" name="Picture 160" descr="11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 r="28339" b="16667"/>
                <a:stretch>
                  <a:fillRect/>
                </a:stretch>
              </p:blipFill>
              <p:spPr bwMode="gray">
                <a:xfrm>
                  <a:off x="3651" y="2659"/>
                  <a:ext cx="2109" cy="45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40" name="Group 161"/>
              <p:cNvGrpSpPr>
                <a:grpSpLocks/>
              </p:cNvGrpSpPr>
              <p:nvPr/>
            </p:nvGrpSpPr>
            <p:grpSpPr bwMode="auto">
              <a:xfrm>
                <a:off x="96" y="1163"/>
                <a:ext cx="3627" cy="320"/>
                <a:chOff x="95" y="650"/>
                <a:chExt cx="3627" cy="411"/>
              </a:xfrm>
            </p:grpSpPr>
            <p:sp>
              <p:nvSpPr>
                <p:cNvPr id="43" name="Rectangle 162"/>
                <p:cNvSpPr>
                  <a:spLocks noChangeArrowheads="1"/>
                </p:cNvSpPr>
                <p:nvPr/>
              </p:nvSpPr>
              <p:spPr bwMode="gray">
                <a:xfrm>
                  <a:off x="95" y="836"/>
                  <a:ext cx="3627" cy="1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>
                        <a:alpha val="39999"/>
                      </a:schemeClr>
                    </a:gs>
                    <a:gs pos="100000">
                      <a:schemeClr val="accent1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45" name="Rectangle 163"/>
                <p:cNvSpPr>
                  <a:spLocks noChangeArrowheads="1"/>
                </p:cNvSpPr>
                <p:nvPr/>
              </p:nvSpPr>
              <p:spPr bwMode="gray">
                <a:xfrm>
                  <a:off x="95" y="877"/>
                  <a:ext cx="1915" cy="1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>
                        <a:alpha val="70000"/>
                      </a:schemeClr>
                    </a:gs>
                    <a:gs pos="100000">
                      <a:schemeClr val="accent1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46" name="Rectangle 164"/>
                <p:cNvSpPr>
                  <a:spLocks noChangeArrowheads="1"/>
                </p:cNvSpPr>
                <p:nvPr/>
              </p:nvSpPr>
              <p:spPr bwMode="gray">
                <a:xfrm>
                  <a:off x="95" y="952"/>
                  <a:ext cx="2267" cy="1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>
                        <a:alpha val="30000"/>
                      </a:schemeClr>
                    </a:gs>
                    <a:gs pos="100000">
                      <a:schemeClr val="accent1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47" name="Rectangle 165"/>
                <p:cNvSpPr>
                  <a:spLocks noChangeArrowheads="1"/>
                </p:cNvSpPr>
                <p:nvPr/>
              </p:nvSpPr>
              <p:spPr bwMode="gray">
                <a:xfrm>
                  <a:off x="95" y="650"/>
                  <a:ext cx="1134" cy="1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1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50" name="Rectangle 166"/>
                <p:cNvSpPr>
                  <a:spLocks noChangeArrowheads="1"/>
                </p:cNvSpPr>
                <p:nvPr/>
              </p:nvSpPr>
              <p:spPr bwMode="gray">
                <a:xfrm>
                  <a:off x="95" y="1013"/>
                  <a:ext cx="1587" cy="1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51" name="Rectangle 167"/>
                <p:cNvSpPr>
                  <a:spLocks noChangeArrowheads="1"/>
                </p:cNvSpPr>
                <p:nvPr/>
              </p:nvSpPr>
              <p:spPr bwMode="gray">
                <a:xfrm>
                  <a:off x="95" y="699"/>
                  <a:ext cx="2720" cy="1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52" name="Rectangle 168"/>
                <p:cNvSpPr>
                  <a:spLocks noChangeArrowheads="1"/>
                </p:cNvSpPr>
                <p:nvPr/>
              </p:nvSpPr>
              <p:spPr bwMode="gray">
                <a:xfrm>
                  <a:off x="95" y="1048"/>
                  <a:ext cx="680" cy="1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1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</p:grpSp>
          <p:pic>
            <p:nvPicPr>
              <p:cNvPr id="41" name="Picture 169" descr="16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 l="12523"/>
              <a:stretch>
                <a:fillRect/>
              </a:stretch>
            </p:blipFill>
            <p:spPr bwMode="gray">
              <a:xfrm>
                <a:off x="113" y="2105"/>
                <a:ext cx="5647" cy="1262"/>
              </a:xfrm>
              <a:prstGeom prst="rect">
                <a:avLst/>
              </a:prstGeom>
              <a:noFill/>
            </p:spPr>
          </p:pic>
          <p:pic>
            <p:nvPicPr>
              <p:cNvPr id="42" name="Picture 170" descr="24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gray">
              <a:xfrm>
                <a:off x="0" y="1220"/>
                <a:ext cx="2920" cy="1918"/>
              </a:xfrm>
              <a:prstGeom prst="rect">
                <a:avLst/>
              </a:prstGeom>
              <a:noFill/>
            </p:spPr>
          </p:pic>
        </p:grpSp>
        <p:sp>
          <p:nvSpPr>
            <p:cNvPr id="118" name="Rectangle 87"/>
            <p:cNvSpPr txBox="1">
              <a:spLocks noChangeArrowheads="1"/>
            </p:cNvSpPr>
            <p:nvPr/>
          </p:nvSpPr>
          <p:spPr>
            <a:xfrm>
              <a:off x="4103440" y="2467743"/>
              <a:ext cx="5005064" cy="457566"/>
            </a:xfrm>
            <a:prstGeom prst="rect">
              <a:avLst/>
            </a:prstGeom>
            <a:ln algn="ctr"/>
          </p:spPr>
          <p:txBody>
            <a:bodyPr/>
            <a:lstStyle>
              <a:lvl1pPr marL="0" indent="0" algn="r" eaLnBrk="1" hangingPunct="1">
                <a:buFontTx/>
                <a:buNone/>
                <a:defRPr sz="2200" i="1" smtClean="0"/>
              </a:lvl1pPr>
            </a:lstStyle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noProof="0" dirty="0"/>
                <a:t>http://www.awbcg.co</a:t>
              </a:r>
              <a:r>
                <a:rPr lang="en-US" altLang="ko-KR" sz="1400" b="1" dirty="0"/>
                <a:t>.</a:t>
              </a:r>
              <a:r>
                <a:rPr lang="en-US" altLang="ko-KR" sz="1400" b="1" noProof="0" dirty="0" err="1"/>
                <a:t>kr</a:t>
              </a:r>
              <a:endParaRPr kumimoji="0" lang="en-US" altLang="ko-KR" sz="1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9" name="AutoShape 151"/>
            <p:cNvSpPr>
              <a:spLocks noChangeArrowheads="1"/>
            </p:cNvSpPr>
            <p:nvPr/>
          </p:nvSpPr>
          <p:spPr bwMode="gray">
            <a:xfrm rot="10800000">
              <a:off x="146050" y="5357826"/>
              <a:ext cx="644525" cy="644525"/>
            </a:xfrm>
            <a:prstGeom prst="rtTriangle">
              <a:avLst/>
            </a:prstGeom>
            <a:gradFill flip="none" rotWithShape="1">
              <a:gsLst>
                <a:gs pos="0">
                  <a:schemeClr val="tx2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tx2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tx2">
                    <a:lumMod val="40000"/>
                    <a:lumOff val="60000"/>
                    <a:shade val="100000"/>
                    <a:satMod val="11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120" name="Rectangle 2"/>
            <p:cNvSpPr txBox="1">
              <a:spLocks noChangeArrowheads="1"/>
            </p:cNvSpPr>
            <p:nvPr/>
          </p:nvSpPr>
          <p:spPr>
            <a:xfrm>
              <a:off x="1974850" y="1060042"/>
              <a:ext cx="7097142" cy="1709828"/>
            </a:xfrm>
            <a:prstGeom prst="rect">
              <a:avLst/>
            </a:prstGeom>
          </p:spPr>
          <p:txBody>
            <a:bodyPr anchor="b"/>
            <a:lstStyle/>
            <a:p>
              <a:pPr marL="0" marR="0" lvl="0" indent="0" algn="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dirty="0">
                  <a:latin typeface="HY엽서M" pitchFamily="18" charset="-127"/>
                  <a:ea typeface="HY엽서M" pitchFamily="18" charset="-127"/>
                  <a:cs typeface="+mj-cs"/>
                </a:rPr>
                <a:t>스마트공장</a:t>
              </a:r>
              <a:r>
                <a:rPr lang="en-US" altLang="ko-KR" sz="1400" b="1" dirty="0">
                  <a:latin typeface="HY엽서M" pitchFamily="18" charset="-127"/>
                  <a:ea typeface="HY엽서M" pitchFamily="18" charset="-127"/>
                  <a:cs typeface="+mj-cs"/>
                </a:rPr>
                <a:t>/</a:t>
              </a:r>
              <a:r>
                <a:rPr lang="ko-KR" altLang="en-US" sz="1400" b="1" dirty="0" err="1">
                  <a:latin typeface="HY엽서M" pitchFamily="18" charset="-127"/>
                  <a:ea typeface="HY엽서M" pitchFamily="18" charset="-127"/>
                  <a:cs typeface="+mj-cs"/>
                </a:rPr>
                <a:t>빅데이터</a:t>
              </a:r>
              <a:r>
                <a:rPr lang="en-US" altLang="ko-KR" sz="1400" b="1" dirty="0">
                  <a:latin typeface="HY엽서M" pitchFamily="18" charset="-127"/>
                  <a:ea typeface="HY엽서M" pitchFamily="18" charset="-127"/>
                  <a:cs typeface="+mj-cs"/>
                </a:rPr>
                <a:t>/</a:t>
              </a:r>
              <a:r>
                <a:rPr lang="ko-KR" altLang="en-US" sz="1400" b="1" dirty="0">
                  <a:latin typeface="HY엽서M" pitchFamily="18" charset="-127"/>
                  <a:ea typeface="HY엽서M" pitchFamily="18" charset="-127"/>
                  <a:cs typeface="+mj-cs"/>
                </a:rPr>
                <a:t>인공지능 구축 전문 컨설팅 그룹</a:t>
              </a:r>
              <a:b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Y엽서M" pitchFamily="18" charset="-127"/>
                  <a:ea typeface="HY엽서M" pitchFamily="18" charset="-127"/>
                  <a:cs typeface="+mj-cs"/>
                </a:rPr>
              </a:br>
              <a:r>
                <a:rPr kumimoji="0" lang="en-US" altLang="ko-KR" sz="2800" b="0" i="1" u="none" strike="noStrike" kern="1200" cap="none" spc="0" normalizeH="0" baseline="0" noProof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  <a:uLnTx/>
                  <a:uFillTx/>
                  <a:latin typeface="휴먼엑스포" pitchFamily="18" charset="-127"/>
                  <a:ea typeface="휴먼엑스포" pitchFamily="18" charset="-127"/>
                  <a:cs typeface="+mj-cs"/>
                </a:rPr>
                <a:t>All Winner Brilliant Consulting Group  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017208" y="3588778"/>
            <a:ext cx="117371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영남제조기업에 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스마트공장 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구축으로 기여하자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60B3A-6D09-8A3E-16E1-29ED82F7CD1E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475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95936" y="665581"/>
            <a:ext cx="33123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기업현황</a:t>
            </a:r>
            <a:r>
              <a:rPr lang="ko-KR" altLang="en-US" sz="900" dirty="0">
                <a:solidFill>
                  <a:schemeClr val="tx1"/>
                </a:solidFill>
              </a:rPr>
              <a:t>  </a:t>
            </a:r>
            <a:r>
              <a:rPr lang="en-US" altLang="ko-KR" sz="900" dirty="0">
                <a:solidFill>
                  <a:schemeClr val="tx1"/>
                </a:solidFill>
              </a:rPr>
              <a:t>CEO</a:t>
            </a:r>
            <a:r>
              <a:rPr lang="ko-KR" altLang="en-US" sz="900" dirty="0">
                <a:solidFill>
                  <a:schemeClr val="tx1"/>
                </a:solidFill>
              </a:rPr>
              <a:t>인사말 경영비전 조직도 사업장안내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 cap="rnd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1520" y="1196752"/>
            <a:ext cx="1065356" cy="2477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ABOUT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COMPANY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회사현황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기업현황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CEO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인사말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경영비전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조직도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사업장안내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51520" y="2492896"/>
            <a:ext cx="1296144" cy="158100"/>
            <a:chOff x="251520" y="2492896"/>
            <a:chExt cx="1296144" cy="158100"/>
          </a:xfrm>
        </p:grpSpPr>
        <p:sp>
          <p:nvSpPr>
            <p:cNvPr id="4" name="대각선 방향의 모서리가 잘린 사각형 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기업현황</a:t>
              </a:r>
            </a:p>
          </p:txBody>
        </p:sp>
        <p:sp>
          <p:nvSpPr>
            <p:cNvPr id="7" name="이등변 삼각형 6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4283968" y="332656"/>
            <a:ext cx="792088" cy="367648"/>
            <a:chOff x="4427984" y="332656"/>
            <a:chExt cx="792088" cy="367648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4427984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회사현황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flipV="1">
              <a:off x="4453691" y="654585"/>
              <a:ext cx="754805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835696" y="112474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atin typeface="HY얕은샘물M" pitchFamily="18" charset="-127"/>
                <a:ea typeface="HY얕은샘물M" pitchFamily="18" charset="-127"/>
              </a:rPr>
              <a:t>기업현황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회사현황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기업현황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3" name="순서도: 화면 표시 12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051720" y="1969670"/>
            <a:ext cx="626469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맑은 고딕" pitchFamily="50" charset="-127"/>
              <a:buChar char="▣"/>
            </a:pPr>
            <a:r>
              <a:rPr lang="en-US" altLang="ko-KR" sz="1200" b="1" dirty="0">
                <a:latin typeface="+mn-ea"/>
              </a:rPr>
              <a:t>2019</a:t>
            </a:r>
            <a:r>
              <a:rPr lang="ko-KR" altLang="en-US" sz="1200" b="1" dirty="0">
                <a:latin typeface="+mn-ea"/>
              </a:rPr>
              <a:t>년   </a:t>
            </a:r>
            <a:r>
              <a:rPr lang="en-US" altLang="ko-KR" sz="1200" b="1" dirty="0">
                <a:latin typeface="+mn-ea"/>
              </a:rPr>
              <a:t>04</a:t>
            </a:r>
            <a:r>
              <a:rPr lang="ko-KR" altLang="en-US" sz="1200" b="1" dirty="0">
                <a:latin typeface="+mn-ea"/>
              </a:rPr>
              <a:t>월   </a:t>
            </a:r>
            <a:r>
              <a:rPr lang="en-US" altLang="ko-KR" sz="1200" b="1" dirty="0">
                <a:latin typeface="+mn-ea"/>
              </a:rPr>
              <a:t>:  </a:t>
            </a:r>
            <a:r>
              <a:rPr lang="ko-KR" altLang="en-US" sz="1200" b="1" dirty="0">
                <a:latin typeface="+mn-ea"/>
              </a:rPr>
              <a:t>법인설립</a:t>
            </a:r>
            <a:endParaRPr lang="en-US" altLang="ko-KR" sz="1200" b="1" dirty="0">
              <a:latin typeface="+mn-ea"/>
            </a:endParaRPr>
          </a:p>
          <a:p>
            <a:r>
              <a:rPr lang="en-US" altLang="ko-KR" sz="1200" b="1" dirty="0">
                <a:latin typeface="+mn-ea"/>
              </a:rPr>
              <a:t>                  07</a:t>
            </a:r>
            <a:r>
              <a:rPr lang="ko-KR" altLang="en-US" sz="1200" b="1" dirty="0">
                <a:latin typeface="+mn-ea"/>
              </a:rPr>
              <a:t>월  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latin typeface="+mn-ea"/>
              </a:rPr>
              <a:t>㈜</a:t>
            </a:r>
            <a:r>
              <a:rPr lang="ko-KR" altLang="en-US" sz="1200" b="1" dirty="0" err="1">
                <a:latin typeface="+mn-ea"/>
              </a:rPr>
              <a:t>코렌스</a:t>
            </a:r>
            <a:r>
              <a:rPr lang="ko-KR" altLang="en-US" sz="1200" b="1" dirty="0">
                <a:latin typeface="+mn-ea"/>
              </a:rPr>
              <a:t> 스마트공장 시범공장 </a:t>
            </a:r>
            <a:r>
              <a:rPr lang="ko-KR" altLang="en-US" sz="1200" b="1" dirty="0" err="1">
                <a:latin typeface="+mn-ea"/>
              </a:rPr>
              <a:t>스마트팩토리</a:t>
            </a:r>
            <a:r>
              <a:rPr lang="ko-KR" altLang="en-US" sz="1200" b="1" dirty="0">
                <a:latin typeface="+mn-ea"/>
              </a:rPr>
              <a:t> 구축 수주</a:t>
            </a:r>
            <a:endParaRPr lang="en-US" altLang="ko-KR" sz="1200" b="1" dirty="0">
              <a:latin typeface="+mn-ea"/>
            </a:endParaRPr>
          </a:p>
          <a:p>
            <a:pPr marL="285750" indent="-285750"/>
            <a:r>
              <a:rPr lang="en-US" altLang="ko-KR" sz="1200" b="1" dirty="0">
                <a:latin typeface="+mn-ea"/>
              </a:rPr>
              <a:t>                  08</a:t>
            </a:r>
            <a:r>
              <a:rPr lang="ko-KR" altLang="en-US" sz="1200" b="1" dirty="0">
                <a:latin typeface="+mn-ea"/>
              </a:rPr>
              <a:t>월  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latin typeface="+mn-ea"/>
              </a:rPr>
              <a:t>㈜</a:t>
            </a:r>
            <a:r>
              <a:rPr lang="ko-KR" altLang="en-US" sz="1200" b="1" dirty="0" err="1">
                <a:latin typeface="+mn-ea"/>
              </a:rPr>
              <a:t>희창유업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 err="1">
                <a:latin typeface="+mn-ea"/>
              </a:rPr>
              <a:t>에이치씨글로벌</a:t>
            </a:r>
            <a:r>
              <a:rPr lang="ko-KR" altLang="en-US" sz="1200" b="1" dirty="0">
                <a:latin typeface="+mn-ea"/>
              </a:rPr>
              <a:t> 스마트공장 구축 수주</a:t>
            </a:r>
            <a:endParaRPr lang="en-US" altLang="ko-KR" sz="500" b="1" dirty="0">
              <a:latin typeface="+mn-ea"/>
            </a:endParaRPr>
          </a:p>
          <a:p>
            <a:pPr marL="285750" indent="-285750">
              <a:buFont typeface="맑은 고딕" pitchFamily="50" charset="-127"/>
              <a:buChar char="▣"/>
            </a:pPr>
            <a:endParaRPr lang="en-US" altLang="ko-KR" sz="5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E7A4B-15B1-C4F0-96E3-5B0B1E553934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770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95936" y="677156"/>
            <a:ext cx="33123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기업현황  </a:t>
            </a:r>
            <a:r>
              <a:rPr lang="en-US" altLang="ko-KR" sz="900" dirty="0">
                <a:solidFill>
                  <a:srgbClr val="FF0000"/>
                </a:solidFill>
              </a:rPr>
              <a:t>CEO</a:t>
            </a:r>
            <a:r>
              <a:rPr lang="ko-KR" altLang="en-US" sz="900" dirty="0">
                <a:solidFill>
                  <a:srgbClr val="FF0000"/>
                </a:solidFill>
              </a:rPr>
              <a:t>인사말 </a:t>
            </a:r>
            <a:r>
              <a:rPr lang="ko-KR" altLang="en-US" sz="900" dirty="0">
                <a:solidFill>
                  <a:schemeClr val="tx1"/>
                </a:solidFill>
              </a:rPr>
              <a:t>경영비전 조직도 사업장안내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 cap="rnd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1520" y="1196752"/>
            <a:ext cx="1065356" cy="2477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ABOUT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COMPANY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회사현황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기업현황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CEO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인사말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경영비전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조직도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사업장안내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251520" y="2766844"/>
            <a:ext cx="1296144" cy="158100"/>
            <a:chOff x="251520" y="2492896"/>
            <a:chExt cx="1296144" cy="158100"/>
          </a:xfrm>
        </p:grpSpPr>
        <p:sp>
          <p:nvSpPr>
            <p:cNvPr id="11" name="대각선 방향의 모서리가 잘린 사각형 10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b="1" dirty="0">
                  <a:latin typeface="+mn-ea"/>
                </a:rPr>
                <a:t>CEO</a:t>
              </a:r>
              <a:r>
                <a:rPr lang="ko-KR" altLang="en-US" sz="800" b="1" dirty="0">
                  <a:latin typeface="+mn-ea"/>
                </a:rPr>
                <a:t>인사말</a:t>
              </a:r>
            </a:p>
          </p:txBody>
        </p:sp>
        <p:sp>
          <p:nvSpPr>
            <p:cNvPr id="12" name="이등변 삼각형 11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283968" y="332656"/>
            <a:ext cx="792088" cy="367648"/>
            <a:chOff x="4427984" y="332656"/>
            <a:chExt cx="792088" cy="367648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4427984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회사현황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 flipV="1">
              <a:off x="4453691" y="654585"/>
              <a:ext cx="754805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835696" y="1124744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HY얕은샘물M" pitchFamily="18" charset="-127"/>
                <a:ea typeface="HY얕은샘물M" pitchFamily="18" charset="-127"/>
              </a:rPr>
              <a:t>CEO </a:t>
            </a:r>
            <a:r>
              <a:rPr lang="ko-KR" altLang="en-US" sz="1600" b="1" dirty="0">
                <a:latin typeface="HY얕은샘물M" pitchFamily="18" charset="-127"/>
                <a:ea typeface="HY얕은샘물M" pitchFamily="18" charset="-127"/>
              </a:rPr>
              <a:t>인사말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회사현황 </a:t>
            </a:r>
            <a:r>
              <a:rPr lang="en-US" altLang="ko-KR" sz="800" dirty="0">
                <a:latin typeface="+mn-ea"/>
              </a:rPr>
              <a:t>&gt; CEO</a:t>
            </a:r>
            <a:r>
              <a:rPr lang="ko-KR" altLang="en-US" sz="800" dirty="0">
                <a:latin typeface="+mn-ea"/>
              </a:rPr>
              <a:t>인사말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004" y="1647744"/>
            <a:ext cx="2011768" cy="2501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65772" y="1556792"/>
            <a:ext cx="5343129" cy="2510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  ‘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영남제조기업에 스마트공장 구축으로 기여하자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….</a:t>
            </a:r>
          </a:p>
          <a:p>
            <a:endParaRPr lang="en-US" altLang="ko-KR" sz="700" b="1" dirty="0">
              <a:latin typeface="HY헤드라인M" pitchFamily="18" charset="-127"/>
              <a:ea typeface="HY헤드라인M" pitchFamily="18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000" dirty="0">
                <a:latin typeface="+mn-ea"/>
              </a:rPr>
              <a:t>저희 </a:t>
            </a:r>
            <a:r>
              <a:rPr lang="ko-KR" altLang="en-US" sz="1000" dirty="0" err="1">
                <a:latin typeface="+mn-ea"/>
              </a:rPr>
              <a:t>올윈비시지는</a:t>
            </a:r>
            <a:r>
              <a:rPr lang="ko-KR" altLang="en-US" sz="1000" dirty="0">
                <a:latin typeface="+mn-ea"/>
              </a:rPr>
              <a:t> 낙후되어 있는 영남제조기업에 </a:t>
            </a:r>
            <a:r>
              <a:rPr lang="en-US" altLang="ko-KR" sz="1000" dirty="0">
                <a:latin typeface="+mn-ea"/>
              </a:rPr>
              <a:t>4</a:t>
            </a:r>
            <a:r>
              <a:rPr lang="ko-KR" altLang="en-US" sz="1000" dirty="0">
                <a:latin typeface="+mn-ea"/>
              </a:rPr>
              <a:t>차 산업과 맞물려</a:t>
            </a:r>
            <a:endParaRPr lang="en-US" altLang="ko-KR" sz="1000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   “</a:t>
            </a:r>
            <a:r>
              <a:rPr lang="ko-KR" altLang="en-US" sz="1000" dirty="0">
                <a:latin typeface="+mn-ea"/>
              </a:rPr>
              <a:t>영남지역에 스마트공장 구축으로 기여하자</a:t>
            </a:r>
            <a:r>
              <a:rPr lang="en-US" altLang="ko-KR" sz="1000" dirty="0">
                <a:latin typeface="+mn-ea"/>
              </a:rPr>
              <a:t>”</a:t>
            </a:r>
            <a:r>
              <a:rPr lang="ko-KR" altLang="en-US" sz="1000" dirty="0">
                <a:latin typeface="+mn-ea"/>
              </a:rPr>
              <a:t>는 비전을 가지고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제조실행시스템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(MES), </a:t>
            </a:r>
          </a:p>
          <a:p>
            <a:pPr>
              <a:lnSpc>
                <a:spcPts val="1300"/>
              </a:lnSpc>
            </a:pP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  </a:t>
            </a:r>
            <a:r>
              <a:rPr lang="ko-KR" altLang="en-US" sz="1000" b="1" dirty="0" err="1">
                <a:solidFill>
                  <a:srgbClr val="0000FF"/>
                </a:solidFill>
                <a:latin typeface="+mn-ea"/>
              </a:rPr>
              <a:t>빅데이터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en-US" altLang="ko-KR" sz="1000" b="1" dirty="0" err="1">
                <a:solidFill>
                  <a:srgbClr val="0000FF"/>
                </a:solidFill>
                <a:latin typeface="+mn-ea"/>
              </a:rPr>
              <a:t>Bigdata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), 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인공지능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(AI)</a:t>
            </a:r>
            <a:r>
              <a:rPr lang="ko-KR" altLang="en-US" sz="1000" dirty="0">
                <a:latin typeface="+mn-ea"/>
              </a:rPr>
              <a:t>을 제조기업에 불어넣기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위한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컨설팅을 목표로 </a:t>
            </a:r>
            <a:endParaRPr lang="en-US" altLang="ko-KR" sz="1000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    </a:t>
            </a:r>
            <a:r>
              <a:rPr lang="ko-KR" altLang="en-US" sz="1000" dirty="0">
                <a:latin typeface="+mn-ea"/>
              </a:rPr>
              <a:t>부산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en-US" sz="1000" dirty="0">
                <a:latin typeface="+mn-ea"/>
              </a:rPr>
              <a:t>경남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en-US" sz="1000" dirty="0">
                <a:latin typeface="+mn-ea"/>
              </a:rPr>
              <a:t>울산 제조기업을 목표로 태동하게 되었습니다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1000" dirty="0">
              <a:latin typeface="+mn-ea"/>
            </a:endParaRPr>
          </a:p>
          <a:p>
            <a:pPr>
              <a:lnSpc>
                <a:spcPts val="1300"/>
              </a:lnSpc>
            </a:pPr>
            <a:endParaRPr lang="en-US" altLang="ko-KR" sz="1000" dirty="0">
              <a:latin typeface="+mn-ea"/>
            </a:endParaRP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  ‘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고객의 성장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’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은 곧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‘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기업의 성장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’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이라는 사명으로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….</a:t>
            </a:r>
          </a:p>
          <a:p>
            <a:endParaRPr lang="en-US" altLang="ko-KR" sz="700" b="1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저희 </a:t>
            </a:r>
            <a:r>
              <a:rPr lang="ko-KR" altLang="en-US" sz="1000" dirty="0" err="1">
                <a:latin typeface="+mn-ea"/>
              </a:rPr>
              <a:t>올윈비시지</a:t>
            </a:r>
            <a:r>
              <a:rPr lang="ko-KR" altLang="en-US" sz="1000" dirty="0">
                <a:latin typeface="+mn-ea"/>
              </a:rPr>
              <a:t> 모든 임직원은 고객의 가치를 최우선적으로 여기며</a:t>
            </a:r>
            <a:r>
              <a:rPr lang="en-US" altLang="ko-KR" sz="1000" dirty="0">
                <a:latin typeface="+mn-ea"/>
              </a:rPr>
              <a:t>, </a:t>
            </a: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늘 고객의 목소리에 귀를 기울이고 고객의 입장에서 생각하고 보다 다양해지고</a:t>
            </a:r>
            <a:endParaRPr lang="en-US" altLang="ko-KR" sz="1000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</a:t>
            </a:r>
            <a:r>
              <a:rPr lang="ko-KR" altLang="en-US" sz="1000" dirty="0">
                <a:latin typeface="+mn-ea"/>
              </a:rPr>
              <a:t> 있는 요구 사항에 신속하고 효과적으로 대응할 수 있도록 만전을 기할 것이며</a:t>
            </a:r>
            <a:r>
              <a:rPr lang="en-US" altLang="ko-KR" sz="1000" dirty="0">
                <a:latin typeface="+mn-ea"/>
              </a:rPr>
              <a:t>,</a:t>
            </a: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  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‘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고객의 성장</a:t>
            </a:r>
            <a:r>
              <a:rPr lang="en-US" altLang="ko-KR" sz="1000" dirty="0">
                <a:latin typeface="+mn-ea"/>
              </a:rPr>
              <a:t>’</a:t>
            </a:r>
            <a:r>
              <a:rPr lang="ko-KR" altLang="en-US" sz="1000" dirty="0">
                <a:latin typeface="+mn-ea"/>
              </a:rPr>
              <a:t>이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곧 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‘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기업의 성장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’</a:t>
            </a:r>
            <a:r>
              <a:rPr lang="ko-KR" altLang="en-US" sz="1000" dirty="0">
                <a:latin typeface="+mn-ea"/>
              </a:rPr>
              <a:t>이라는 사명으로 서비스 환경을 구축하는데 </a:t>
            </a:r>
            <a:endParaRPr lang="en-US" altLang="ko-KR" sz="1000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최선을 다 할 것입니다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35696" y="4293096"/>
            <a:ext cx="7314823" cy="1159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</a:t>
            </a: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‘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영남지역에서의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MES, Big Data, AI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컨설팅 업체의 메카로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’….</a:t>
            </a:r>
          </a:p>
          <a:p>
            <a:endParaRPr lang="en-US" altLang="ko-KR" sz="200" b="1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</a:t>
            </a: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</a:t>
            </a:r>
            <a:r>
              <a:rPr lang="ko-KR" altLang="en-US" sz="1000" dirty="0">
                <a:latin typeface="+mn-ea"/>
              </a:rPr>
              <a:t>저희 </a:t>
            </a:r>
            <a:r>
              <a:rPr lang="ko-KR" altLang="en-US" sz="1000" dirty="0" err="1">
                <a:latin typeface="+mn-ea"/>
              </a:rPr>
              <a:t>올윈비시지의</a:t>
            </a:r>
            <a:r>
              <a:rPr lang="ko-KR" altLang="en-US" sz="1000" dirty="0">
                <a:latin typeface="+mn-ea"/>
              </a:rPr>
              <a:t> 모든 임직원은 회사 상호와 걸 맞게 </a:t>
            </a:r>
            <a:r>
              <a:rPr lang="en-US" altLang="ko-KR" sz="1000" dirty="0">
                <a:latin typeface="+mn-ea"/>
              </a:rPr>
              <a:t>“AWBCG(All Winner Brilliant Consulting Group)” </a:t>
            </a:r>
            <a:r>
              <a:rPr lang="ko-KR" altLang="en-US" sz="1000" dirty="0">
                <a:latin typeface="+mn-ea"/>
              </a:rPr>
              <a:t>당사와 거래하는</a:t>
            </a:r>
            <a:endParaRPr lang="en-US" altLang="ko-KR" sz="1000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</a:t>
            </a:r>
            <a:r>
              <a:rPr lang="ko-KR" altLang="en-US" sz="1000" dirty="0">
                <a:latin typeface="+mn-ea"/>
              </a:rPr>
              <a:t>모든 고객과 동반성장을 목표로 하고 있으며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제조기업 또한 서울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경기의 도시권 중심에서의 영남지역중심으로 </a:t>
            </a:r>
            <a:r>
              <a:rPr lang="en-US" altLang="ko-KR" sz="1000" dirty="0">
                <a:latin typeface="+mn-ea"/>
              </a:rPr>
              <a:t>4</a:t>
            </a:r>
            <a:r>
              <a:rPr lang="ko-KR" altLang="en-US" sz="1000" dirty="0">
                <a:latin typeface="+mn-ea"/>
              </a:rPr>
              <a:t>차 산업의</a:t>
            </a:r>
            <a:endParaRPr lang="en-US" altLang="ko-KR" sz="1000" dirty="0">
              <a:latin typeface="+mn-ea"/>
            </a:endParaRPr>
          </a:p>
          <a:p>
            <a:pPr>
              <a:lnSpc>
                <a:spcPts val="1300"/>
              </a:lnSpc>
            </a:pPr>
            <a:r>
              <a:rPr lang="en-US" altLang="ko-KR" sz="1000" dirty="0">
                <a:latin typeface="+mn-ea"/>
              </a:rPr>
              <a:t>  </a:t>
            </a:r>
            <a:r>
              <a:rPr lang="ko-KR" altLang="en-US" sz="1000" dirty="0">
                <a:latin typeface="+mn-ea"/>
              </a:rPr>
              <a:t>혜택을 누릴 수 있도록 지역에서 바닥을 다져나가는 기업이 되기 위하여 최선을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다하고 있습니다</a:t>
            </a:r>
            <a:r>
              <a:rPr lang="en-US" altLang="ko-KR" sz="1000" dirty="0"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C1444-B171-B3D1-131F-73F2C856210C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447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95936" y="677156"/>
            <a:ext cx="33123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기업현황  </a:t>
            </a:r>
            <a:r>
              <a:rPr lang="en-US" altLang="ko-KR" sz="900" dirty="0">
                <a:solidFill>
                  <a:schemeClr val="tx1"/>
                </a:solidFill>
              </a:rPr>
              <a:t>CEO</a:t>
            </a:r>
            <a:r>
              <a:rPr lang="ko-KR" altLang="en-US" sz="900" dirty="0">
                <a:solidFill>
                  <a:schemeClr val="tx1"/>
                </a:solidFill>
              </a:rPr>
              <a:t>인사말 </a:t>
            </a:r>
            <a:r>
              <a:rPr lang="ko-KR" altLang="en-US" sz="900" dirty="0">
                <a:solidFill>
                  <a:srgbClr val="FF0000"/>
                </a:solidFill>
              </a:rPr>
              <a:t>경영비전</a:t>
            </a:r>
            <a:r>
              <a:rPr lang="ko-KR" altLang="en-US" sz="900" dirty="0">
                <a:solidFill>
                  <a:schemeClr val="tx1"/>
                </a:solidFill>
              </a:rPr>
              <a:t> 조직도 사업장안내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 cap="rnd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1520" y="1196752"/>
            <a:ext cx="1065356" cy="2477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ABOUT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COMPANY</a:t>
            </a:r>
          </a:p>
          <a:p>
            <a:r>
              <a:rPr lang="ko-KR" altLang="en-US" sz="1100" dirty="0">
                <a:latin typeface="Impact" pitchFamily="34" charset="0"/>
                <a:ea typeface="HY헤드라인M" pitchFamily="18" charset="-127"/>
              </a:rPr>
              <a:t>회사현황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기업현황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CEO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인사말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경영비전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조직도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사업장안내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251520" y="2982868"/>
            <a:ext cx="1296144" cy="158100"/>
            <a:chOff x="251520" y="2492896"/>
            <a:chExt cx="1296144" cy="158100"/>
          </a:xfrm>
        </p:grpSpPr>
        <p:sp>
          <p:nvSpPr>
            <p:cNvPr id="11" name="대각선 방향의 모서리가 잘린 사각형 10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경영비전</a:t>
              </a:r>
            </a:p>
          </p:txBody>
        </p:sp>
        <p:sp>
          <p:nvSpPr>
            <p:cNvPr id="12" name="이등변 삼각형 11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283968" y="332656"/>
            <a:ext cx="792088" cy="367648"/>
            <a:chOff x="4427984" y="332656"/>
            <a:chExt cx="792088" cy="367648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4427984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회사현황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 flipV="1">
              <a:off x="4453691" y="654585"/>
              <a:ext cx="754805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835696" y="1124744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atin typeface="HY얕은샘물M" pitchFamily="18" charset="-127"/>
                <a:ea typeface="HY얕은샘물M" pitchFamily="18" charset="-127"/>
              </a:rPr>
              <a:t>경영비전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회사현황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경영비전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/>
          <p:cNvGrpSpPr/>
          <p:nvPr/>
        </p:nvGrpSpPr>
        <p:grpSpPr>
          <a:xfrm>
            <a:off x="3569800" y="2276872"/>
            <a:ext cx="2736304" cy="2592288"/>
            <a:chOff x="3598838" y="2288467"/>
            <a:chExt cx="2736304" cy="2592288"/>
          </a:xfrm>
        </p:grpSpPr>
        <p:grpSp>
          <p:nvGrpSpPr>
            <p:cNvPr id="44" name="그룹 43"/>
            <p:cNvGrpSpPr/>
            <p:nvPr/>
          </p:nvGrpSpPr>
          <p:grpSpPr>
            <a:xfrm>
              <a:off x="3598838" y="2288467"/>
              <a:ext cx="2736304" cy="2592288"/>
              <a:chOff x="3347864" y="2492896"/>
              <a:chExt cx="2736304" cy="2592288"/>
            </a:xfrm>
          </p:grpSpPr>
          <p:sp>
            <p:nvSpPr>
              <p:cNvPr id="22" name="타원 21"/>
              <p:cNvSpPr/>
              <p:nvPr/>
            </p:nvSpPr>
            <p:spPr>
              <a:xfrm>
                <a:off x="3347864" y="2492896"/>
                <a:ext cx="2736304" cy="2592288"/>
              </a:xfrm>
              <a:prstGeom prst="ellipse">
                <a:avLst/>
              </a:prstGeom>
              <a:gradFill flip="none" rotWithShape="1">
                <a:gsLst>
                  <a:gs pos="0">
                    <a:srgbClr val="8488C4"/>
                  </a:gs>
                  <a:gs pos="53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1" name="타원 20"/>
              <p:cNvSpPr/>
              <p:nvPr/>
            </p:nvSpPr>
            <p:spPr>
              <a:xfrm>
                <a:off x="3874233" y="2934883"/>
                <a:ext cx="1728192" cy="1705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4209179" y="3286976"/>
                <a:ext cx="1157689" cy="528452"/>
              </a:xfrm>
              <a:prstGeom prst="rect">
                <a:avLst/>
              </a:prstGeom>
              <a:noFill/>
              <a:effectLst>
                <a:reflection blurRad="6350" stA="50000" endA="300" endPos="90000" dir="5400000" sy="-100000" algn="bl" rotWithShape="0"/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b="1" dirty="0">
                    <a:latin typeface="Impact" pitchFamily="34" charset="0"/>
                  </a:rPr>
                  <a:t>VISION</a:t>
                </a:r>
                <a:endParaRPr lang="ko-KR" altLang="en-US" sz="2800" b="1" dirty="0">
                  <a:latin typeface="Impact" pitchFamily="34" charset="0"/>
                </a:endParaRPr>
              </a:p>
            </p:txBody>
          </p:sp>
        </p:grpSp>
        <p:sp>
          <p:nvSpPr>
            <p:cNvPr id="32" name="직사각형 31"/>
            <p:cNvSpPr/>
            <p:nvPr/>
          </p:nvSpPr>
          <p:spPr>
            <a:xfrm rot="13344855">
              <a:off x="4161936" y="4353381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제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 rot="13808478">
              <a:off x="3943755" y="4120416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조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 rot="14560561">
              <a:off x="3801481" y="3884384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기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 rot="15715535">
              <a:off x="3708564" y="3603237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업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 rot="16727602">
              <a:off x="3694977" y="3338676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rgbClr val="0000FF"/>
                  </a:solidFill>
                </a:rPr>
                <a:t>에</a:t>
              </a:r>
              <a:endParaRPr lang="ko-KR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 rot="17736505">
              <a:off x="3808604" y="2998497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인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 rot="18253400">
              <a:off x="3955629" y="2763368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공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 rot="19364053">
              <a:off x="4134570" y="2569100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지</a:t>
              </a:r>
            </a:p>
          </p:txBody>
        </p:sp>
        <p:sp>
          <p:nvSpPr>
            <p:cNvPr id="43" name="직사각형 42"/>
            <p:cNvSpPr/>
            <p:nvPr/>
          </p:nvSpPr>
          <p:spPr>
            <a:xfrm rot="20371137">
              <a:off x="4388972" y="2432245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능</a:t>
              </a:r>
            </a:p>
          </p:txBody>
        </p:sp>
        <p:sp>
          <p:nvSpPr>
            <p:cNvPr id="46" name="직사각형 45"/>
            <p:cNvSpPr/>
            <p:nvPr/>
          </p:nvSpPr>
          <p:spPr>
            <a:xfrm rot="21127963">
              <a:off x="4633127" y="2357663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을</a:t>
              </a:r>
            </a:p>
          </p:txBody>
        </p:sp>
        <p:sp>
          <p:nvSpPr>
            <p:cNvPr id="47" name="직사각형 46"/>
            <p:cNvSpPr/>
            <p:nvPr/>
          </p:nvSpPr>
          <p:spPr>
            <a:xfrm rot="306449">
              <a:off x="4968885" y="2357462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불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 rot="1193658">
              <a:off x="5210846" y="2412367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어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 rot="2327543">
              <a:off x="5481031" y="2573912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rgbClr val="0000FF"/>
                  </a:solidFill>
                </a:rPr>
                <a:t>넣</a:t>
              </a:r>
              <a:endParaRPr lang="ko-KR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 rot="3060347">
              <a:off x="5675262" y="2746539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어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 rot="4049775">
              <a:off x="5847106" y="3042650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다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 rot="4897517">
              <a:off x="5924244" y="3313527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크</a:t>
              </a:r>
            </a:p>
          </p:txBody>
        </p:sp>
        <p:sp>
          <p:nvSpPr>
            <p:cNvPr id="53" name="직사각형 52"/>
            <p:cNvSpPr/>
            <p:nvPr/>
          </p:nvSpPr>
          <p:spPr>
            <a:xfrm rot="5895820">
              <a:off x="5918921" y="3621654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팩</a:t>
              </a:r>
            </a:p>
          </p:txBody>
        </p:sp>
        <p:sp>
          <p:nvSpPr>
            <p:cNvPr id="54" name="직사각형 53"/>
            <p:cNvSpPr/>
            <p:nvPr/>
          </p:nvSpPr>
          <p:spPr>
            <a:xfrm rot="6820076">
              <a:off x="5843995" y="3837997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토</a:t>
              </a:r>
            </a:p>
          </p:txBody>
        </p:sp>
        <p:sp>
          <p:nvSpPr>
            <p:cNvPr id="55" name="직사각형 54"/>
            <p:cNvSpPr/>
            <p:nvPr/>
          </p:nvSpPr>
          <p:spPr>
            <a:xfrm rot="7518093">
              <a:off x="5731183" y="4077072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리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 rot="8556052">
              <a:off x="5486679" y="4289859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0000FF"/>
                  </a:solidFill>
                </a:rPr>
                <a:t>구</a:t>
              </a:r>
              <a:endParaRPr lang="ko-KR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4028124" y="2653141"/>
              <a:ext cx="1927308" cy="185597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A9E31C7-9DFD-BFBB-7411-CE457BB8BFD1}"/>
                </a:ext>
              </a:extLst>
            </p:cNvPr>
            <p:cNvSpPr/>
            <p:nvPr/>
          </p:nvSpPr>
          <p:spPr>
            <a:xfrm rot="8556052">
              <a:off x="5228869" y="4440983"/>
              <a:ext cx="36004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0000FF"/>
                  </a:solidFill>
                </a:rPr>
                <a:t>축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2B881D3-84D3-68A1-D784-BC4F67896941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2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95936" y="677156"/>
            <a:ext cx="33123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기업현황  </a:t>
            </a:r>
            <a:r>
              <a:rPr lang="en-US" altLang="ko-KR" sz="900" dirty="0">
                <a:solidFill>
                  <a:schemeClr val="tx1"/>
                </a:solidFill>
              </a:rPr>
              <a:t>CEO</a:t>
            </a:r>
            <a:r>
              <a:rPr lang="ko-KR" altLang="en-US" sz="900" dirty="0">
                <a:solidFill>
                  <a:schemeClr val="tx1"/>
                </a:solidFill>
              </a:rPr>
              <a:t>인사말 경영비전 </a:t>
            </a:r>
            <a:r>
              <a:rPr lang="ko-KR" altLang="en-US" sz="900" dirty="0">
                <a:solidFill>
                  <a:srgbClr val="FF0000"/>
                </a:solidFill>
              </a:rPr>
              <a:t>조직도</a:t>
            </a:r>
            <a:r>
              <a:rPr lang="ko-KR" altLang="en-US" sz="900" dirty="0">
                <a:solidFill>
                  <a:schemeClr val="tx1"/>
                </a:solidFill>
              </a:rPr>
              <a:t> 사업장안내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 cap="rnd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1520" y="1196752"/>
            <a:ext cx="1065356" cy="2477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ABOUT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COMPANY</a:t>
            </a:r>
          </a:p>
          <a:p>
            <a:r>
              <a:rPr lang="ko-KR" altLang="en-US" sz="1100" dirty="0">
                <a:latin typeface="Impact" pitchFamily="34" charset="0"/>
                <a:ea typeface="HY헤드라인M" pitchFamily="18" charset="-127"/>
              </a:rPr>
              <a:t>회사현황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기업현황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CEO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인사말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경영비전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조직도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사업장안내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251520" y="3198892"/>
            <a:ext cx="1296144" cy="158100"/>
            <a:chOff x="251520" y="2492896"/>
            <a:chExt cx="1296144" cy="158100"/>
          </a:xfrm>
        </p:grpSpPr>
        <p:sp>
          <p:nvSpPr>
            <p:cNvPr id="11" name="대각선 방향의 모서리가 잘린 사각형 10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조직도</a:t>
              </a:r>
            </a:p>
          </p:txBody>
        </p:sp>
        <p:sp>
          <p:nvSpPr>
            <p:cNvPr id="12" name="이등변 삼각형 11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283968" y="332656"/>
            <a:ext cx="792088" cy="367648"/>
            <a:chOff x="4427984" y="332656"/>
            <a:chExt cx="792088" cy="367648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4427984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회사현황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 flipV="1">
              <a:off x="4453691" y="654585"/>
              <a:ext cx="754805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835696" y="1124744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조직도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회사현황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조직도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모서리가 둥근 직사각형 2"/>
          <p:cNvSpPr/>
          <p:nvPr/>
        </p:nvSpPr>
        <p:spPr>
          <a:xfrm>
            <a:off x="4575301" y="1964838"/>
            <a:ext cx="1135551" cy="360767"/>
          </a:xfrm>
          <a:prstGeom prst="roundRect">
            <a:avLst/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대표이사</a:t>
            </a:r>
          </a:p>
        </p:txBody>
      </p:sp>
      <p:grpSp>
        <p:nvGrpSpPr>
          <p:cNvPr id="33" name="그룹 32"/>
          <p:cNvGrpSpPr/>
          <p:nvPr/>
        </p:nvGrpSpPr>
        <p:grpSpPr>
          <a:xfrm>
            <a:off x="5710853" y="2621661"/>
            <a:ext cx="1741467" cy="720952"/>
            <a:chOff x="5710853" y="2369223"/>
            <a:chExt cx="1741467" cy="575599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5710853" y="2369223"/>
              <a:ext cx="1741467" cy="288032"/>
            </a:xfrm>
            <a:prstGeom prst="roundRect">
              <a:avLst/>
            </a:prstGeom>
            <a:gradFill flip="none" rotWithShape="1"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>
                  <a:solidFill>
                    <a:schemeClr val="tx1"/>
                  </a:solidFill>
                </a:rPr>
                <a:t>기술연구소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5710853" y="2656790"/>
              <a:ext cx="1741467" cy="288032"/>
            </a:xfrm>
            <a:prstGeom prst="roundRect">
              <a:avLst/>
            </a:prstGeom>
            <a:gradFill flip="none" rotWithShape="1"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부산대학교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</a:rPr>
                <a:t>그랜드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ICT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연구센터</a:t>
              </a:r>
            </a:p>
          </p:txBody>
        </p:sp>
      </p:grpSp>
      <p:sp>
        <p:nvSpPr>
          <p:cNvPr id="25" name="모서리가 둥근 직사각형 24"/>
          <p:cNvSpPr/>
          <p:nvPr/>
        </p:nvSpPr>
        <p:spPr>
          <a:xfrm>
            <a:off x="2149401" y="4148353"/>
            <a:ext cx="1135551" cy="360767"/>
          </a:xfrm>
          <a:prstGeom prst="roundRect">
            <a:avLst/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관리기획팀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3364441" y="4148353"/>
            <a:ext cx="1135551" cy="360767"/>
          </a:xfrm>
          <a:prstGeom prst="roundRect">
            <a:avLst/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제조실행팀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(MES)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4578638" y="4148353"/>
            <a:ext cx="1135551" cy="360767"/>
          </a:xfrm>
          <a:prstGeom prst="roundRect">
            <a:avLst/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빅데이터팀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</a:rPr>
              <a:t>bigdata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773407" y="4148353"/>
            <a:ext cx="1135551" cy="360767"/>
          </a:xfrm>
          <a:prstGeom prst="roundRect">
            <a:avLst/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인공지능팀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(AI)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6956552" y="4148353"/>
            <a:ext cx="1287856" cy="360767"/>
          </a:xfrm>
          <a:prstGeom prst="roundRect">
            <a:avLst/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마케팅팀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6" name="직선 연결선 5"/>
          <p:cNvCxnSpPr>
            <a:stCxn id="3" idx="2"/>
            <a:endCxn id="27" idx="0"/>
          </p:cNvCxnSpPr>
          <p:nvPr/>
        </p:nvCxnSpPr>
        <p:spPr>
          <a:xfrm>
            <a:off x="5143077" y="2325605"/>
            <a:ext cx="3337" cy="1822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5146414" y="2975897"/>
            <a:ext cx="564438" cy="5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25" idx="0"/>
          </p:cNvCxnSpPr>
          <p:nvPr/>
        </p:nvCxnSpPr>
        <p:spPr>
          <a:xfrm rot="5400000" flipH="1" flipV="1">
            <a:off x="3767321" y="2782537"/>
            <a:ext cx="315671" cy="241596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/>
          <p:nvPr/>
        </p:nvCxnSpPr>
        <p:spPr>
          <a:xfrm rot="16200000" flipV="1">
            <a:off x="6204794" y="2762604"/>
            <a:ext cx="324032" cy="246734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stCxn id="26" idx="0"/>
          </p:cNvCxnSpPr>
          <p:nvPr/>
        </p:nvCxnSpPr>
        <p:spPr>
          <a:xfrm flipH="1" flipV="1">
            <a:off x="3925157" y="3824321"/>
            <a:ext cx="7060" cy="324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 flipV="1">
            <a:off x="6334122" y="3824320"/>
            <a:ext cx="7060" cy="324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524339-986F-B935-ADD9-318A451A8C28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60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95936" y="677156"/>
            <a:ext cx="33123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기업현황  </a:t>
            </a:r>
            <a:r>
              <a:rPr lang="en-US" altLang="ko-KR" sz="900" dirty="0">
                <a:solidFill>
                  <a:schemeClr val="tx1"/>
                </a:solidFill>
              </a:rPr>
              <a:t>CEO</a:t>
            </a:r>
            <a:r>
              <a:rPr lang="ko-KR" altLang="en-US" sz="900" dirty="0">
                <a:solidFill>
                  <a:schemeClr val="tx1"/>
                </a:solidFill>
              </a:rPr>
              <a:t>인사말 경영비전 조직도 </a:t>
            </a:r>
            <a:r>
              <a:rPr lang="ko-KR" altLang="en-US" sz="900" dirty="0">
                <a:solidFill>
                  <a:srgbClr val="FF0000"/>
                </a:solidFill>
              </a:rPr>
              <a:t>사업장안내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 cap="rnd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1520" y="1196752"/>
            <a:ext cx="1065356" cy="2477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ABOUT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COMPANY</a:t>
            </a:r>
          </a:p>
          <a:p>
            <a:r>
              <a:rPr lang="ko-KR" altLang="en-US" sz="1100" dirty="0">
                <a:latin typeface="Impact" pitchFamily="34" charset="0"/>
                <a:ea typeface="HY헤드라인M" pitchFamily="18" charset="-127"/>
              </a:rPr>
              <a:t>회사현황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기업현황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CEO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인사말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경영비전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조직도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사업장안내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251520" y="3486924"/>
            <a:ext cx="1296144" cy="158100"/>
            <a:chOff x="251520" y="2492896"/>
            <a:chExt cx="1296144" cy="158100"/>
          </a:xfrm>
        </p:grpSpPr>
        <p:sp>
          <p:nvSpPr>
            <p:cNvPr id="11" name="대각선 방향의 모서리가 잘린 사각형 10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사업장안내</a:t>
              </a:r>
            </a:p>
          </p:txBody>
        </p:sp>
        <p:sp>
          <p:nvSpPr>
            <p:cNvPr id="12" name="이등변 삼각형 11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283968" y="332656"/>
            <a:ext cx="792088" cy="367648"/>
            <a:chOff x="4427984" y="332656"/>
            <a:chExt cx="792088" cy="367648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4427984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회사현황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 flipV="1">
              <a:off x="4453691" y="654585"/>
              <a:ext cx="754805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835696" y="1124744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사업장안내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회사현황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사업장안내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2008840" y="1778417"/>
            <a:ext cx="6399312" cy="3973239"/>
            <a:chOff x="2008840" y="1778417"/>
            <a:chExt cx="6399312" cy="397323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8840" y="1778417"/>
              <a:ext cx="6399312" cy="3973239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93702">
              <a:off x="5072545" y="3232188"/>
              <a:ext cx="1365282" cy="682641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C6C176A-1E7D-08E3-912A-C02CEF52007E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26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520" y="1196752"/>
            <a:ext cx="1223412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기업용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ERP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자동차부품업종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식품업종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빅데이터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(BD)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인공지능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(AI)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1520" y="2132856"/>
            <a:ext cx="1296144" cy="158100"/>
            <a:chOff x="251520" y="2492896"/>
            <a:chExt cx="1296144" cy="158100"/>
          </a:xfrm>
        </p:grpSpPr>
        <p:sp>
          <p:nvSpPr>
            <p:cNvPr id="14" name="대각선 방향의 모서리가 잘린 사각형 1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제조실행</a:t>
              </a:r>
              <a:r>
                <a:rPr lang="en-US" altLang="ko-KR" sz="800" b="1" dirty="0">
                  <a:latin typeface="+mn-ea"/>
                </a:rPr>
                <a:t>(MES)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15" name="이등변 삼각형 14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395536" y="2290956"/>
            <a:ext cx="0" cy="35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35696" y="1124744"/>
            <a:ext cx="4684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제조실행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(MES)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제조실행</a:t>
            </a:r>
            <a:r>
              <a:rPr lang="en-US" altLang="ko-KR" sz="800" dirty="0">
                <a:latin typeface="+mn-ea"/>
              </a:rPr>
              <a:t>(MES) </a:t>
            </a:r>
            <a:r>
              <a:rPr lang="ko-KR" altLang="en-US" sz="800" dirty="0">
                <a:latin typeface="+mn-ea"/>
              </a:rPr>
              <a:t>컨설팅</a:t>
            </a:r>
            <a:r>
              <a:rPr lang="en-US" altLang="ko-KR" sz="800" dirty="0">
                <a:latin typeface="+mn-ea"/>
              </a:rPr>
              <a:t> &gt; </a:t>
            </a:r>
            <a:r>
              <a:rPr lang="ko-KR" altLang="en-US" sz="800" dirty="0">
                <a:latin typeface="+mn-ea"/>
              </a:rPr>
              <a:t>자동차부품업종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모서리가 둥근 직사각형 4"/>
          <p:cNvSpPr/>
          <p:nvPr/>
        </p:nvSpPr>
        <p:spPr>
          <a:xfrm>
            <a:off x="3419872" y="62068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제조실행</a:t>
            </a:r>
            <a:r>
              <a:rPr lang="en-US" altLang="ko-KR" sz="900" dirty="0">
                <a:solidFill>
                  <a:srgbClr val="FF0000"/>
                </a:solidFill>
              </a:rPr>
              <a:t>(MES) </a:t>
            </a:r>
            <a:r>
              <a:rPr lang="ko-KR" altLang="en-US" sz="900" dirty="0">
                <a:solidFill>
                  <a:srgbClr val="FF0000"/>
                </a:solidFill>
              </a:rPr>
              <a:t>컨설팅  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빅데이터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</a:rPr>
              <a:t>Bigdata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 인공지능</a:t>
            </a:r>
            <a:r>
              <a:rPr lang="en-US" altLang="ko-KR" sz="900" dirty="0">
                <a:solidFill>
                  <a:schemeClr val="tx1"/>
                </a:solidFill>
              </a:rPr>
              <a:t>(AI)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chemeClr val="tx1"/>
                </a:solidFill>
              </a:rPr>
              <a:t>  </a:t>
            </a:r>
            <a:r>
              <a:rPr lang="ko-KR" altLang="en-US" sz="900">
                <a:solidFill>
                  <a:schemeClr val="tx1"/>
                </a:solidFill>
              </a:rPr>
              <a:t>창업컨설팅  </a:t>
            </a:r>
            <a:r>
              <a:rPr lang="ko-KR" altLang="en-US" sz="900" dirty="0">
                <a:solidFill>
                  <a:schemeClr val="tx1"/>
                </a:solidFill>
              </a:rPr>
              <a:t>경영컨설팅</a:t>
            </a:r>
            <a:endParaRPr lang="ko-KR" altLang="en-US" sz="900" dirty="0"/>
          </a:p>
        </p:txBody>
      </p:sp>
      <p:grpSp>
        <p:nvGrpSpPr>
          <p:cNvPr id="2" name="그룹 1"/>
          <p:cNvGrpSpPr/>
          <p:nvPr/>
        </p:nvGrpSpPr>
        <p:grpSpPr>
          <a:xfrm>
            <a:off x="5004048" y="332656"/>
            <a:ext cx="1008112" cy="288032"/>
            <a:chOff x="5004048" y="332656"/>
            <a:chExt cx="864096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04048" y="332656"/>
              <a:ext cx="864096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7E5DF64-9339-9D76-3410-592779C4881A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139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419872" y="66259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제조실행</a:t>
            </a:r>
            <a:r>
              <a:rPr lang="en-US" altLang="ko-KR" sz="900" dirty="0">
                <a:solidFill>
                  <a:srgbClr val="FF0000"/>
                </a:solidFill>
              </a:rPr>
              <a:t>(MES) </a:t>
            </a:r>
            <a:r>
              <a:rPr lang="ko-KR" altLang="en-US" sz="900" dirty="0">
                <a:solidFill>
                  <a:srgbClr val="FF0000"/>
                </a:solidFill>
              </a:rPr>
              <a:t>컨설팅  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빅데이터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</a:rPr>
              <a:t>Bigdata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 인공지능</a:t>
            </a:r>
            <a:r>
              <a:rPr lang="en-US" altLang="ko-KR" sz="900" dirty="0">
                <a:solidFill>
                  <a:schemeClr val="tx1"/>
                </a:solidFill>
              </a:rPr>
              <a:t>(AI)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chemeClr val="tx1"/>
                </a:solidFill>
              </a:rPr>
              <a:t>  </a:t>
            </a:r>
            <a:r>
              <a:rPr lang="ko-KR" altLang="en-US" sz="900">
                <a:solidFill>
                  <a:schemeClr val="tx1"/>
                </a:solidFill>
              </a:rPr>
              <a:t>창업컨설팅  </a:t>
            </a:r>
            <a:r>
              <a:rPr lang="ko-KR" altLang="en-US" sz="900" dirty="0">
                <a:solidFill>
                  <a:schemeClr val="tx1"/>
                </a:solidFill>
              </a:rPr>
              <a:t>경영컨설팅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520" y="1196752"/>
            <a:ext cx="1223412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기업용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ERP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자동차부품업종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식품업종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빅데이터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(BD)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인공지능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(AI)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1520" y="2132856"/>
            <a:ext cx="1296144" cy="158100"/>
            <a:chOff x="251520" y="2492896"/>
            <a:chExt cx="1296144" cy="158100"/>
          </a:xfrm>
        </p:grpSpPr>
        <p:sp>
          <p:nvSpPr>
            <p:cNvPr id="14" name="대각선 방향의 모서리가 잘린 사각형 1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제조실행</a:t>
              </a:r>
              <a:r>
                <a:rPr lang="en-US" altLang="ko-KR" sz="800" b="1" dirty="0">
                  <a:latin typeface="+mn-ea"/>
                </a:rPr>
                <a:t>(MES)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15" name="이등변 삼각형 14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076056" y="332656"/>
            <a:ext cx="936104" cy="366488"/>
            <a:chOff x="5076056" y="332656"/>
            <a:chExt cx="792088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395536" y="2290956"/>
            <a:ext cx="0" cy="35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35696" y="1124744"/>
            <a:ext cx="4317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제조실행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(MES)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제조실행</a:t>
            </a:r>
            <a:r>
              <a:rPr lang="en-US" altLang="ko-KR" sz="800" dirty="0">
                <a:latin typeface="+mn-ea"/>
              </a:rPr>
              <a:t>(MES) </a:t>
            </a:r>
            <a:r>
              <a:rPr lang="ko-KR" altLang="en-US" sz="800" dirty="0">
                <a:latin typeface="+mn-ea"/>
              </a:rPr>
              <a:t>컨설팅</a:t>
            </a:r>
            <a:r>
              <a:rPr lang="en-US" altLang="ko-KR" sz="800" dirty="0">
                <a:latin typeface="+mn-ea"/>
              </a:rPr>
              <a:t> &gt; </a:t>
            </a:r>
            <a:r>
              <a:rPr lang="ko-KR" altLang="en-US" sz="800" dirty="0">
                <a:latin typeface="+mn-ea"/>
              </a:rPr>
              <a:t>식품업종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D3C7BF-4126-31BB-504B-FD4DEA06A688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5611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419872" y="66259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제조실행</a:t>
            </a:r>
            <a:r>
              <a:rPr lang="en-US" altLang="ko-KR" sz="900" dirty="0">
                <a:solidFill>
                  <a:schemeClr val="tx1"/>
                </a:solidFill>
              </a:rPr>
              <a:t>(MES) </a:t>
            </a:r>
            <a:r>
              <a:rPr lang="ko-KR" altLang="en-US" sz="900" dirty="0">
                <a:solidFill>
                  <a:schemeClr val="tx1"/>
                </a:solidFill>
              </a:rPr>
              <a:t>컨설팅  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rgbClr val="FF0000"/>
                </a:solidFill>
              </a:rPr>
              <a:t>빅데이터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en-US" altLang="ko-KR" sz="900" dirty="0" err="1">
                <a:solidFill>
                  <a:srgbClr val="FF0000"/>
                </a:solidFill>
              </a:rPr>
              <a:t>Bigdata</a:t>
            </a:r>
            <a:r>
              <a:rPr lang="en-US" altLang="ko-KR" sz="900" dirty="0">
                <a:solidFill>
                  <a:srgbClr val="FF0000"/>
                </a:solidFill>
              </a:rPr>
              <a:t>) </a:t>
            </a:r>
            <a:r>
              <a:rPr lang="ko-KR" altLang="en-US" sz="900" dirty="0">
                <a:solidFill>
                  <a:srgbClr val="FF0000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인공지능</a:t>
            </a:r>
            <a:r>
              <a:rPr lang="en-US" altLang="ko-KR" sz="900" dirty="0">
                <a:solidFill>
                  <a:schemeClr val="tx1"/>
                </a:solidFill>
              </a:rPr>
              <a:t>(AI)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chemeClr val="tx1"/>
                </a:solidFill>
              </a:rPr>
              <a:t>  </a:t>
            </a:r>
            <a:r>
              <a:rPr lang="ko-KR" altLang="en-US" sz="900" dirty="0">
                <a:solidFill>
                  <a:schemeClr val="tx1"/>
                </a:solidFill>
              </a:rPr>
              <a:t>창업 컨설팅  경영 컨설팅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520" y="1196752"/>
            <a:ext cx="1223412" cy="2231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제조실행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(MES)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자동차부품업종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식품업종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인공지능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(AI)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1520" y="2276872"/>
            <a:ext cx="1296144" cy="158100"/>
            <a:chOff x="251520" y="2492896"/>
            <a:chExt cx="1296144" cy="158100"/>
          </a:xfrm>
        </p:grpSpPr>
        <p:sp>
          <p:nvSpPr>
            <p:cNvPr id="14" name="대각선 방향의 모서리가 잘린 사각형 1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latin typeface="+mn-ea"/>
                </a:rPr>
                <a:t>빅데이터</a:t>
              </a:r>
              <a:r>
                <a:rPr lang="en-US" altLang="ko-KR" sz="800" b="1" dirty="0">
                  <a:latin typeface="+mn-ea"/>
                </a:rPr>
                <a:t>(BD) 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15" name="이등변 삼각형 14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076056" y="332656"/>
            <a:ext cx="936104" cy="366488"/>
            <a:chOff x="5076056" y="332656"/>
            <a:chExt cx="936104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936104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395536" y="2442040"/>
            <a:ext cx="0" cy="338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35696" y="1124744"/>
            <a:ext cx="5117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빅데이터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(</a:t>
            </a:r>
            <a:r>
              <a:rPr lang="en-US" altLang="ko-KR" b="1" dirty="0" err="1">
                <a:latin typeface="HY얕은샘물M" pitchFamily="18" charset="-127"/>
                <a:ea typeface="HY얕은샘물M" pitchFamily="18" charset="-127"/>
              </a:rPr>
              <a:t>BigData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)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 err="1">
                <a:latin typeface="+mn-ea"/>
              </a:rPr>
              <a:t>빅데이터</a:t>
            </a:r>
            <a:r>
              <a:rPr lang="en-US" altLang="ko-KR" sz="800" dirty="0">
                <a:latin typeface="+mn-ea"/>
              </a:rPr>
              <a:t>(</a:t>
            </a:r>
            <a:r>
              <a:rPr lang="en-US" altLang="ko-KR" sz="800" dirty="0" err="1">
                <a:latin typeface="+mn-ea"/>
              </a:rPr>
              <a:t>BigData</a:t>
            </a:r>
            <a:r>
              <a:rPr lang="en-US" altLang="ko-KR" sz="800" dirty="0">
                <a:latin typeface="+mn-ea"/>
              </a:rPr>
              <a:t>) </a:t>
            </a:r>
            <a:r>
              <a:rPr lang="ko-KR" altLang="en-US" sz="800" dirty="0">
                <a:latin typeface="+mn-ea"/>
              </a:rPr>
              <a:t>컨설팅</a:t>
            </a:r>
            <a:r>
              <a:rPr lang="en-US" altLang="ko-KR" sz="800" dirty="0">
                <a:latin typeface="+mn-ea"/>
              </a:rPr>
              <a:t> &gt; </a:t>
            </a:r>
            <a:r>
              <a:rPr lang="ko-KR" altLang="en-US" sz="800" dirty="0">
                <a:latin typeface="+mn-ea"/>
              </a:rPr>
              <a:t>자동차부품업종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70B266-0591-77CA-B2FD-5A47308F1D67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86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419872" y="66259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제조실행</a:t>
            </a:r>
            <a:r>
              <a:rPr lang="en-US" altLang="ko-KR" sz="900" dirty="0">
                <a:solidFill>
                  <a:schemeClr val="tx1"/>
                </a:solidFill>
              </a:rPr>
              <a:t>(MES) </a:t>
            </a:r>
            <a:r>
              <a:rPr lang="ko-KR" altLang="en-US" sz="900" dirty="0">
                <a:solidFill>
                  <a:schemeClr val="tx1"/>
                </a:solidFill>
              </a:rPr>
              <a:t>컨설팅  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rgbClr val="FF0000"/>
                </a:solidFill>
              </a:rPr>
              <a:t>빅데이터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en-US" altLang="ko-KR" sz="900" dirty="0" err="1">
                <a:solidFill>
                  <a:srgbClr val="FF0000"/>
                </a:solidFill>
              </a:rPr>
              <a:t>Bigdata</a:t>
            </a:r>
            <a:r>
              <a:rPr lang="en-US" altLang="ko-KR" sz="900" dirty="0">
                <a:solidFill>
                  <a:srgbClr val="FF0000"/>
                </a:solidFill>
              </a:rPr>
              <a:t>) </a:t>
            </a:r>
            <a:r>
              <a:rPr lang="ko-KR" altLang="en-US" sz="900" dirty="0">
                <a:solidFill>
                  <a:srgbClr val="FF0000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인공지능</a:t>
            </a:r>
            <a:r>
              <a:rPr lang="en-US" altLang="ko-KR" sz="900" dirty="0">
                <a:solidFill>
                  <a:schemeClr val="tx1"/>
                </a:solidFill>
              </a:rPr>
              <a:t>(AI)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chemeClr val="tx1"/>
                </a:solidFill>
              </a:rPr>
              <a:t>  </a:t>
            </a:r>
            <a:r>
              <a:rPr lang="ko-KR" altLang="en-US" sz="900" dirty="0">
                <a:solidFill>
                  <a:schemeClr val="tx1"/>
                </a:solidFill>
              </a:rPr>
              <a:t>창업 컨설팅  경영 컨설팅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520" y="1196752"/>
            <a:ext cx="1223412" cy="2231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제조실행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(MES)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자동차부품업종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식품업종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인공지능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(AI)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1520" y="2276872"/>
            <a:ext cx="1296144" cy="158100"/>
            <a:chOff x="251520" y="2492896"/>
            <a:chExt cx="1296144" cy="158100"/>
          </a:xfrm>
        </p:grpSpPr>
        <p:sp>
          <p:nvSpPr>
            <p:cNvPr id="14" name="대각선 방향의 모서리가 잘린 사각형 1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latin typeface="+mn-ea"/>
                </a:rPr>
                <a:t>빅데이터</a:t>
              </a:r>
              <a:r>
                <a:rPr lang="en-US" altLang="ko-KR" sz="800" b="1" dirty="0">
                  <a:latin typeface="+mn-ea"/>
                </a:rPr>
                <a:t>(BD) 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15" name="이등변 삼각형 14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076056" y="332656"/>
            <a:ext cx="936104" cy="366488"/>
            <a:chOff x="5076056" y="332656"/>
            <a:chExt cx="792088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395536" y="2442040"/>
            <a:ext cx="0" cy="338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35696" y="1124744"/>
            <a:ext cx="4809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빅데이터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(</a:t>
            </a:r>
            <a:r>
              <a:rPr lang="en-US" altLang="ko-KR" b="1" dirty="0" err="1">
                <a:latin typeface="HY얕은샘물M" pitchFamily="18" charset="-127"/>
                <a:ea typeface="HY얕은샘물M" pitchFamily="18" charset="-127"/>
              </a:rPr>
              <a:t>BigData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)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 err="1">
                <a:latin typeface="+mn-ea"/>
              </a:rPr>
              <a:t>빅데이터</a:t>
            </a:r>
            <a:r>
              <a:rPr lang="en-US" altLang="ko-KR" sz="800" dirty="0">
                <a:latin typeface="+mn-ea"/>
              </a:rPr>
              <a:t>(</a:t>
            </a:r>
            <a:r>
              <a:rPr lang="en-US" altLang="ko-KR" sz="800" dirty="0" err="1">
                <a:latin typeface="+mn-ea"/>
              </a:rPr>
              <a:t>BigData</a:t>
            </a:r>
            <a:r>
              <a:rPr lang="en-US" altLang="ko-KR" sz="800" dirty="0">
                <a:latin typeface="+mn-ea"/>
              </a:rPr>
              <a:t>) </a:t>
            </a:r>
            <a:r>
              <a:rPr lang="ko-KR" altLang="en-US" sz="800" dirty="0">
                <a:latin typeface="+mn-ea"/>
              </a:rPr>
              <a:t>컨설팅</a:t>
            </a:r>
            <a:r>
              <a:rPr lang="en-US" altLang="ko-KR" sz="800" dirty="0">
                <a:latin typeface="+mn-ea"/>
              </a:rPr>
              <a:t> &gt; </a:t>
            </a:r>
            <a:r>
              <a:rPr lang="ko-KR" altLang="en-US" sz="800" dirty="0">
                <a:latin typeface="+mn-ea"/>
              </a:rPr>
              <a:t>식품업종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1924CB-EBDD-2140-4241-8D6667B23758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7742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419872" y="66259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002060"/>
                </a:solidFill>
              </a:rPr>
              <a:t>제조실행</a:t>
            </a:r>
            <a:r>
              <a:rPr lang="en-US" altLang="ko-KR" sz="900" dirty="0">
                <a:solidFill>
                  <a:srgbClr val="002060"/>
                </a:solidFill>
              </a:rPr>
              <a:t>(MES) </a:t>
            </a:r>
            <a:r>
              <a:rPr lang="ko-KR" altLang="en-US" sz="900" dirty="0">
                <a:solidFill>
                  <a:srgbClr val="002060"/>
                </a:solidFill>
              </a:rPr>
              <a:t>컨설팅  </a:t>
            </a:r>
            <a:r>
              <a:rPr lang="en-US" altLang="ko-KR" sz="900" dirty="0">
                <a:solidFill>
                  <a:srgbClr val="002060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빅데이터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</a:rPr>
              <a:t>Bigdata</a:t>
            </a:r>
            <a:r>
              <a:rPr lang="en-US" altLang="ko-KR" sz="900" dirty="0">
                <a:solidFill>
                  <a:schemeClr val="tx1"/>
                </a:solidFill>
              </a:rPr>
              <a:t>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rgbClr val="FF0000"/>
                </a:solidFill>
              </a:rPr>
              <a:t>인공지능</a:t>
            </a:r>
            <a:r>
              <a:rPr lang="en-US" altLang="ko-KR" sz="900" dirty="0">
                <a:solidFill>
                  <a:srgbClr val="FF0000"/>
                </a:solidFill>
              </a:rPr>
              <a:t>(AI) </a:t>
            </a:r>
            <a:r>
              <a:rPr lang="ko-KR" altLang="en-US" sz="900" dirty="0">
                <a:solidFill>
                  <a:srgbClr val="FF0000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 </a:t>
            </a:r>
            <a:r>
              <a:rPr lang="ko-KR" altLang="en-US" sz="900" dirty="0">
                <a:solidFill>
                  <a:schemeClr val="tx1"/>
                </a:solidFill>
              </a:rPr>
              <a:t>창업 컨설팅  경영 컨설팅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520" y="1196752"/>
            <a:ext cx="1226618" cy="2231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제조실행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(MES)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돋움" panose="020B0600000101010101" pitchFamily="50" charset="-127"/>
                <a:ea typeface="돋움" panose="020B0600000101010101" pitchFamily="50" charset="-127"/>
              </a:rPr>
              <a:t>빅데이터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(BD)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자동차부품업종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식품업종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1520" y="2478812"/>
            <a:ext cx="1296144" cy="158100"/>
            <a:chOff x="251520" y="2492896"/>
            <a:chExt cx="1296144" cy="158100"/>
          </a:xfrm>
        </p:grpSpPr>
        <p:sp>
          <p:nvSpPr>
            <p:cNvPr id="14" name="대각선 방향의 모서리가 잘린 사각형 1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인공지능</a:t>
              </a:r>
              <a:r>
                <a:rPr lang="en-US" altLang="ko-KR" sz="800" b="1" dirty="0">
                  <a:latin typeface="+mn-ea"/>
                </a:rPr>
                <a:t>(AI) 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15" name="이등변 삼각형 14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076056" y="332656"/>
            <a:ext cx="936104" cy="366488"/>
            <a:chOff x="5076056" y="332656"/>
            <a:chExt cx="792088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395536" y="2640646"/>
            <a:ext cx="0" cy="338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35696" y="1124744"/>
            <a:ext cx="4463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인공지능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(AI)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인공지능</a:t>
            </a:r>
            <a:r>
              <a:rPr lang="en-US" altLang="ko-KR" sz="800" dirty="0">
                <a:latin typeface="+mn-ea"/>
              </a:rPr>
              <a:t>(AI) </a:t>
            </a:r>
            <a:r>
              <a:rPr lang="ko-KR" altLang="en-US" sz="800" dirty="0">
                <a:latin typeface="+mn-ea"/>
              </a:rPr>
              <a:t>컨설팅</a:t>
            </a:r>
            <a:r>
              <a:rPr lang="en-US" altLang="ko-KR" sz="800" dirty="0">
                <a:latin typeface="+mn-ea"/>
              </a:rPr>
              <a:t> &gt; </a:t>
            </a:r>
            <a:r>
              <a:rPr lang="ko-KR" altLang="en-US" sz="800" dirty="0">
                <a:latin typeface="+mn-ea"/>
              </a:rPr>
              <a:t>자동차부품업종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79515F-975D-9C57-6358-0233D7DC9394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381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419872" y="66259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제조실행</a:t>
            </a:r>
            <a:r>
              <a:rPr lang="en-US" altLang="ko-KR" sz="900" dirty="0">
                <a:solidFill>
                  <a:schemeClr val="tx1"/>
                </a:solidFill>
              </a:rPr>
              <a:t>(MES) </a:t>
            </a:r>
            <a:r>
              <a:rPr lang="ko-KR" altLang="en-US" sz="900" dirty="0">
                <a:solidFill>
                  <a:schemeClr val="tx1"/>
                </a:solidFill>
              </a:rPr>
              <a:t>컨설팅  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빅데이터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</a:rPr>
              <a:t>Bigdata</a:t>
            </a:r>
            <a:r>
              <a:rPr lang="en-US" altLang="ko-KR" sz="900" dirty="0">
                <a:solidFill>
                  <a:schemeClr val="tx1"/>
                </a:solidFill>
              </a:rPr>
              <a:t>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rgbClr val="FF0000"/>
                </a:solidFill>
              </a:rPr>
              <a:t>인공지능</a:t>
            </a:r>
            <a:r>
              <a:rPr lang="en-US" altLang="ko-KR" sz="900" dirty="0">
                <a:solidFill>
                  <a:srgbClr val="FF0000"/>
                </a:solidFill>
              </a:rPr>
              <a:t>(AI) </a:t>
            </a:r>
            <a:r>
              <a:rPr lang="ko-KR" altLang="en-US" sz="900" dirty="0">
                <a:solidFill>
                  <a:srgbClr val="FF0000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 </a:t>
            </a:r>
            <a:r>
              <a:rPr lang="ko-KR" altLang="en-US" sz="900" dirty="0">
                <a:solidFill>
                  <a:schemeClr val="tx1"/>
                </a:solidFill>
              </a:rPr>
              <a:t>창업 컨설팅  경영 컨설팅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5076056" y="332656"/>
            <a:ext cx="936104" cy="366488"/>
            <a:chOff x="5076056" y="332656"/>
            <a:chExt cx="936104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936104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835696" y="1124744"/>
            <a:ext cx="4014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인공지능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(AI)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인공지능</a:t>
            </a:r>
            <a:r>
              <a:rPr lang="en-US" altLang="ko-KR" sz="800" dirty="0">
                <a:latin typeface="+mn-ea"/>
              </a:rPr>
              <a:t>(AI) </a:t>
            </a:r>
            <a:r>
              <a:rPr lang="ko-KR" altLang="en-US" sz="800" dirty="0">
                <a:latin typeface="+mn-ea"/>
              </a:rPr>
              <a:t>컨설팅</a:t>
            </a:r>
            <a:r>
              <a:rPr lang="en-US" altLang="ko-KR" sz="800" dirty="0">
                <a:latin typeface="+mn-ea"/>
              </a:rPr>
              <a:t> &gt; </a:t>
            </a:r>
            <a:r>
              <a:rPr lang="ko-KR" altLang="en-US" sz="800" dirty="0">
                <a:latin typeface="+mn-ea"/>
              </a:rPr>
              <a:t>식품업종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520" y="1196752"/>
            <a:ext cx="1226618" cy="2231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제조실행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(MES)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돋움" panose="020B0600000101010101" pitchFamily="50" charset="-127"/>
                <a:ea typeface="돋움" panose="020B0600000101010101" pitchFamily="50" charset="-127"/>
              </a:rPr>
              <a:t>빅데이터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(BD)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자동차부품업종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  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식품업종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51520" y="2478812"/>
            <a:ext cx="1296144" cy="158100"/>
            <a:chOff x="251520" y="2492896"/>
            <a:chExt cx="1296144" cy="158100"/>
          </a:xfrm>
        </p:grpSpPr>
        <p:sp>
          <p:nvSpPr>
            <p:cNvPr id="26" name="대각선 방향의 모서리가 잘린 사각형 25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인공지능</a:t>
              </a:r>
              <a:r>
                <a:rPr lang="en-US" altLang="ko-KR" sz="800" b="1" dirty="0">
                  <a:latin typeface="+mn-ea"/>
                </a:rPr>
                <a:t>(AI) 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27" name="이등변 삼각형 26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8" name="직선 연결선 27"/>
          <p:cNvCxnSpPr/>
          <p:nvPr/>
        </p:nvCxnSpPr>
        <p:spPr>
          <a:xfrm>
            <a:off x="395536" y="2640646"/>
            <a:ext cx="0" cy="338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0134C-ED88-2B7E-54C1-647FC1FF5EAC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84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419872" y="66259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제조실행</a:t>
            </a:r>
            <a:r>
              <a:rPr lang="en-US" altLang="ko-KR" sz="900" dirty="0">
                <a:solidFill>
                  <a:schemeClr val="tx1"/>
                </a:solidFill>
              </a:rPr>
              <a:t>(MES) </a:t>
            </a:r>
            <a:r>
              <a:rPr lang="ko-KR" altLang="en-US" sz="900" dirty="0">
                <a:solidFill>
                  <a:schemeClr val="tx1"/>
                </a:solidFill>
              </a:rPr>
              <a:t>컨설팅  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빅데이터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</a:rPr>
              <a:t>Bigdata</a:t>
            </a:r>
            <a:r>
              <a:rPr lang="en-US" altLang="ko-KR" sz="900" dirty="0">
                <a:solidFill>
                  <a:schemeClr val="tx1"/>
                </a:solidFill>
              </a:rPr>
              <a:t>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 인공지능</a:t>
            </a:r>
            <a:r>
              <a:rPr lang="en-US" altLang="ko-KR" sz="900" dirty="0">
                <a:solidFill>
                  <a:schemeClr val="tx1"/>
                </a:solidFill>
              </a:rPr>
              <a:t>(AI)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chemeClr val="tx1"/>
                </a:solidFill>
              </a:rPr>
              <a:t>  </a:t>
            </a:r>
            <a:r>
              <a:rPr lang="ko-KR" altLang="en-US" sz="900" dirty="0">
                <a:solidFill>
                  <a:srgbClr val="FF0000"/>
                </a:solidFill>
              </a:rPr>
              <a:t>창업 컨설팅  </a:t>
            </a:r>
            <a:r>
              <a:rPr lang="ko-KR" altLang="en-US" sz="900" dirty="0">
                <a:solidFill>
                  <a:schemeClr val="tx1"/>
                </a:solidFill>
              </a:rPr>
              <a:t>경영 컨설팅</a:t>
            </a:r>
            <a:endParaRPr lang="ko-KR" altLang="en-US" sz="9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5076056" y="332656"/>
            <a:ext cx="936104" cy="366488"/>
            <a:chOff x="5076056" y="332656"/>
            <a:chExt cx="792088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835696" y="1124744"/>
            <a:ext cx="267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창업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창업</a:t>
            </a:r>
            <a:r>
              <a:rPr lang="en-US" altLang="ko-KR" sz="800" dirty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컨설팅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520" y="1196752"/>
            <a:ext cx="122661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제조실행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(MES)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돋움" panose="020B0600000101010101" pitchFamily="50" charset="-127"/>
                <a:ea typeface="돋움" panose="020B0600000101010101" pitchFamily="50" charset="-127"/>
              </a:rPr>
              <a:t>빅데이터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(BD)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인공지능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(AI)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251520" y="2657664"/>
            <a:ext cx="1296144" cy="158100"/>
            <a:chOff x="251520" y="2492896"/>
            <a:chExt cx="1296144" cy="158100"/>
          </a:xfrm>
        </p:grpSpPr>
        <p:sp>
          <p:nvSpPr>
            <p:cNvPr id="23" name="대각선 방향의 모서리가 잘린 사각형 22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창업</a:t>
              </a:r>
              <a:r>
                <a:rPr lang="en-US" altLang="ko-KR" sz="800" b="1" dirty="0">
                  <a:latin typeface="+mn-ea"/>
                </a:rPr>
                <a:t> 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29" name="이등변 삼각형 28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339F8CA-65BF-3ED6-5BE0-0515B0A3E8ED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3568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419872" y="662598"/>
            <a:ext cx="55446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제조실행</a:t>
            </a:r>
            <a:r>
              <a:rPr lang="en-US" altLang="ko-KR" sz="900" dirty="0">
                <a:solidFill>
                  <a:schemeClr val="tx1"/>
                </a:solidFill>
              </a:rPr>
              <a:t>(MES) </a:t>
            </a:r>
            <a:r>
              <a:rPr lang="ko-KR" altLang="en-US" sz="900" dirty="0">
                <a:solidFill>
                  <a:schemeClr val="tx1"/>
                </a:solidFill>
              </a:rPr>
              <a:t>컨설팅  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빅데이터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</a:rPr>
              <a:t>Bigdata</a:t>
            </a:r>
            <a:r>
              <a:rPr lang="en-US" altLang="ko-KR" sz="900" dirty="0">
                <a:solidFill>
                  <a:schemeClr val="tx1"/>
                </a:solidFill>
              </a:rPr>
              <a:t>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 인공지능</a:t>
            </a:r>
            <a:r>
              <a:rPr lang="en-US" altLang="ko-KR" sz="900" dirty="0">
                <a:solidFill>
                  <a:schemeClr val="tx1"/>
                </a:solidFill>
              </a:rPr>
              <a:t>(AI) </a:t>
            </a:r>
            <a:r>
              <a:rPr lang="ko-KR" altLang="en-US" sz="900" dirty="0">
                <a:solidFill>
                  <a:schemeClr val="tx1"/>
                </a:solidFill>
              </a:rPr>
              <a:t>컨설팅</a:t>
            </a:r>
            <a:r>
              <a:rPr lang="en-US" altLang="ko-KR" sz="900" dirty="0">
                <a:solidFill>
                  <a:schemeClr val="tx1"/>
                </a:solidFill>
              </a:rPr>
              <a:t>  </a:t>
            </a:r>
            <a:r>
              <a:rPr lang="ko-KR" altLang="en-US" sz="900" dirty="0">
                <a:solidFill>
                  <a:schemeClr val="tx1"/>
                </a:solidFill>
              </a:rPr>
              <a:t>창업 컨설팅  </a:t>
            </a:r>
            <a:r>
              <a:rPr lang="ko-KR" altLang="en-US" sz="900" dirty="0">
                <a:solidFill>
                  <a:srgbClr val="FF0000"/>
                </a:solidFill>
              </a:rPr>
              <a:t>경영 컨설팅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5076056" y="332656"/>
            <a:ext cx="936104" cy="366488"/>
            <a:chOff x="5076056" y="332656"/>
            <a:chExt cx="792088" cy="36648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서비스소개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835696" y="1124744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경영</a:t>
            </a:r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컨설팀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제품소개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경영</a:t>
            </a:r>
            <a:r>
              <a:rPr lang="en-US" altLang="ko-KR" sz="800" dirty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컨설팅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520" y="1196752"/>
            <a:ext cx="122661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SERVICE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INTRODUCT</a:t>
            </a:r>
          </a:p>
          <a:p>
            <a:r>
              <a:rPr lang="ko-KR" altLang="en-US" sz="1100" dirty="0">
                <a:latin typeface="HY헤드라인M" pitchFamily="18" charset="-127"/>
                <a:ea typeface="HY헤드라인M" pitchFamily="18" charset="-127"/>
              </a:rPr>
              <a:t>제품소개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제조실행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(MES)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  <a:endParaRPr lang="en-US" altLang="ko-KR" sz="8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돋움" panose="020B0600000101010101" pitchFamily="50" charset="-127"/>
                <a:ea typeface="돋움" panose="020B0600000101010101" pitchFamily="50" charset="-127"/>
              </a:rPr>
              <a:t>빅데이터</a:t>
            </a:r>
            <a:r>
              <a:rPr lang="en-US" altLang="ko-KR" sz="800" dirty="0">
                <a:latin typeface="돋움" panose="020B0600000101010101" pitchFamily="50" charset="-127"/>
                <a:ea typeface="돋움" panose="020B0600000101010101" pitchFamily="50" charset="-127"/>
              </a:rPr>
              <a:t>(BD) </a:t>
            </a: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컨설팅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anose="020B0600000101010101" pitchFamily="50" charset="-127"/>
                <a:ea typeface="돋움" panose="020B0600000101010101" pitchFamily="50" charset="-127"/>
              </a:rPr>
              <a:t>인공지능</a:t>
            </a:r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(AI) </a:t>
            </a: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창업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경영 컨설팅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251520" y="2838852"/>
            <a:ext cx="1296144" cy="158100"/>
            <a:chOff x="251520" y="2492896"/>
            <a:chExt cx="1296144" cy="158100"/>
          </a:xfrm>
        </p:grpSpPr>
        <p:sp>
          <p:nvSpPr>
            <p:cNvPr id="23" name="대각선 방향의 모서리가 잘린 사각형 22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경영</a:t>
              </a:r>
              <a:r>
                <a:rPr lang="en-US" altLang="ko-KR" sz="800" b="1" dirty="0">
                  <a:latin typeface="+mn-ea"/>
                </a:rPr>
                <a:t> </a:t>
              </a:r>
              <a:r>
                <a:rPr lang="ko-KR" altLang="en-US" sz="800" b="1" dirty="0">
                  <a:latin typeface="+mn-ea"/>
                </a:rPr>
                <a:t>컨설팅</a:t>
              </a:r>
            </a:p>
          </p:txBody>
        </p:sp>
        <p:sp>
          <p:nvSpPr>
            <p:cNvPr id="29" name="이등변 삼각형 28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A4DA83-9DE2-288B-BE08-6CA6E45040C2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133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5724128" y="662598"/>
            <a:ext cx="1728192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연구소안내 </a:t>
            </a:r>
            <a:r>
              <a:rPr lang="ko-KR" altLang="en-US" sz="900" dirty="0">
                <a:solidFill>
                  <a:schemeClr val="tx1"/>
                </a:solidFill>
              </a:rPr>
              <a:t>보유기술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520" y="1196752"/>
            <a:ext cx="1119217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RESEARCH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INSTITUTE</a:t>
            </a:r>
          </a:p>
          <a:p>
            <a:r>
              <a:rPr lang="ko-KR" altLang="en-US" sz="1100" dirty="0">
                <a:latin typeface="Impact" pitchFamily="34" charset="0"/>
                <a:ea typeface="HY헤드라인M" pitchFamily="18" charset="-127"/>
              </a:rPr>
              <a:t>기술연구소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연구소안내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보유기술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251520" y="2132856"/>
            <a:ext cx="1296144" cy="158100"/>
            <a:chOff x="251520" y="2492896"/>
            <a:chExt cx="1296144" cy="158100"/>
          </a:xfrm>
        </p:grpSpPr>
        <p:sp>
          <p:nvSpPr>
            <p:cNvPr id="14" name="대각선 방향의 모서리가 잘린 사각형 1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연구소안내</a:t>
              </a:r>
            </a:p>
          </p:txBody>
        </p:sp>
        <p:sp>
          <p:nvSpPr>
            <p:cNvPr id="15" name="이등변 삼각형 14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5940152" y="332656"/>
            <a:ext cx="936104" cy="366487"/>
            <a:chOff x="5076056" y="332656"/>
            <a:chExt cx="936104" cy="366487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936104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기술연구소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4"/>
              <a:ext cx="93610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835696" y="1124744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연구소안내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기술연구소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연구소안내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/>
          <p:cNvGrpSpPr/>
          <p:nvPr/>
        </p:nvGrpSpPr>
        <p:grpSpPr>
          <a:xfrm>
            <a:off x="2008840" y="1778417"/>
            <a:ext cx="6399312" cy="3973239"/>
            <a:chOff x="2008840" y="1778417"/>
            <a:chExt cx="6399312" cy="3973239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8840" y="1778417"/>
              <a:ext cx="6399312" cy="3973239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93702">
              <a:off x="5072545" y="3232188"/>
              <a:ext cx="1365282" cy="68264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6F5DC0-702F-2022-F2CB-EFABF6CF6D56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410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5796136" y="662598"/>
            <a:ext cx="1656184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연구소안내</a:t>
            </a:r>
            <a:r>
              <a:rPr lang="ko-KR" altLang="en-US" sz="900" dirty="0">
                <a:solidFill>
                  <a:srgbClr val="FF0000"/>
                </a:solidFill>
              </a:rPr>
              <a:t> 보유기술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520" y="1196752"/>
            <a:ext cx="1119217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RESEARCH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INSTITUTE</a:t>
            </a:r>
          </a:p>
          <a:p>
            <a:r>
              <a:rPr lang="ko-KR" altLang="en-US" sz="1100" dirty="0">
                <a:latin typeface="Impact" pitchFamily="34" charset="0"/>
                <a:ea typeface="HY헤드라인M" pitchFamily="18" charset="-127"/>
              </a:rPr>
              <a:t>기술연구소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연구소안내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보유기술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251520" y="2348880"/>
            <a:ext cx="1296144" cy="158100"/>
            <a:chOff x="251520" y="2492896"/>
            <a:chExt cx="1296144" cy="158100"/>
          </a:xfrm>
        </p:grpSpPr>
        <p:sp>
          <p:nvSpPr>
            <p:cNvPr id="14" name="대각선 방향의 모서리가 잘린 사각형 13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보유기술</a:t>
              </a:r>
            </a:p>
          </p:txBody>
        </p:sp>
        <p:sp>
          <p:nvSpPr>
            <p:cNvPr id="15" name="이등변 삼각형 14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5940152" y="332656"/>
            <a:ext cx="936104" cy="366487"/>
            <a:chOff x="5076056" y="332656"/>
            <a:chExt cx="936104" cy="366487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076056" y="332656"/>
              <a:ext cx="936104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기술연구소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flipV="1">
              <a:off x="5076056" y="653424"/>
              <a:ext cx="93610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835696" y="1124744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보유기술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기술연구소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보유기술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8" name="순서도: 화면 표시 17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771800" y="2566358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빅데이터</a:t>
            </a:r>
            <a:r>
              <a:rPr lang="ko-KR" altLang="en-US" dirty="0"/>
              <a:t> 분석 소개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3490" y="3275844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인공지능 알고리즘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817C1-22D6-C273-9352-D816A8B235CA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771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6804248" y="662598"/>
            <a:ext cx="1836204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인재상</a:t>
            </a:r>
            <a:r>
              <a:rPr lang="ko-KR" altLang="en-US" sz="900" dirty="0">
                <a:solidFill>
                  <a:schemeClr val="tx1"/>
                </a:solidFill>
              </a:rPr>
              <a:t>  자격요건  채용공지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8560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GLOBAL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HR</a:t>
            </a:r>
          </a:p>
          <a:p>
            <a:r>
              <a:rPr lang="ko-KR" altLang="en-US" sz="1200" dirty="0">
                <a:latin typeface="Impact" pitchFamily="34" charset="0"/>
                <a:ea typeface="HY헤드라인M" pitchFamily="18" charset="-127"/>
              </a:rPr>
              <a:t>채용정보</a:t>
            </a:r>
            <a:endParaRPr lang="en-US" altLang="ko-KR" sz="12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인재상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자격요건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채용공고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51520" y="2334796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인재상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687625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채용정보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인재상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채용정보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인재상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609" y="1875288"/>
            <a:ext cx="6217699" cy="3497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F9BE90-408C-2244-564B-75FE584ECE2F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021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6804248" y="662598"/>
            <a:ext cx="19442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인재상</a:t>
            </a:r>
            <a:r>
              <a:rPr lang="ko-KR" altLang="en-US" sz="900" dirty="0">
                <a:solidFill>
                  <a:srgbClr val="FF0000"/>
                </a:solidFill>
              </a:rPr>
              <a:t>  자격요건  </a:t>
            </a:r>
            <a:r>
              <a:rPr lang="ko-KR" altLang="en-US" sz="900" dirty="0">
                <a:solidFill>
                  <a:schemeClr val="tx1"/>
                </a:solidFill>
              </a:rPr>
              <a:t>채용공지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8560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GLOBAL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HR</a:t>
            </a:r>
          </a:p>
          <a:p>
            <a:r>
              <a:rPr lang="ko-KR" altLang="en-US" sz="1200" dirty="0">
                <a:latin typeface="Impact" pitchFamily="34" charset="0"/>
                <a:ea typeface="HY헤드라인M" pitchFamily="18" charset="-127"/>
              </a:rPr>
              <a:t>채용정보</a:t>
            </a:r>
            <a:endParaRPr lang="en-US" altLang="ko-KR" sz="12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인재상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자격요건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채용공고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51520" y="2564904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자격요건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687625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채용정보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자격요건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채용정보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자격요건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700808"/>
            <a:ext cx="6305550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31E05C-A4F0-9CE4-079C-9AEE7BFFEE2B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5001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6804248" y="662598"/>
            <a:ext cx="194421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인재상</a:t>
            </a:r>
            <a:r>
              <a:rPr lang="ko-KR" altLang="en-US" sz="900" dirty="0">
                <a:solidFill>
                  <a:srgbClr val="FF0000"/>
                </a:solidFill>
              </a:rPr>
              <a:t>  </a:t>
            </a:r>
            <a:r>
              <a:rPr lang="ko-KR" altLang="en-US" sz="900" dirty="0">
                <a:solidFill>
                  <a:schemeClr val="tx1"/>
                </a:solidFill>
              </a:rPr>
              <a:t>자격요건</a:t>
            </a:r>
            <a:r>
              <a:rPr lang="ko-KR" altLang="en-US" sz="900" dirty="0">
                <a:solidFill>
                  <a:srgbClr val="FF0000"/>
                </a:solidFill>
              </a:rPr>
              <a:t>  채용공지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85606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GLOBAL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HR</a:t>
            </a:r>
          </a:p>
          <a:p>
            <a:r>
              <a:rPr lang="ko-KR" altLang="en-US" sz="1200" dirty="0">
                <a:latin typeface="Impact" pitchFamily="34" charset="0"/>
                <a:ea typeface="HY헤드라인M" pitchFamily="18" charset="-127"/>
              </a:rPr>
              <a:t>채용정보</a:t>
            </a:r>
            <a:endParaRPr lang="en-US" altLang="ko-KR" sz="12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인재상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자격요건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채용공지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2780928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채용공지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687625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채용정보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채용공지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채용정보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 err="1">
                <a:latin typeface="+mn-ea"/>
              </a:rPr>
              <a:t>채영공지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628800"/>
            <a:ext cx="6494900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69535D-1EF9-2BB6-18AE-5D84B655E727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5603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851920" y="662598"/>
            <a:ext cx="518457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교육장안내</a:t>
            </a:r>
            <a:r>
              <a:rPr lang="ko-KR" altLang="en-US" sz="900" dirty="0">
                <a:solidFill>
                  <a:schemeClr val="tx1"/>
                </a:solidFill>
              </a:rPr>
              <a:t> 온라인고객센터 제품사용설명서 교육동영상 </a:t>
            </a:r>
            <a:r>
              <a:rPr lang="ko-KR" altLang="en-US" sz="900" dirty="0" err="1">
                <a:solidFill>
                  <a:schemeClr val="tx1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원격지원 </a:t>
            </a:r>
            <a:r>
              <a:rPr lang="en-US" altLang="ko-KR" sz="900" dirty="0">
                <a:solidFill>
                  <a:schemeClr val="tx1"/>
                </a:solidFill>
              </a:rPr>
              <a:t>Q&amp;A HELPDESK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339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돋움" pitchFamily="50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돋움" pitchFamily="50" charset="-127"/>
              </a:rPr>
              <a:t>SUPPORT</a:t>
            </a:r>
          </a:p>
          <a:p>
            <a:r>
              <a:rPr lang="ko-KR" altLang="en-US" sz="1100" b="1" dirty="0">
                <a:latin typeface="HY헤드라인M" pitchFamily="18" charset="-127"/>
                <a:ea typeface="HY헤드라인M" pitchFamily="18" charset="-127"/>
              </a:rPr>
              <a:t>고객지원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2492896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교육장안내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교육장안내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교육장안내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840" y="1778417"/>
            <a:ext cx="6399312" cy="39732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93702">
            <a:off x="5072545" y="3232188"/>
            <a:ext cx="1365282" cy="6826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1FAF77-C079-0642-99FE-A92D6EF52865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929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23928" y="662598"/>
            <a:ext cx="51125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교육장안내 </a:t>
            </a:r>
            <a:r>
              <a:rPr lang="ko-KR" altLang="en-US" sz="900" dirty="0">
                <a:solidFill>
                  <a:srgbClr val="FF0000"/>
                </a:solidFill>
              </a:rPr>
              <a:t>온라인고객지원</a:t>
            </a:r>
            <a:r>
              <a:rPr lang="ko-KR" altLang="en-US" sz="900" dirty="0">
                <a:solidFill>
                  <a:schemeClr val="tx1"/>
                </a:solidFill>
              </a:rPr>
              <a:t> 제품사용설명서 교육동영상 </a:t>
            </a:r>
            <a:r>
              <a:rPr lang="ko-KR" altLang="en-US" sz="900" dirty="0" err="1">
                <a:solidFill>
                  <a:schemeClr val="tx1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원격지원 </a:t>
            </a:r>
            <a:r>
              <a:rPr lang="en-US" altLang="ko-KR" sz="900" dirty="0">
                <a:solidFill>
                  <a:schemeClr val="tx1"/>
                </a:solidFill>
              </a:rPr>
              <a:t>Q&amp;A HELPDESK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339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SUPPORT</a:t>
            </a:r>
          </a:p>
          <a:p>
            <a:r>
              <a:rPr lang="ko-KR" altLang="en-US" sz="1100" b="1" dirty="0">
                <a:latin typeface="HY헤드라인M" pitchFamily="18" charset="-127"/>
                <a:ea typeface="HY헤드라인M" pitchFamily="18" charset="-127"/>
              </a:rPr>
              <a:t>고객지원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2766844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온라인고객지원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온라인 고객지원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온라인고객센터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073" y="1916832"/>
            <a:ext cx="5723271" cy="3475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DE29E3-3ECA-F5DA-6E17-BAE932CBF567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2975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23928" y="662598"/>
            <a:ext cx="51125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교육장안내 온라인고객센터 </a:t>
            </a:r>
            <a:r>
              <a:rPr lang="ko-KR" altLang="en-US" sz="900" dirty="0">
                <a:solidFill>
                  <a:srgbClr val="FF0000"/>
                </a:solidFill>
              </a:rPr>
              <a:t>제품사용설명서</a:t>
            </a:r>
            <a:r>
              <a:rPr lang="ko-KR" altLang="en-US" sz="900" dirty="0">
                <a:solidFill>
                  <a:schemeClr val="tx1"/>
                </a:solidFill>
              </a:rPr>
              <a:t> 교육동영상 </a:t>
            </a:r>
            <a:r>
              <a:rPr lang="ko-KR" altLang="en-US" sz="900" dirty="0" err="1">
                <a:solidFill>
                  <a:schemeClr val="tx1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원격지원 </a:t>
            </a:r>
            <a:r>
              <a:rPr lang="en-US" altLang="ko-KR" sz="900" dirty="0">
                <a:solidFill>
                  <a:schemeClr val="tx1"/>
                </a:solidFill>
              </a:rPr>
              <a:t>Q&amp;A HELPDESK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339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SUPPORT</a:t>
            </a:r>
          </a:p>
          <a:p>
            <a:r>
              <a:rPr lang="ko-KR" altLang="en-US" sz="1100" b="1" dirty="0">
                <a:latin typeface="HY헤드라인M" pitchFamily="18" charset="-127"/>
                <a:ea typeface="HY헤드라인M" pitchFamily="18" charset="-127"/>
              </a:rPr>
              <a:t>고객지원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2982868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제품사용설명서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제품사용설명서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제품사용설명서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/>
          <p:cNvGrpSpPr/>
          <p:nvPr/>
        </p:nvGrpSpPr>
        <p:grpSpPr>
          <a:xfrm>
            <a:off x="2399770" y="1949377"/>
            <a:ext cx="4793985" cy="2984822"/>
            <a:chOff x="1167281" y="1988840"/>
            <a:chExt cx="6341874" cy="4107160"/>
          </a:xfrm>
          <a:effectLst>
            <a:outerShdw blurRad="76200" dir="18900000" sy="23000" kx="-1200000" algn="bl" rotWithShape="0">
              <a:prstClr val="black">
                <a:alpha val="36000"/>
              </a:prstClr>
            </a:outerShdw>
          </a:effectLst>
        </p:grpSpPr>
        <p:grpSp>
          <p:nvGrpSpPr>
            <p:cNvPr id="21" name="Group 4"/>
            <p:cNvGrpSpPr>
              <a:grpSpLocks/>
            </p:cNvGrpSpPr>
            <p:nvPr/>
          </p:nvGrpSpPr>
          <p:grpSpPr bwMode="auto">
            <a:xfrm>
              <a:off x="3529610" y="1988840"/>
              <a:ext cx="1603172" cy="1367627"/>
              <a:chOff x="2356" y="960"/>
              <a:chExt cx="1192" cy="959"/>
            </a:xfrm>
          </p:grpSpPr>
          <p:grpSp>
            <p:nvGrpSpPr>
              <p:cNvPr id="70" name="Group 5"/>
              <p:cNvGrpSpPr>
                <a:grpSpLocks/>
              </p:cNvGrpSpPr>
              <p:nvPr/>
            </p:nvGrpSpPr>
            <p:grpSpPr bwMode="auto">
              <a:xfrm>
                <a:off x="2356" y="960"/>
                <a:ext cx="1192" cy="959"/>
                <a:chOff x="2057" y="862"/>
                <a:chExt cx="1549" cy="1351"/>
              </a:xfrm>
            </p:grpSpPr>
            <p:sp>
              <p:nvSpPr>
                <p:cNvPr id="72" name="AutoShape 6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73" name="AutoShape 7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74" name="AutoShape 8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7262EC"/>
                    </a:gs>
                    <a:gs pos="100000">
                      <a:srgbClr val="2614AA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gray">
              <a:xfrm>
                <a:off x="2629" y="1269"/>
                <a:ext cx="642" cy="3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kumimoji="0" lang="en-US" altLang="ko-KR" sz="1600" b="1" dirty="0">
                    <a:solidFill>
                      <a:srgbClr val="FFFFFF"/>
                    </a:solidFill>
                    <a:latin typeface="Arial" charset="0"/>
                  </a:rPr>
                  <a:t>QMS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  <p:grpSp>
          <p:nvGrpSpPr>
            <p:cNvPr id="22" name="Group 10"/>
            <p:cNvGrpSpPr>
              <a:grpSpLocks/>
            </p:cNvGrpSpPr>
            <p:nvPr/>
          </p:nvGrpSpPr>
          <p:grpSpPr bwMode="auto">
            <a:xfrm>
              <a:off x="2362199" y="2670514"/>
              <a:ext cx="1604516" cy="1367627"/>
              <a:chOff x="1488" y="1438"/>
              <a:chExt cx="1193" cy="959"/>
            </a:xfrm>
          </p:grpSpPr>
          <p:grpSp>
            <p:nvGrpSpPr>
              <p:cNvPr id="65" name="Group 11"/>
              <p:cNvGrpSpPr>
                <a:grpSpLocks/>
              </p:cNvGrpSpPr>
              <p:nvPr/>
            </p:nvGrpSpPr>
            <p:grpSpPr bwMode="auto">
              <a:xfrm>
                <a:off x="1488" y="1438"/>
                <a:ext cx="1193" cy="959"/>
                <a:chOff x="1110" y="2656"/>
                <a:chExt cx="1549" cy="1351"/>
              </a:xfrm>
            </p:grpSpPr>
            <p:sp>
              <p:nvSpPr>
                <p:cNvPr id="67" name="AutoShape 12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68" name="AutoShape 13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69" name="AutoShape 14"/>
                <p:cNvSpPr>
                  <a:spLocks noChangeArrowheads="1"/>
                </p:cNvSpPr>
                <p:nvPr/>
              </p:nvSpPr>
              <p:spPr bwMode="gray">
                <a:xfrm>
                  <a:off x="1200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49ACE3">
                        <a:gamma/>
                        <a:shade val="94118"/>
                        <a:invGamma/>
                      </a:srgbClr>
                    </a:gs>
                    <a:gs pos="100000">
                      <a:srgbClr val="49ACE3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66" name="Text Box 15"/>
              <p:cNvSpPr txBox="1">
                <a:spLocks noChangeArrowheads="1"/>
              </p:cNvSpPr>
              <p:nvPr/>
            </p:nvSpPr>
            <p:spPr bwMode="gray">
              <a:xfrm>
                <a:off x="1774" y="1747"/>
                <a:ext cx="629" cy="3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kumimoji="0" lang="en-US" altLang="ko-KR" sz="1600" b="1" dirty="0">
                    <a:solidFill>
                      <a:srgbClr val="FFFFFF"/>
                    </a:solidFill>
                    <a:latin typeface="Arial" charset="0"/>
                  </a:rPr>
                  <a:t>SCM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  <p:grpSp>
          <p:nvGrpSpPr>
            <p:cNvPr id="23" name="Group 16"/>
            <p:cNvGrpSpPr>
              <a:grpSpLocks/>
            </p:cNvGrpSpPr>
            <p:nvPr/>
          </p:nvGrpSpPr>
          <p:grpSpPr bwMode="auto">
            <a:xfrm>
              <a:off x="3529608" y="3356467"/>
              <a:ext cx="1603171" cy="1367627"/>
              <a:chOff x="2356" y="1919"/>
              <a:chExt cx="1192" cy="959"/>
            </a:xfrm>
          </p:grpSpPr>
          <p:grpSp>
            <p:nvGrpSpPr>
              <p:cNvPr id="60" name="Group 17"/>
              <p:cNvGrpSpPr>
                <a:grpSpLocks/>
              </p:cNvGrpSpPr>
              <p:nvPr/>
            </p:nvGrpSpPr>
            <p:grpSpPr bwMode="auto">
              <a:xfrm>
                <a:off x="2356" y="1919"/>
                <a:ext cx="1192" cy="959"/>
                <a:chOff x="3174" y="2656"/>
                <a:chExt cx="1549" cy="1351"/>
              </a:xfrm>
            </p:grpSpPr>
            <p:sp>
              <p:nvSpPr>
                <p:cNvPr id="62" name="AutoShape 18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63" name="AutoShape 19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64" name="AutoShape 20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blipFill>
                  <a:blip r:embed="rId2" cstate="print"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 b="1" dirty="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61" name="Text Box 21"/>
              <p:cNvSpPr txBox="1">
                <a:spLocks noChangeArrowheads="1"/>
              </p:cNvSpPr>
              <p:nvPr/>
            </p:nvSpPr>
            <p:spPr bwMode="gray">
              <a:xfrm>
                <a:off x="2486" y="2015"/>
                <a:ext cx="932" cy="72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lang="en-US" altLang="ko-KR" sz="1400" b="1" dirty="0">
                    <a:solidFill>
                      <a:srgbClr val="FF0000"/>
                    </a:solidFill>
                    <a:latin typeface="Arial" pitchFamily="34" charset="0"/>
                    <a:ea typeface="HY헤드라인M" pitchFamily="18" charset="-127"/>
                    <a:cs typeface="Arial" pitchFamily="34" charset="0"/>
                  </a:rPr>
                  <a:t>EMAX</a:t>
                </a:r>
              </a:p>
              <a:p>
                <a:pPr algn="ctr" eaLnBrk="0" latinLnBrk="0" hangingPunct="0"/>
                <a:r>
                  <a:rPr kumimoji="0" lang="en-US" altLang="ko-KR" b="1" dirty="0">
                    <a:solidFill>
                      <a:srgbClr val="FF0000"/>
                    </a:solidFill>
                    <a:latin typeface="Arial" pitchFamily="34" charset="0"/>
                    <a:ea typeface="HY헤드라인M" pitchFamily="18" charset="-127"/>
                    <a:cs typeface="Arial" pitchFamily="34" charset="0"/>
                  </a:rPr>
                  <a:t>ERP</a:t>
                </a:r>
              </a:p>
              <a:p>
                <a:pPr algn="ctr" eaLnBrk="0" latinLnBrk="0" hangingPunct="0"/>
                <a:r>
                  <a:rPr kumimoji="0" lang="en-US" altLang="ko-KR" sz="1000" dirty="0">
                    <a:solidFill>
                      <a:srgbClr val="FF0000"/>
                    </a:solidFill>
                    <a:latin typeface="Arial" pitchFamily="34" charset="0"/>
                    <a:ea typeface="HY헤드라인M" pitchFamily="18" charset="-127"/>
                    <a:cs typeface="Arial" pitchFamily="34" charset="0"/>
                  </a:rPr>
                  <a:t>(</a:t>
                </a:r>
                <a:r>
                  <a:rPr kumimoji="0" lang="ko-KR" altLang="en-US" sz="1000" dirty="0">
                    <a:solidFill>
                      <a:srgbClr val="FF0000"/>
                    </a:solidFill>
                    <a:latin typeface="Arial" pitchFamily="34" charset="0"/>
                    <a:ea typeface="HY헤드라인M" pitchFamily="18" charset="-127"/>
                    <a:cs typeface="Arial" pitchFamily="34" charset="0"/>
                  </a:rPr>
                  <a:t>자동차부품</a:t>
                </a:r>
                <a:r>
                  <a:rPr kumimoji="0" lang="en-US" altLang="ko-KR" sz="1000" dirty="0">
                    <a:solidFill>
                      <a:srgbClr val="FF0000"/>
                    </a:solidFill>
                    <a:latin typeface="Arial" pitchFamily="34" charset="0"/>
                    <a:ea typeface="HY헤드라인M" pitchFamily="18" charset="-127"/>
                    <a:cs typeface="Arial" pitchFamily="34" charset="0"/>
                  </a:rPr>
                  <a:t>)</a:t>
                </a:r>
              </a:p>
            </p:txBody>
          </p:sp>
        </p:grpSp>
        <p:grpSp>
          <p:nvGrpSpPr>
            <p:cNvPr id="24" name="Group 22"/>
            <p:cNvGrpSpPr>
              <a:grpSpLocks/>
            </p:cNvGrpSpPr>
            <p:nvPr/>
          </p:nvGrpSpPr>
          <p:grpSpPr bwMode="auto">
            <a:xfrm>
              <a:off x="4695675" y="2670514"/>
              <a:ext cx="1604517" cy="1367627"/>
              <a:chOff x="3223" y="1438"/>
              <a:chExt cx="1193" cy="959"/>
            </a:xfrm>
          </p:grpSpPr>
          <p:grpSp>
            <p:nvGrpSpPr>
              <p:cNvPr id="55" name="Group 23"/>
              <p:cNvGrpSpPr>
                <a:grpSpLocks/>
              </p:cNvGrpSpPr>
              <p:nvPr/>
            </p:nvGrpSpPr>
            <p:grpSpPr bwMode="auto">
              <a:xfrm>
                <a:off x="3223" y="1438"/>
                <a:ext cx="1193" cy="959"/>
                <a:chOff x="2057" y="862"/>
                <a:chExt cx="1549" cy="1351"/>
              </a:xfrm>
            </p:grpSpPr>
            <p:sp>
              <p:nvSpPr>
                <p:cNvPr id="57" name="AutoShape 24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58" name="AutoShape 25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59" name="AutoShape 26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85B9C3">
                        <a:gamma/>
                        <a:shade val="46275"/>
                        <a:invGamma/>
                      </a:srgbClr>
                    </a:gs>
                    <a:gs pos="100000">
                      <a:srgbClr val="85B9C3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56" name="Text Box 27"/>
              <p:cNvSpPr txBox="1">
                <a:spLocks noChangeArrowheads="1"/>
              </p:cNvSpPr>
              <p:nvPr/>
            </p:nvSpPr>
            <p:spPr bwMode="gray">
              <a:xfrm>
                <a:off x="3491" y="1797"/>
                <a:ext cx="664" cy="3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kumimoji="0" lang="en-US" altLang="ko-KR" sz="1600" b="1" dirty="0">
                    <a:solidFill>
                      <a:srgbClr val="FFFFFF"/>
                    </a:solidFill>
                    <a:latin typeface="Arial" charset="0"/>
                  </a:rPr>
                  <a:t>COIL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  <p:grpSp>
          <p:nvGrpSpPr>
            <p:cNvPr id="25" name="Group 28"/>
            <p:cNvGrpSpPr>
              <a:grpSpLocks/>
            </p:cNvGrpSpPr>
            <p:nvPr/>
          </p:nvGrpSpPr>
          <p:grpSpPr bwMode="auto">
            <a:xfrm>
              <a:off x="4695675" y="4042420"/>
              <a:ext cx="1604517" cy="1367627"/>
              <a:chOff x="3223" y="2400"/>
              <a:chExt cx="1193" cy="959"/>
            </a:xfrm>
          </p:grpSpPr>
          <p:grpSp>
            <p:nvGrpSpPr>
              <p:cNvPr id="50" name="Group 29"/>
              <p:cNvGrpSpPr>
                <a:grpSpLocks/>
              </p:cNvGrpSpPr>
              <p:nvPr/>
            </p:nvGrpSpPr>
            <p:grpSpPr bwMode="auto">
              <a:xfrm>
                <a:off x="3223" y="2400"/>
                <a:ext cx="1193" cy="959"/>
                <a:chOff x="3174" y="2656"/>
                <a:chExt cx="1549" cy="1351"/>
              </a:xfrm>
            </p:grpSpPr>
            <p:sp>
              <p:nvSpPr>
                <p:cNvPr id="52" name="AutoShape 30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53" name="AutoShape 31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54" name="AutoShape 32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41D592">
                        <a:gamma/>
                        <a:shade val="51373"/>
                        <a:invGamma/>
                      </a:srgbClr>
                    </a:gs>
                    <a:gs pos="100000">
                      <a:srgbClr val="41D592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51" name="Text Box 33"/>
              <p:cNvSpPr txBox="1">
                <a:spLocks noChangeArrowheads="1"/>
              </p:cNvSpPr>
              <p:nvPr/>
            </p:nvSpPr>
            <p:spPr bwMode="gray">
              <a:xfrm>
                <a:off x="3551" y="2650"/>
                <a:ext cx="585" cy="56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kumimoji="0" lang="ko-KR" altLang="en-US" sz="1600" b="1" dirty="0">
                    <a:solidFill>
                      <a:srgbClr val="FFFFFF"/>
                    </a:solidFill>
                    <a:latin typeface="Arial" charset="0"/>
                  </a:rPr>
                  <a:t>예산</a:t>
                </a:r>
                <a:endParaRPr kumimoji="0" lang="en-US" altLang="ko-KR" sz="1600" b="1" dirty="0">
                  <a:solidFill>
                    <a:srgbClr val="FFFFFF"/>
                  </a:solidFill>
                  <a:latin typeface="Arial" charset="0"/>
                </a:endParaRPr>
              </a:p>
              <a:p>
                <a:pPr algn="ctr" eaLnBrk="0" latinLnBrk="0" hangingPunct="0"/>
                <a:r>
                  <a:rPr lang="ko-KR" altLang="en-US" sz="1600" b="1" dirty="0">
                    <a:solidFill>
                      <a:srgbClr val="FFFFFF"/>
                    </a:solidFill>
                    <a:latin typeface="Arial" charset="0"/>
                  </a:rPr>
                  <a:t>통제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  <p:grpSp>
          <p:nvGrpSpPr>
            <p:cNvPr id="26" name="Group 34"/>
            <p:cNvGrpSpPr>
              <a:grpSpLocks/>
            </p:cNvGrpSpPr>
            <p:nvPr/>
          </p:nvGrpSpPr>
          <p:grpSpPr bwMode="auto">
            <a:xfrm>
              <a:off x="2362201" y="4042420"/>
              <a:ext cx="1604517" cy="1367627"/>
              <a:chOff x="1488" y="2400"/>
              <a:chExt cx="1193" cy="959"/>
            </a:xfrm>
          </p:grpSpPr>
          <p:grpSp>
            <p:nvGrpSpPr>
              <p:cNvPr id="45" name="Group 35"/>
              <p:cNvGrpSpPr>
                <a:grpSpLocks/>
              </p:cNvGrpSpPr>
              <p:nvPr/>
            </p:nvGrpSpPr>
            <p:grpSpPr bwMode="auto">
              <a:xfrm>
                <a:off x="1488" y="2400"/>
                <a:ext cx="1193" cy="959"/>
                <a:chOff x="3174" y="2656"/>
                <a:chExt cx="1549" cy="1351"/>
              </a:xfrm>
            </p:grpSpPr>
            <p:sp>
              <p:nvSpPr>
                <p:cNvPr id="47" name="AutoShape 36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48" name="AutoShape 37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49" name="AutoShape 38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0099CC">
                        <a:gamma/>
                        <a:shade val="84706"/>
                        <a:invGamma/>
                      </a:srgbClr>
                    </a:gs>
                    <a:gs pos="100000">
                      <a:srgbClr val="0099CC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46" name="Text Box 39"/>
              <p:cNvSpPr txBox="1">
                <a:spLocks noChangeArrowheads="1"/>
              </p:cNvSpPr>
              <p:nvPr/>
            </p:nvSpPr>
            <p:spPr bwMode="gray">
              <a:xfrm>
                <a:off x="1781" y="2706"/>
                <a:ext cx="617" cy="3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kumimoji="0" lang="en-US" altLang="ko-KR" sz="1600" b="1" dirty="0">
                    <a:solidFill>
                      <a:srgbClr val="FFFFFF"/>
                    </a:solidFill>
                    <a:latin typeface="Arial" charset="0"/>
                  </a:rPr>
                  <a:t>CKD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  <p:grpSp>
          <p:nvGrpSpPr>
            <p:cNvPr id="27" name="Group 40"/>
            <p:cNvGrpSpPr>
              <a:grpSpLocks/>
            </p:cNvGrpSpPr>
            <p:nvPr/>
          </p:nvGrpSpPr>
          <p:grpSpPr bwMode="auto">
            <a:xfrm>
              <a:off x="3529609" y="4728373"/>
              <a:ext cx="1603172" cy="1367627"/>
              <a:chOff x="2356" y="2881"/>
              <a:chExt cx="1192" cy="959"/>
            </a:xfrm>
          </p:grpSpPr>
          <p:grpSp>
            <p:nvGrpSpPr>
              <p:cNvPr id="40" name="Group 41"/>
              <p:cNvGrpSpPr>
                <a:grpSpLocks/>
              </p:cNvGrpSpPr>
              <p:nvPr/>
            </p:nvGrpSpPr>
            <p:grpSpPr bwMode="auto">
              <a:xfrm>
                <a:off x="2356" y="2881"/>
                <a:ext cx="1192" cy="959"/>
                <a:chOff x="3174" y="2656"/>
                <a:chExt cx="1549" cy="1351"/>
              </a:xfrm>
            </p:grpSpPr>
            <p:sp>
              <p:nvSpPr>
                <p:cNvPr id="42" name="AutoShape 42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43" name="AutoShape 43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44" name="AutoShape 44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33CCCC">
                        <a:gamma/>
                        <a:shade val="46275"/>
                        <a:invGamma/>
                      </a:srgbClr>
                    </a:gs>
                    <a:gs pos="100000">
                      <a:srgbClr val="33CCCC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41" name="Text Box 45"/>
              <p:cNvSpPr txBox="1">
                <a:spLocks noChangeArrowheads="1"/>
              </p:cNvSpPr>
              <p:nvPr/>
            </p:nvSpPr>
            <p:spPr bwMode="gray">
              <a:xfrm>
                <a:off x="2648" y="3095"/>
                <a:ext cx="618" cy="56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kumimoji="0" lang="en-US" altLang="ko-KR" sz="1600" b="1" dirty="0">
                    <a:solidFill>
                      <a:srgbClr val="FFFFFF"/>
                    </a:solidFill>
                    <a:latin typeface="Arial" charset="0"/>
                  </a:rPr>
                  <a:t>MES</a:t>
                </a:r>
              </a:p>
              <a:p>
                <a:pPr algn="ctr" eaLnBrk="0" latinLnBrk="0" hangingPunct="0"/>
                <a:r>
                  <a:rPr lang="en-US" altLang="ko-KR" sz="1600" b="1" dirty="0">
                    <a:solidFill>
                      <a:srgbClr val="FFFFFF"/>
                    </a:solidFill>
                    <a:latin typeface="Arial" charset="0"/>
                  </a:rPr>
                  <a:t>POP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  <p:grpSp>
          <p:nvGrpSpPr>
            <p:cNvPr id="28" name="Group 22"/>
            <p:cNvGrpSpPr>
              <a:grpSpLocks/>
            </p:cNvGrpSpPr>
            <p:nvPr/>
          </p:nvGrpSpPr>
          <p:grpSpPr bwMode="auto">
            <a:xfrm>
              <a:off x="1167281" y="3309228"/>
              <a:ext cx="1604517" cy="1415916"/>
              <a:chOff x="3223" y="1438"/>
              <a:chExt cx="1193" cy="959"/>
            </a:xfrm>
          </p:grpSpPr>
          <p:grpSp>
            <p:nvGrpSpPr>
              <p:cNvPr id="35" name="Group 23"/>
              <p:cNvGrpSpPr>
                <a:grpSpLocks/>
              </p:cNvGrpSpPr>
              <p:nvPr/>
            </p:nvGrpSpPr>
            <p:grpSpPr bwMode="auto">
              <a:xfrm>
                <a:off x="3223" y="1438"/>
                <a:ext cx="1193" cy="959"/>
                <a:chOff x="2057" y="862"/>
                <a:chExt cx="1549" cy="1351"/>
              </a:xfrm>
            </p:grpSpPr>
            <p:sp>
              <p:nvSpPr>
                <p:cNvPr id="37" name="AutoShape 24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38" name="AutoShape 25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39" name="AutoShape 26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85B9C3">
                        <a:gamma/>
                        <a:shade val="46275"/>
                        <a:invGamma/>
                      </a:srgbClr>
                    </a:gs>
                    <a:gs pos="100000">
                      <a:srgbClr val="85B9C3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36" name="Text Box 27"/>
              <p:cNvSpPr txBox="1">
                <a:spLocks noChangeArrowheads="1"/>
              </p:cNvSpPr>
              <p:nvPr/>
            </p:nvSpPr>
            <p:spPr bwMode="gray">
              <a:xfrm>
                <a:off x="3448" y="1750"/>
                <a:ext cx="752" cy="31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kumimoji="0" lang="en-US" altLang="ko-KR" sz="1600" b="1" dirty="0">
                    <a:solidFill>
                      <a:srgbClr val="FFFFFF"/>
                    </a:solidFill>
                    <a:latin typeface="Arial" charset="0"/>
                  </a:rPr>
                  <a:t>APQP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  <p:grpSp>
          <p:nvGrpSpPr>
            <p:cNvPr id="29" name="Group 34"/>
            <p:cNvGrpSpPr>
              <a:grpSpLocks/>
            </p:cNvGrpSpPr>
            <p:nvPr/>
          </p:nvGrpSpPr>
          <p:grpSpPr bwMode="auto">
            <a:xfrm>
              <a:off x="5904639" y="3367338"/>
              <a:ext cx="1604516" cy="1367627"/>
              <a:chOff x="1488" y="2400"/>
              <a:chExt cx="1193" cy="959"/>
            </a:xfrm>
          </p:grpSpPr>
          <p:grpSp>
            <p:nvGrpSpPr>
              <p:cNvPr id="30" name="Group 35"/>
              <p:cNvGrpSpPr>
                <a:grpSpLocks/>
              </p:cNvGrpSpPr>
              <p:nvPr/>
            </p:nvGrpSpPr>
            <p:grpSpPr bwMode="auto">
              <a:xfrm>
                <a:off x="1488" y="2400"/>
                <a:ext cx="1193" cy="959"/>
                <a:chOff x="3174" y="2656"/>
                <a:chExt cx="1549" cy="1351"/>
              </a:xfrm>
            </p:grpSpPr>
            <p:sp>
              <p:nvSpPr>
                <p:cNvPr id="32" name="AutoShape 36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33" name="AutoShape 37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  <p:sp>
              <p:nvSpPr>
                <p:cNvPr id="34" name="AutoShape 38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0099CC">
                        <a:gamma/>
                        <a:shade val="84706"/>
                        <a:invGamma/>
                      </a:srgbClr>
                    </a:gs>
                    <a:gs pos="100000">
                      <a:srgbClr val="0099CC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latinLnBrk="0" hangingPunct="0"/>
                  <a:endParaRPr kumimoji="0" lang="ko-KR" altLang="en-US" sz="1200">
                    <a:solidFill>
                      <a:srgbClr val="FFFFFF"/>
                    </a:solidFill>
                    <a:latin typeface="Arial" charset="0"/>
                    <a:ea typeface="+mn-ea"/>
                  </a:endParaRPr>
                </a:p>
              </p:txBody>
            </p:sp>
          </p:grpSp>
          <p:sp>
            <p:nvSpPr>
              <p:cNvPr id="31" name="Text Box 39"/>
              <p:cNvSpPr txBox="1">
                <a:spLocks noChangeArrowheads="1"/>
              </p:cNvSpPr>
              <p:nvPr/>
            </p:nvSpPr>
            <p:spPr bwMode="gray">
              <a:xfrm>
                <a:off x="1797" y="2602"/>
                <a:ext cx="585" cy="56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latinLnBrk="0" hangingPunct="0"/>
                <a:r>
                  <a:rPr lang="ko-KR" altLang="en-US" sz="1600" b="1" dirty="0">
                    <a:solidFill>
                      <a:srgbClr val="FFFFFF"/>
                    </a:solidFill>
                    <a:latin typeface="Arial" charset="0"/>
                  </a:rPr>
                  <a:t>설비</a:t>
                </a:r>
                <a:endParaRPr lang="en-US" altLang="ko-KR" sz="1600" b="1" dirty="0">
                  <a:solidFill>
                    <a:srgbClr val="FFFFFF"/>
                  </a:solidFill>
                  <a:latin typeface="Arial" charset="0"/>
                </a:endParaRPr>
              </a:p>
              <a:p>
                <a:pPr algn="ctr" eaLnBrk="0" latinLnBrk="0" hangingPunct="0"/>
                <a:r>
                  <a:rPr kumimoji="0" lang="ko-KR" altLang="en-US" sz="1600" b="1" dirty="0">
                    <a:solidFill>
                      <a:srgbClr val="FFFFFF"/>
                    </a:solidFill>
                    <a:latin typeface="Arial" charset="0"/>
                  </a:rPr>
                  <a:t>관리</a:t>
                </a:r>
                <a:endParaRPr kumimoji="0" lang="en-US" altLang="ko-KR" sz="105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3BBF12F-0B31-81A3-B137-31A43541E1FD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559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23928" y="662598"/>
            <a:ext cx="51125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교육장안내 온라인고객센터 제품사용설명서 </a:t>
            </a:r>
            <a:r>
              <a:rPr lang="ko-KR" altLang="en-US" sz="900" dirty="0">
                <a:solidFill>
                  <a:srgbClr val="FF0000"/>
                </a:solidFill>
              </a:rPr>
              <a:t>교육동영상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원격지원 </a:t>
            </a:r>
            <a:r>
              <a:rPr lang="en-US" altLang="ko-KR" sz="900" dirty="0">
                <a:solidFill>
                  <a:schemeClr val="tx1"/>
                </a:solidFill>
              </a:rPr>
              <a:t>Q&amp;A HELPDESK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46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SUPPORT</a:t>
            </a:r>
          </a:p>
          <a:p>
            <a:r>
              <a:rPr lang="ko-KR" altLang="en-US" sz="1100" b="1" dirty="0">
                <a:latin typeface="Impact" pitchFamily="34" charset="0"/>
                <a:ea typeface="HY헤드라인M" pitchFamily="18" charset="-127"/>
              </a:rPr>
              <a:t>고객지원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3212976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교육동영상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교육동영상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교육동영상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/>
          <p:cNvGrpSpPr/>
          <p:nvPr/>
        </p:nvGrpSpPr>
        <p:grpSpPr>
          <a:xfrm>
            <a:off x="1963241" y="1765151"/>
            <a:ext cx="6353175" cy="3248025"/>
            <a:chOff x="1860739" y="1733471"/>
            <a:chExt cx="6353175" cy="3248025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739" y="1733471"/>
              <a:ext cx="6353175" cy="324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612" y="4059842"/>
              <a:ext cx="3606587" cy="582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24912D7-F166-CBAD-B05A-641172825884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7989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23928" y="662598"/>
            <a:ext cx="51125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교육장안내 온라인고객센터 제품사용설명서 교육동영상 </a:t>
            </a:r>
            <a:r>
              <a:rPr lang="ko-KR" altLang="en-US" sz="900" dirty="0" err="1">
                <a:solidFill>
                  <a:srgbClr val="FF0000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원격지원 </a:t>
            </a:r>
            <a:r>
              <a:rPr lang="en-US" altLang="ko-KR" sz="900" dirty="0">
                <a:solidFill>
                  <a:schemeClr val="tx1"/>
                </a:solidFill>
              </a:rPr>
              <a:t>Q&amp;A HELPDESK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46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SUPPORT</a:t>
            </a:r>
          </a:p>
          <a:p>
            <a:r>
              <a:rPr lang="ko-KR" altLang="en-US" sz="1100" b="1" dirty="0">
                <a:latin typeface="Impact" pitchFamily="34" charset="0"/>
                <a:ea typeface="HY헤드라인M" pitchFamily="18" charset="-127"/>
              </a:rPr>
              <a:t>고객지원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3486924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latin typeface="+mn-ea"/>
                </a:rPr>
                <a:t>고객의소리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HY얕은샘물M" pitchFamily="18" charset="-127"/>
                <a:ea typeface="HY얕은샘물M" pitchFamily="18" charset="-127"/>
              </a:rPr>
              <a:t>고객의소리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 err="1">
                <a:latin typeface="+mn-ea"/>
              </a:rPr>
              <a:t>고객의소리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88" y="1758135"/>
            <a:ext cx="5112568" cy="3773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A0E3EA-3DF5-E20D-C524-525CB62DE709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4031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851920" y="662598"/>
            <a:ext cx="518457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교육장안내 온라인고객센터 제품사용설명서 교육동영상 </a:t>
            </a:r>
            <a:r>
              <a:rPr lang="ko-KR" altLang="en-US" sz="900" dirty="0" err="1">
                <a:solidFill>
                  <a:schemeClr val="tx1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rgbClr val="FF0000"/>
                </a:solidFill>
              </a:rPr>
              <a:t>원격지원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Q&amp;A HELPDESK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46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돋움" pitchFamily="50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돋움" pitchFamily="50" charset="-127"/>
              </a:rPr>
              <a:t>SUPPORT</a:t>
            </a:r>
          </a:p>
          <a:p>
            <a:r>
              <a:rPr lang="ko-KR" altLang="en-US" sz="1100" b="1" dirty="0">
                <a:latin typeface="HY헤드라인M" pitchFamily="18" charset="-127"/>
                <a:ea typeface="HY헤드라인M" pitchFamily="18" charset="-127"/>
              </a:rPr>
              <a:t>고객지원</a:t>
            </a:r>
            <a:endParaRPr lang="en-US" altLang="ko-KR" sz="11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3717032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원격지원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29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원격지원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원격지원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6" t="30806" r="42167" b="9202"/>
          <a:stretch/>
        </p:blipFill>
        <p:spPr bwMode="auto">
          <a:xfrm>
            <a:off x="2123728" y="1601560"/>
            <a:ext cx="6048672" cy="4131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DAF91B-E038-071C-92AC-238C7428A653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323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23928" y="662598"/>
            <a:ext cx="51125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교육장안내 온라인고객센터 제품사용설명서 교육동영상 </a:t>
            </a:r>
            <a:r>
              <a:rPr lang="ko-KR" altLang="en-US" sz="900" dirty="0" err="1">
                <a:solidFill>
                  <a:schemeClr val="tx1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원격지원 </a:t>
            </a:r>
            <a:r>
              <a:rPr lang="en-US" altLang="ko-KR" sz="900" dirty="0">
                <a:solidFill>
                  <a:srgbClr val="FF0000"/>
                </a:solidFill>
              </a:rPr>
              <a:t>Q&amp;A </a:t>
            </a:r>
            <a:r>
              <a:rPr lang="en-US" altLang="ko-KR" sz="900" dirty="0">
                <a:solidFill>
                  <a:schemeClr val="tx1"/>
                </a:solidFill>
              </a:rPr>
              <a:t>HELPDESK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339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SUPPORT</a:t>
            </a:r>
          </a:p>
          <a:p>
            <a:r>
              <a:rPr lang="ko-KR" altLang="en-US" sz="1100" b="1" dirty="0">
                <a:latin typeface="Impact" pitchFamily="34" charset="0"/>
                <a:ea typeface="HY헤드라인M" pitchFamily="18" charset="-127"/>
              </a:rPr>
              <a:t>고객지원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3990980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b="1" dirty="0">
                  <a:latin typeface="+mn-ea"/>
                </a:rPr>
                <a:t>Q&amp;A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Q&amp;A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Q&amp;A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365" y="1700808"/>
            <a:ext cx="6409742" cy="3475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0241E2-F809-06E9-9F93-56B4556523C3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76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23928" y="662598"/>
            <a:ext cx="5112568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교육장안내 온라인고객센터 제품사용설명서 교육동영상 </a:t>
            </a:r>
            <a:r>
              <a:rPr lang="ko-KR" altLang="en-US" sz="900" dirty="0" err="1">
                <a:solidFill>
                  <a:schemeClr val="tx1"/>
                </a:solidFill>
              </a:rPr>
              <a:t>고객의소리</a:t>
            </a:r>
            <a:r>
              <a:rPr lang="ko-KR" altLang="en-US" sz="900" dirty="0">
                <a:solidFill>
                  <a:schemeClr val="tx1"/>
                </a:solidFill>
              </a:rPr>
              <a:t> 원격지원 </a:t>
            </a:r>
            <a:r>
              <a:rPr lang="en-US" altLang="ko-KR" sz="900" dirty="0">
                <a:solidFill>
                  <a:schemeClr val="tx1"/>
                </a:solidFill>
              </a:rPr>
              <a:t>Q&amp;A</a:t>
            </a:r>
            <a:r>
              <a:rPr lang="en-US" altLang="ko-KR" sz="900" dirty="0">
                <a:solidFill>
                  <a:srgbClr val="FF0000"/>
                </a:solidFill>
              </a:rPr>
              <a:t> HELPDESK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1176925" cy="3339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Impact" pitchFamily="34" charset="0"/>
                <a:ea typeface="HY헤드라인M" pitchFamily="18" charset="-127"/>
              </a:rPr>
              <a:t>CUSTOMER</a:t>
            </a:r>
          </a:p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SUPPORT</a:t>
            </a:r>
          </a:p>
          <a:p>
            <a:r>
              <a:rPr lang="ko-KR" altLang="en-US" sz="1100" b="1" dirty="0">
                <a:latin typeface="Impact" pitchFamily="34" charset="0"/>
                <a:ea typeface="HY헤드라인M" pitchFamily="18" charset="-127"/>
              </a:rPr>
              <a:t>고객지원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교육장안내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온라인고객지원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제품사용설명서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교육동영상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 err="1">
                <a:latin typeface="돋움" pitchFamily="50" charset="-127"/>
                <a:ea typeface="돋움" pitchFamily="50" charset="-127"/>
              </a:rPr>
              <a:t>고객의소리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원격지원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Q&amp;A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800" dirty="0">
                <a:latin typeface="돋움" pitchFamily="50" charset="-127"/>
                <a:ea typeface="돋움" pitchFamily="50" charset="-127"/>
              </a:rPr>
              <a:t>HELPDESK</a:t>
            </a: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520" y="4221088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b="1" dirty="0">
                  <a:latin typeface="+mn-ea"/>
                </a:rPr>
                <a:t>HELPDESK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59633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고객지원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58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HY얕은샘물M" pitchFamily="18" charset="-127"/>
                <a:ea typeface="HY얕은샘물M" pitchFamily="18" charset="-127"/>
              </a:rPr>
              <a:t>HELP DESK</a:t>
            </a:r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고객지원 </a:t>
            </a:r>
            <a:r>
              <a:rPr lang="en-US" altLang="ko-KR" sz="800" dirty="0">
                <a:latin typeface="+mn-ea"/>
              </a:rPr>
              <a:t>&gt; HELPDESK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95" y="2204864"/>
            <a:ext cx="6409742" cy="3475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모서리가 둥근 직사각형 26"/>
          <p:cNvSpPr/>
          <p:nvPr/>
        </p:nvSpPr>
        <p:spPr>
          <a:xfrm>
            <a:off x="6052553" y="1375725"/>
            <a:ext cx="2270684" cy="757131"/>
          </a:xfrm>
          <a:prstGeom prst="round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600" dirty="0" err="1">
                <a:solidFill>
                  <a:schemeClr val="tx1"/>
                </a:solidFill>
              </a:rPr>
              <a:t>콜센터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r"/>
            <a:r>
              <a:rPr lang="en-US" altLang="ko-KR" sz="1000" b="1" dirty="0">
                <a:solidFill>
                  <a:schemeClr val="tx1"/>
                </a:solidFill>
              </a:rPr>
              <a:t>(055) 0000-0000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7060665" y="1447733"/>
            <a:ext cx="0" cy="555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24561" y="1490158"/>
            <a:ext cx="797847" cy="54968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8ECBE6-92E1-42E6-3AAA-1256C789636F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844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7668344" y="662598"/>
            <a:ext cx="1440160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관련뉴스</a:t>
            </a:r>
            <a:r>
              <a:rPr lang="ko-KR" altLang="en-US" sz="900" dirty="0">
                <a:solidFill>
                  <a:schemeClr val="tx1"/>
                </a:solidFill>
              </a:rPr>
              <a:t> 고객사이트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196752"/>
            <a:ext cx="736099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NEWS</a:t>
            </a:r>
          </a:p>
          <a:p>
            <a:r>
              <a:rPr lang="ko-KR" altLang="en-US" sz="1100" b="1" dirty="0">
                <a:latin typeface="Impact" pitchFamily="34" charset="0"/>
                <a:ea typeface="HY헤드라인M" pitchFamily="18" charset="-127"/>
              </a:rPr>
              <a:t>회사소식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관련뉴스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고객사이트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66305" y="2078896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관련뉴스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831641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회사소식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관련뉴스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회사소식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관련뉴스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852936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365" y="1700808"/>
            <a:ext cx="6409742" cy="3475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6C87AD-3A6C-363A-122F-28E4E041BFF9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544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7740352" y="662598"/>
            <a:ext cx="1404156" cy="231564"/>
          </a:xfrm>
          <a:prstGeom prst="roundRect">
            <a:avLst/>
          </a:prstGeom>
          <a:solidFill>
            <a:schemeClr val="bg1"/>
          </a:solidFill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관련뉴스 </a:t>
            </a:r>
            <a:r>
              <a:rPr lang="ko-KR" altLang="en-US" sz="900" dirty="0">
                <a:solidFill>
                  <a:srgbClr val="FF0000"/>
                </a:solidFill>
              </a:rPr>
              <a:t>고객사이트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19672" y="1196752"/>
            <a:ext cx="0" cy="3312368"/>
          </a:xfrm>
          <a:prstGeom prst="line">
            <a:avLst/>
          </a:prstGeom>
          <a:ln w="63500">
            <a:gradFill>
              <a:gsLst>
                <a:gs pos="21000">
                  <a:schemeClr val="accent1">
                    <a:tint val="66000"/>
                    <a:satMod val="160000"/>
                  </a:schemeClr>
                </a:gs>
                <a:gs pos="3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1484784"/>
            <a:ext cx="736099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Impact" pitchFamily="34" charset="0"/>
                <a:ea typeface="HY헤드라인M" pitchFamily="18" charset="-127"/>
              </a:rPr>
              <a:t>NEWS</a:t>
            </a:r>
          </a:p>
          <a:p>
            <a:r>
              <a:rPr lang="ko-KR" altLang="en-US" sz="1100" b="1" dirty="0">
                <a:latin typeface="Impact" pitchFamily="34" charset="0"/>
                <a:ea typeface="HY헤드라인M" pitchFamily="18" charset="-127"/>
              </a:rPr>
              <a:t>회사소식</a:t>
            </a:r>
            <a:endParaRPr lang="en-US" altLang="ko-KR" sz="1100" dirty="0">
              <a:latin typeface="Impact" pitchFamily="34" charset="0"/>
              <a:ea typeface="HY헤드라인M" pitchFamily="18" charset="-127"/>
            </a:endParaRPr>
          </a:p>
          <a:p>
            <a:endParaRPr lang="en-US" altLang="ko-KR" sz="1200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관련뉴스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endParaRPr lang="en-US" altLang="ko-KR" sz="800" dirty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800" dirty="0">
                <a:latin typeface="돋움" pitchFamily="50" charset="-127"/>
                <a:ea typeface="돋움" pitchFamily="50" charset="-127"/>
              </a:rPr>
              <a:t>고객사이트</a:t>
            </a:r>
            <a:endParaRPr lang="en-US" altLang="ko-KR" sz="800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66305" y="2622828"/>
            <a:ext cx="1296144" cy="158100"/>
            <a:chOff x="251520" y="2492896"/>
            <a:chExt cx="1296144" cy="158100"/>
          </a:xfrm>
        </p:grpSpPr>
        <p:sp>
          <p:nvSpPr>
            <p:cNvPr id="10" name="대각선 방향의 모서리가 잘린 사각형 9"/>
            <p:cNvSpPr/>
            <p:nvPr/>
          </p:nvSpPr>
          <p:spPr>
            <a:xfrm>
              <a:off x="251520" y="2492896"/>
              <a:ext cx="1296144" cy="158100"/>
            </a:xfrm>
            <a:prstGeom prst="snip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latin typeface="+mn-ea"/>
                </a:rPr>
                <a:t>고객사이트</a:t>
              </a:r>
            </a:p>
          </p:txBody>
        </p:sp>
        <p:sp>
          <p:nvSpPr>
            <p:cNvPr id="11" name="이등변 삼각형 10"/>
            <p:cNvSpPr/>
            <p:nvPr/>
          </p:nvSpPr>
          <p:spPr>
            <a:xfrm rot="5400000">
              <a:off x="1429454" y="2546870"/>
              <a:ext cx="100176" cy="6522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8316416" y="332656"/>
            <a:ext cx="792088" cy="366488"/>
            <a:chOff x="5076056" y="332656"/>
            <a:chExt cx="792088" cy="366488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076056" y="332656"/>
              <a:ext cx="792088" cy="3445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rPr>
                <a:t>회사소식</a:t>
              </a:r>
              <a:endParaRPr lang="en-US" altLang="ko-KR" sz="1100" b="1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5076056" y="653425"/>
              <a:ext cx="79208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35696" y="1124744"/>
            <a:ext cx="2470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HY얕은샘물M" pitchFamily="18" charset="-127"/>
                <a:ea typeface="HY얕은샘물M" pitchFamily="18" charset="-127"/>
              </a:rPr>
              <a:t>고객사이트 </a:t>
            </a:r>
            <a:r>
              <a:rPr lang="en-US" altLang="ko-KR" sz="800" dirty="0">
                <a:latin typeface="+mn-ea"/>
              </a:rPr>
              <a:t>| HOME &gt; </a:t>
            </a:r>
            <a:r>
              <a:rPr lang="ko-KR" altLang="en-US" sz="800" dirty="0">
                <a:latin typeface="+mn-ea"/>
              </a:rPr>
              <a:t>회사소식 </a:t>
            </a:r>
            <a:r>
              <a:rPr lang="en-US" altLang="ko-KR" sz="800" dirty="0">
                <a:latin typeface="+mn-ea"/>
              </a:rPr>
              <a:t>&gt; </a:t>
            </a:r>
            <a:r>
              <a:rPr lang="ko-KR" altLang="en-US" sz="800" dirty="0">
                <a:latin typeface="+mn-ea"/>
              </a:rPr>
              <a:t>고객사이트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815602" y="2924944"/>
            <a:ext cx="216024" cy="1368152"/>
            <a:chOff x="8172400" y="2132856"/>
            <a:chExt cx="360040" cy="1512168"/>
          </a:xfrm>
        </p:grpSpPr>
        <p:sp>
          <p:nvSpPr>
            <p:cNvPr id="17" name="순서도: 화면 표시 16"/>
            <p:cNvSpPr/>
            <p:nvPr/>
          </p:nvSpPr>
          <p:spPr>
            <a:xfrm rot="5400000">
              <a:off x="8064388" y="2672916"/>
              <a:ext cx="576064" cy="360040"/>
            </a:xfrm>
            <a:prstGeom prst="flowChartDisplay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rPr>
                <a:t>TOP</a:t>
              </a:r>
              <a:endParaRPr lang="ko-KR" altLang="en-US" sz="6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 flipV="1">
              <a:off x="8346233" y="2132856"/>
              <a:ext cx="0" cy="504056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8346233" y="3140968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660" y="2204864"/>
            <a:ext cx="3329311" cy="318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559" y="2738039"/>
            <a:ext cx="1266825" cy="40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271B00-3359-53A3-5513-69C4749CCB7E}"/>
              </a:ext>
            </a:extLst>
          </p:cNvPr>
          <p:cNvSpPr txBox="1"/>
          <p:nvPr/>
        </p:nvSpPr>
        <p:spPr>
          <a:xfrm>
            <a:off x="1577716" y="236017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㈜</a:t>
            </a:r>
            <a:r>
              <a:rPr lang="ko-KR" altLang="en-US" sz="2800" dirty="0" err="1">
                <a:latin typeface="코어 고딕 E 9 Black" panose="020B0A03030302020204" pitchFamily="34" charset="-127"/>
                <a:ea typeface="코어 고딕 E 9 Black" panose="020B0A03030302020204" pitchFamily="34" charset="-127"/>
              </a:rPr>
              <a:t>올윈비시지</a:t>
            </a:r>
            <a:endParaRPr lang="ko-KR" altLang="en-US" sz="2800" dirty="0">
              <a:latin typeface="코어 고딕 E 9 Black" panose="020B0A03030302020204" pitchFamily="34" charset="-127"/>
              <a:ea typeface="코어 고딕 E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2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1449</Words>
  <Application>Microsoft Office PowerPoint</Application>
  <PresentationFormat>화면 슬라이드 쇼(4:3)</PresentationFormat>
  <Paragraphs>667</Paragraphs>
  <Slides>30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HY얕은샘물M</vt:lpstr>
      <vt:lpstr>HY엽서M</vt:lpstr>
      <vt:lpstr>HY헤드라인M</vt:lpstr>
      <vt:lpstr>돋움</vt:lpstr>
      <vt:lpstr>맑은 고딕</vt:lpstr>
      <vt:lpstr>코어 고딕 E 9 Black</vt:lpstr>
      <vt:lpstr>휴먼엑스포</vt:lpstr>
      <vt:lpstr>Arial</vt:lpstr>
      <vt:lpstr>Impact</vt:lpstr>
      <vt:lpstr>Office 테마</vt:lpstr>
      <vt:lpstr>㈜올윈비시지 홈페이지 기획(안)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이맥스S&amp;C 홈페이지 기획(안)</dc:title>
  <dc:creator>choin7</dc:creator>
  <cp:lastModifiedBy>jeseon park</cp:lastModifiedBy>
  <cp:revision>130</cp:revision>
  <cp:lastPrinted>2019-08-12T00:24:36Z</cp:lastPrinted>
  <dcterms:created xsi:type="dcterms:W3CDTF">2012-12-06T13:46:10Z</dcterms:created>
  <dcterms:modified xsi:type="dcterms:W3CDTF">2026-05-02T14:31:32Z</dcterms:modified>
</cp:coreProperties>
</file>